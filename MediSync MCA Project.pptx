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Open Sans" panose="020F0502020204030204" pitchFamily="34" charset="0"/>
      <p:regular r:id="rId19"/>
    </p:embeddedFont>
    <p:embeddedFont>
      <p:font typeface="Open Sans Bold" panose="020B0604020202020204" charset="0"/>
      <p:regular r:id="rId20"/>
    </p:embeddedFont>
    <p:embeddedFont>
      <p:font typeface="Poppins" panose="020B0502040204020203" pitchFamily="2" charset="0"/>
      <p:regular r:id="rId21"/>
    </p:embeddedFont>
    <p:embeddedFont>
      <p:font typeface="Poppins 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29" d="100"/>
          <a:sy n="29" d="100"/>
        </p:scale>
        <p:origin x="1186"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B2B"/>
        </a:solidFill>
        <a:effectLst/>
      </p:bgPr>
    </p:bg>
    <p:spTree>
      <p:nvGrpSpPr>
        <p:cNvPr id="1" name=""/>
        <p:cNvGrpSpPr/>
        <p:nvPr/>
      </p:nvGrpSpPr>
      <p:grpSpPr>
        <a:xfrm>
          <a:off x="0" y="0"/>
          <a:ext cx="0" cy="0"/>
          <a:chOff x="0" y="0"/>
          <a:chExt cx="0" cy="0"/>
        </a:xfrm>
      </p:grpSpPr>
      <p:grpSp>
        <p:nvGrpSpPr>
          <p:cNvPr id="2" name="Group 2"/>
          <p:cNvGrpSpPr/>
          <p:nvPr/>
        </p:nvGrpSpPr>
        <p:grpSpPr>
          <a:xfrm>
            <a:off x="952500" y="1809750"/>
            <a:ext cx="1047750" cy="76200"/>
            <a:chOff x="0" y="0"/>
            <a:chExt cx="1397000" cy="101600"/>
          </a:xfrm>
        </p:grpSpPr>
        <p:sp>
          <p:nvSpPr>
            <p:cNvPr id="3" name="Freeform 3"/>
            <p:cNvSpPr/>
            <p:nvPr/>
          </p:nvSpPr>
          <p:spPr>
            <a:xfrm>
              <a:off x="0" y="0"/>
              <a:ext cx="1397000" cy="101600"/>
            </a:xfrm>
            <a:custGeom>
              <a:avLst/>
              <a:gdLst/>
              <a:ahLst/>
              <a:cxnLst/>
              <a:rect l="l" t="t" r="r" b="b"/>
              <a:pathLst>
                <a:path w="1397000" h="101600">
                  <a:moveTo>
                    <a:pt x="0" y="0"/>
                  </a:moveTo>
                  <a:lnTo>
                    <a:pt x="1397000" y="0"/>
                  </a:lnTo>
                  <a:lnTo>
                    <a:pt x="1397000" y="101600"/>
                  </a:lnTo>
                  <a:lnTo>
                    <a:pt x="0" y="101600"/>
                  </a:lnTo>
                  <a:close/>
                </a:path>
              </a:pathLst>
            </a:custGeom>
            <a:solidFill>
              <a:srgbClr val="0AA6A6"/>
            </a:solidFill>
            <a:ln cap="sq">
              <a:noFill/>
              <a:prstDash val="solid"/>
              <a:miter/>
            </a:ln>
          </p:spPr>
        </p:sp>
        <p:sp>
          <p:nvSpPr>
            <p:cNvPr id="4" name="TextBox 4"/>
            <p:cNvSpPr txBox="1"/>
            <p:nvPr/>
          </p:nvSpPr>
          <p:spPr>
            <a:xfrm>
              <a:off x="0" y="-38100"/>
              <a:ext cx="1397000" cy="139700"/>
            </a:xfrm>
            <a:prstGeom prst="rect">
              <a:avLst/>
            </a:prstGeom>
          </p:spPr>
          <p:txBody>
            <a:bodyPr lIns="50800" tIns="50800" rIns="50800" bIns="50800" rtlCol="0" anchor="ctr"/>
            <a:lstStyle/>
            <a:p>
              <a:pPr algn="l">
                <a:lnSpc>
                  <a:spcPts val="1679"/>
                </a:lnSpc>
              </a:pPr>
              <a:endParaRPr/>
            </a:p>
          </p:txBody>
        </p:sp>
      </p:grpSp>
      <p:sp>
        <p:nvSpPr>
          <p:cNvPr id="5" name="AutoShape 5"/>
          <p:cNvSpPr/>
          <p:nvPr/>
        </p:nvSpPr>
        <p:spPr>
          <a:xfrm>
            <a:off x="952500" y="9879330"/>
            <a:ext cx="16383000" cy="0"/>
          </a:xfrm>
          <a:prstGeom prst="line">
            <a:avLst/>
          </a:prstGeom>
          <a:ln w="9525" cap="flat">
            <a:solidFill>
              <a:srgbClr val="31505F"/>
            </a:solidFill>
            <a:prstDash val="solid"/>
            <a:headEnd type="none" w="sm" len="sm"/>
            <a:tailEnd type="none" w="sm" len="sm"/>
          </a:ln>
        </p:spPr>
      </p:sp>
      <p:sp>
        <p:nvSpPr>
          <p:cNvPr id="6" name="Freeform 6"/>
          <p:cNvSpPr/>
          <p:nvPr/>
        </p:nvSpPr>
        <p:spPr>
          <a:xfrm>
            <a:off x="10479205" y="1715353"/>
            <a:ext cx="6856295" cy="6856295"/>
          </a:xfrm>
          <a:custGeom>
            <a:avLst/>
            <a:gdLst/>
            <a:ahLst/>
            <a:cxnLst/>
            <a:rect l="l" t="t" r="r" b="b"/>
            <a:pathLst>
              <a:path w="6856295" h="6856295">
                <a:moveTo>
                  <a:pt x="0" y="0"/>
                </a:moveTo>
                <a:lnTo>
                  <a:pt x="6856295" y="0"/>
                </a:lnTo>
                <a:lnTo>
                  <a:pt x="6856295" y="6856294"/>
                </a:lnTo>
                <a:lnTo>
                  <a:pt x="0" y="6856294"/>
                </a:lnTo>
                <a:lnTo>
                  <a:pt x="0" y="0"/>
                </a:lnTo>
                <a:close/>
              </a:path>
            </a:pathLst>
          </a:custGeom>
          <a:blipFill>
            <a:blip r:embed="rId2"/>
            <a:stretch>
              <a:fillRect/>
            </a:stretch>
          </a:blipFill>
        </p:spPr>
      </p:sp>
      <p:sp>
        <p:nvSpPr>
          <p:cNvPr id="7" name="TextBox 7"/>
          <p:cNvSpPr txBox="1"/>
          <p:nvPr/>
        </p:nvSpPr>
        <p:spPr>
          <a:xfrm>
            <a:off x="955385" y="3911156"/>
            <a:ext cx="8572500" cy="1389507"/>
          </a:xfrm>
          <a:prstGeom prst="rect">
            <a:avLst/>
          </a:prstGeom>
        </p:spPr>
        <p:txBody>
          <a:bodyPr lIns="0" tIns="0" rIns="0" bIns="0" rtlCol="0" anchor="t">
            <a:spAutoFit/>
          </a:bodyPr>
          <a:lstStyle/>
          <a:p>
            <a:pPr algn="l">
              <a:lnSpc>
                <a:spcPts val="10044"/>
              </a:lnSpc>
            </a:pPr>
            <a:r>
              <a:rPr lang="en-US" sz="9300" b="1">
                <a:solidFill>
                  <a:srgbClr val="FFFFFF"/>
                </a:solidFill>
                <a:latin typeface="Poppins Bold"/>
                <a:ea typeface="Poppins Bold"/>
                <a:cs typeface="Poppins Bold"/>
                <a:sym typeface="Poppins Bold"/>
              </a:rPr>
              <a:t>MediSync</a:t>
            </a:r>
          </a:p>
        </p:txBody>
      </p:sp>
      <p:sp>
        <p:nvSpPr>
          <p:cNvPr id="8" name="TextBox 8"/>
          <p:cNvSpPr txBox="1"/>
          <p:nvPr/>
        </p:nvSpPr>
        <p:spPr>
          <a:xfrm>
            <a:off x="955385" y="5378005"/>
            <a:ext cx="8191500" cy="1502664"/>
          </a:xfrm>
          <a:prstGeom prst="rect">
            <a:avLst/>
          </a:prstGeom>
        </p:spPr>
        <p:txBody>
          <a:bodyPr lIns="0" tIns="0" rIns="0" bIns="0" rtlCol="0" anchor="t">
            <a:spAutoFit/>
          </a:bodyPr>
          <a:lstStyle/>
          <a:p>
            <a:pPr algn="l">
              <a:lnSpc>
                <a:spcPts val="3888"/>
              </a:lnSpc>
            </a:pPr>
            <a:r>
              <a:rPr lang="en-US" sz="3600" b="1">
                <a:solidFill>
                  <a:srgbClr val="FFFFFF"/>
                </a:solidFill>
                <a:latin typeface="Poppins Bold"/>
                <a:ea typeface="Poppins Bold"/>
                <a:cs typeface="Poppins Bold"/>
                <a:sym typeface="Poppins Bold"/>
              </a:rPr>
              <a:t>A Medical Health Record , Reminder and Resolver </a:t>
            </a:r>
          </a:p>
          <a:p>
            <a:pPr algn="l">
              <a:lnSpc>
                <a:spcPts val="3888"/>
              </a:lnSpc>
            </a:pPr>
            <a:r>
              <a:rPr lang="en-US" sz="3600" b="1">
                <a:solidFill>
                  <a:srgbClr val="FFFFFF"/>
                </a:solidFill>
                <a:latin typeface="Poppins Bold"/>
                <a:ea typeface="Poppins Bold"/>
                <a:cs typeface="Poppins Bold"/>
                <a:sym typeface="Poppins Bold"/>
              </a:rPr>
              <a:t>Management Application</a:t>
            </a:r>
          </a:p>
        </p:txBody>
      </p:sp>
      <p:sp>
        <p:nvSpPr>
          <p:cNvPr id="9" name="TextBox 9"/>
          <p:cNvSpPr txBox="1"/>
          <p:nvPr/>
        </p:nvSpPr>
        <p:spPr>
          <a:xfrm>
            <a:off x="952500" y="9446329"/>
            <a:ext cx="6572709" cy="240448"/>
          </a:xfrm>
          <a:prstGeom prst="rect">
            <a:avLst/>
          </a:prstGeom>
        </p:spPr>
        <p:txBody>
          <a:bodyPr lIns="0" tIns="0" rIns="0" bIns="0" rtlCol="0" anchor="t">
            <a:spAutoFit/>
          </a:bodyPr>
          <a:lstStyle/>
          <a:p>
            <a:pPr algn="l">
              <a:lnSpc>
                <a:spcPts val="1960"/>
              </a:lnSpc>
            </a:pPr>
            <a:r>
              <a:rPr lang="en-US" sz="1400" b="1" spc="42">
                <a:solidFill>
                  <a:srgbClr val="D9F2EF"/>
                </a:solidFill>
                <a:latin typeface="Open Sans Bold"/>
                <a:ea typeface="Open Sans Bold"/>
                <a:cs typeface="Open Sans Bold"/>
                <a:sym typeface="Open Sans Bold"/>
              </a:rPr>
              <a:t>AGNEL 2605   •   AMLISHA 2608   •   VAISHNAVI 2666</a:t>
            </a:r>
          </a:p>
        </p:txBody>
      </p:sp>
      <p:sp>
        <p:nvSpPr>
          <p:cNvPr id="10" name="TextBox 10"/>
          <p:cNvSpPr txBox="1"/>
          <p:nvPr/>
        </p:nvSpPr>
        <p:spPr>
          <a:xfrm>
            <a:off x="955385" y="9119116"/>
            <a:ext cx="7236115" cy="249793"/>
          </a:xfrm>
          <a:prstGeom prst="rect">
            <a:avLst/>
          </a:prstGeom>
        </p:spPr>
        <p:txBody>
          <a:bodyPr lIns="0" tIns="0" rIns="0" bIns="0" rtlCol="0" anchor="t">
            <a:spAutoFit/>
          </a:bodyPr>
          <a:lstStyle/>
          <a:p>
            <a:pPr algn="l">
              <a:lnSpc>
                <a:spcPts val="2051"/>
              </a:lnSpc>
            </a:pPr>
            <a:r>
              <a:rPr lang="en-US" sz="1465" b="1" spc="117">
                <a:solidFill>
                  <a:srgbClr val="B9D2D4"/>
                </a:solidFill>
                <a:latin typeface="Open Sans Bold"/>
                <a:ea typeface="Open Sans Bold"/>
                <a:cs typeface="Open Sans Bold"/>
                <a:sym typeface="Open Sans Bold"/>
              </a:rPr>
              <a:t>Presentation By:</a:t>
            </a:r>
          </a:p>
        </p:txBody>
      </p:sp>
      <p:sp>
        <p:nvSpPr>
          <p:cNvPr id="11" name="TextBox 11"/>
          <p:cNvSpPr txBox="1"/>
          <p:nvPr/>
        </p:nvSpPr>
        <p:spPr>
          <a:xfrm>
            <a:off x="16497300" y="9748837"/>
            <a:ext cx="1524000" cy="232410"/>
          </a:xfrm>
          <a:prstGeom prst="rect">
            <a:avLst/>
          </a:prstGeom>
        </p:spPr>
        <p:txBody>
          <a:bodyPr lIns="0" tIns="0" rIns="0" bIns="0" rtlCol="0" anchor="t">
            <a:spAutoFit/>
          </a:bodyPr>
          <a:lstStyle/>
          <a:p>
            <a:pPr algn="r">
              <a:lnSpc>
                <a:spcPts val="1889"/>
              </a:lnSpc>
            </a:pPr>
            <a:r>
              <a:rPr lang="en-US" sz="1350" b="1">
                <a:solidFill>
                  <a:srgbClr val="B9D2D4"/>
                </a:solidFill>
                <a:latin typeface="Open Sans Bold"/>
                <a:ea typeface="Open Sans Bold"/>
                <a:cs typeface="Open Sans Bold"/>
                <a:sym typeface="Open Sans Bold"/>
              </a:rPr>
              <a:t>01 / 18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8F8"/>
        </a:solidFill>
        <a:effectLst/>
      </p:bgPr>
    </p:bg>
    <p:spTree>
      <p:nvGrpSpPr>
        <p:cNvPr id="1" name=""/>
        <p:cNvGrpSpPr/>
        <p:nvPr/>
      </p:nvGrpSpPr>
      <p:grpSpPr>
        <a:xfrm>
          <a:off x="0" y="0"/>
          <a:ext cx="0" cy="0"/>
          <a:chOff x="0" y="0"/>
          <a:chExt cx="0" cy="0"/>
        </a:xfrm>
      </p:grpSpPr>
      <p:sp>
        <p:nvSpPr>
          <p:cNvPr id="2" name="TextBox 2"/>
          <p:cNvSpPr txBox="1"/>
          <p:nvPr/>
        </p:nvSpPr>
        <p:spPr>
          <a:xfrm>
            <a:off x="952500" y="1762125"/>
            <a:ext cx="14287500" cy="720852"/>
          </a:xfrm>
          <a:prstGeom prst="rect">
            <a:avLst/>
          </a:prstGeom>
        </p:spPr>
        <p:txBody>
          <a:bodyPr lIns="0" tIns="0" rIns="0" bIns="0" rtlCol="0" anchor="t">
            <a:spAutoFit/>
          </a:bodyPr>
          <a:lstStyle/>
          <a:p>
            <a:pPr algn="l">
              <a:lnSpc>
                <a:spcPts val="5184"/>
              </a:lnSpc>
            </a:pPr>
            <a:r>
              <a:rPr lang="en-US" sz="4800" b="1">
                <a:solidFill>
                  <a:srgbClr val="102A3A"/>
                </a:solidFill>
                <a:latin typeface="Poppins Bold"/>
                <a:ea typeface="Poppins Bold"/>
                <a:cs typeface="Poppins Bold"/>
                <a:sym typeface="Poppins Bold"/>
              </a:rPr>
              <a:t>One place for everyday health information</a:t>
            </a:r>
          </a:p>
        </p:txBody>
      </p:sp>
      <p:sp>
        <p:nvSpPr>
          <p:cNvPr id="3" name="TextBox 3"/>
          <p:cNvSpPr txBox="1"/>
          <p:nvPr/>
        </p:nvSpPr>
        <p:spPr>
          <a:xfrm>
            <a:off x="952500" y="2476500"/>
            <a:ext cx="13811250" cy="334328"/>
          </a:xfrm>
          <a:prstGeom prst="rect">
            <a:avLst/>
          </a:prstGeom>
        </p:spPr>
        <p:txBody>
          <a:bodyPr lIns="0" tIns="0" rIns="0" bIns="0" rtlCol="0" anchor="t">
            <a:spAutoFit/>
          </a:bodyPr>
          <a:lstStyle/>
          <a:p>
            <a:pPr algn="l">
              <a:lnSpc>
                <a:spcPts val="2632"/>
              </a:lnSpc>
            </a:pPr>
            <a:r>
              <a:rPr lang="en-US" sz="1950">
                <a:solidFill>
                  <a:srgbClr val="56707C"/>
                </a:solidFill>
                <a:latin typeface="Open Sans"/>
                <a:ea typeface="Open Sans"/>
                <a:cs typeface="Open Sans"/>
                <a:sym typeface="Open Sans"/>
              </a:rPr>
              <a:t>MediSync centralizes personal medical records, prescriptions and reminders in a simple mobile experience.</a:t>
            </a:r>
          </a:p>
        </p:txBody>
      </p:sp>
      <p:grpSp>
        <p:nvGrpSpPr>
          <p:cNvPr id="4" name="Group 4"/>
          <p:cNvGrpSpPr/>
          <p:nvPr/>
        </p:nvGrpSpPr>
        <p:grpSpPr>
          <a:xfrm>
            <a:off x="952500" y="4057650"/>
            <a:ext cx="4953000" cy="4476750"/>
            <a:chOff x="0" y="0"/>
            <a:chExt cx="6604000" cy="5969000"/>
          </a:xfrm>
        </p:grpSpPr>
        <p:grpSp>
          <p:nvGrpSpPr>
            <p:cNvPr id="5" name="Group 5"/>
            <p:cNvGrpSpPr/>
            <p:nvPr/>
          </p:nvGrpSpPr>
          <p:grpSpPr>
            <a:xfrm>
              <a:off x="0" y="0"/>
              <a:ext cx="6604000" cy="5969000"/>
              <a:chOff x="0" y="0"/>
              <a:chExt cx="6604000" cy="5969000"/>
            </a:xfrm>
          </p:grpSpPr>
          <p:sp>
            <p:nvSpPr>
              <p:cNvPr id="6" name="Freeform 6"/>
              <p:cNvSpPr/>
              <p:nvPr/>
            </p:nvSpPr>
            <p:spPr>
              <a:xfrm>
                <a:off x="0" y="0"/>
                <a:ext cx="6604000" cy="5969000"/>
              </a:xfrm>
              <a:custGeom>
                <a:avLst/>
                <a:gdLst/>
                <a:ahLst/>
                <a:cxnLst/>
                <a:rect l="l" t="t" r="r" b="b"/>
                <a:pathLst>
                  <a:path w="6604000" h="5969000">
                    <a:moveTo>
                      <a:pt x="0" y="0"/>
                    </a:moveTo>
                    <a:lnTo>
                      <a:pt x="6604000" y="0"/>
                    </a:lnTo>
                    <a:lnTo>
                      <a:pt x="6604000" y="5969000"/>
                    </a:lnTo>
                    <a:lnTo>
                      <a:pt x="0" y="5969000"/>
                    </a:lnTo>
                    <a:close/>
                  </a:path>
                </a:pathLst>
              </a:custGeom>
              <a:solidFill>
                <a:srgbClr val="FFFFFF"/>
              </a:solidFill>
              <a:ln w="19050" cap="sq">
                <a:solidFill>
                  <a:srgbClr val="B9D2D4"/>
                </a:solidFill>
                <a:prstDash val="solid"/>
                <a:miter/>
              </a:ln>
            </p:spPr>
          </p:sp>
          <p:sp>
            <p:nvSpPr>
              <p:cNvPr id="7" name="TextBox 7"/>
              <p:cNvSpPr txBox="1"/>
              <p:nvPr/>
            </p:nvSpPr>
            <p:spPr>
              <a:xfrm>
                <a:off x="0" y="-38100"/>
                <a:ext cx="6604000" cy="6007100"/>
              </a:xfrm>
              <a:prstGeom prst="rect">
                <a:avLst/>
              </a:prstGeom>
            </p:spPr>
            <p:txBody>
              <a:bodyPr lIns="50800" tIns="50800" rIns="50800" bIns="50800" rtlCol="0" anchor="ctr"/>
              <a:lstStyle/>
              <a:p>
                <a:pPr algn="l">
                  <a:lnSpc>
                    <a:spcPts val="1679"/>
                  </a:lnSpc>
                </a:pPr>
                <a:endParaRPr/>
              </a:p>
            </p:txBody>
          </p:sp>
        </p:grpSp>
        <p:sp>
          <p:nvSpPr>
            <p:cNvPr id="8" name="TextBox 8"/>
            <p:cNvSpPr txBox="1"/>
            <p:nvPr/>
          </p:nvSpPr>
          <p:spPr>
            <a:xfrm>
              <a:off x="457200" y="450850"/>
              <a:ext cx="1524000" cy="481330"/>
            </a:xfrm>
            <a:prstGeom prst="rect">
              <a:avLst/>
            </a:prstGeom>
          </p:spPr>
          <p:txBody>
            <a:bodyPr lIns="0" tIns="0" rIns="0" bIns="0" rtlCol="0" anchor="t">
              <a:spAutoFit/>
            </a:bodyPr>
            <a:lstStyle/>
            <a:p>
              <a:pPr algn="l">
                <a:lnSpc>
                  <a:spcPts val="2940"/>
                </a:lnSpc>
              </a:pPr>
              <a:r>
                <a:rPr lang="en-US" sz="2100" b="1" spc="105">
                  <a:solidFill>
                    <a:srgbClr val="0AA6A6"/>
                  </a:solidFill>
                  <a:latin typeface="Poppins Bold"/>
                  <a:ea typeface="Poppins Bold"/>
                  <a:cs typeface="Poppins Bold"/>
                  <a:sym typeface="Poppins Bold"/>
                </a:rPr>
                <a:t>01</a:t>
              </a:r>
            </a:p>
          </p:txBody>
        </p:sp>
        <p:sp>
          <p:nvSpPr>
            <p:cNvPr id="9" name="TextBox 9"/>
            <p:cNvSpPr txBox="1"/>
            <p:nvPr/>
          </p:nvSpPr>
          <p:spPr>
            <a:xfrm>
              <a:off x="457200" y="1533525"/>
              <a:ext cx="5715000" cy="711327"/>
            </a:xfrm>
            <a:prstGeom prst="rect">
              <a:avLst/>
            </a:prstGeom>
          </p:spPr>
          <p:txBody>
            <a:bodyPr lIns="0" tIns="0" rIns="0" bIns="0" rtlCol="0" anchor="t">
              <a:spAutoFit/>
            </a:bodyPr>
            <a:lstStyle/>
            <a:p>
              <a:pPr algn="l">
                <a:lnSpc>
                  <a:spcPts val="3888"/>
                </a:lnSpc>
              </a:pPr>
              <a:r>
                <a:rPr lang="en-US" sz="3600" b="1">
                  <a:solidFill>
                    <a:srgbClr val="102A3A"/>
                  </a:solidFill>
                  <a:latin typeface="Poppins Bold"/>
                  <a:ea typeface="Poppins Bold"/>
                  <a:cs typeface="Poppins Bold"/>
                  <a:sym typeface="Poppins Bold"/>
                </a:rPr>
                <a:t>RECORD</a:t>
              </a:r>
            </a:p>
          </p:txBody>
        </p:sp>
        <p:sp>
          <p:nvSpPr>
            <p:cNvPr id="10" name="TextBox 10"/>
            <p:cNvSpPr txBox="1"/>
            <p:nvPr/>
          </p:nvSpPr>
          <p:spPr>
            <a:xfrm>
              <a:off x="457200" y="2565400"/>
              <a:ext cx="5715000" cy="901065"/>
            </a:xfrm>
            <a:prstGeom prst="rect">
              <a:avLst/>
            </a:prstGeom>
          </p:spPr>
          <p:txBody>
            <a:bodyPr lIns="0" tIns="0" rIns="0" bIns="0" rtlCol="0" anchor="t">
              <a:spAutoFit/>
            </a:bodyPr>
            <a:lstStyle/>
            <a:p>
              <a:pPr algn="l">
                <a:lnSpc>
                  <a:spcPts val="2733"/>
                </a:lnSpc>
              </a:pPr>
              <a:r>
                <a:rPr lang="en-US" sz="2025">
                  <a:solidFill>
                    <a:srgbClr val="56707C"/>
                  </a:solidFill>
                  <a:latin typeface="Open Sans"/>
                  <a:ea typeface="Open Sans"/>
                  <a:cs typeface="Open Sans"/>
                  <a:sym typeface="Open Sans"/>
                </a:rPr>
                <a:t>Organize reports and prescriptions for quick retrieval.</a:t>
              </a:r>
            </a:p>
          </p:txBody>
        </p:sp>
        <p:grpSp>
          <p:nvGrpSpPr>
            <p:cNvPr id="11" name="Group 11"/>
            <p:cNvGrpSpPr/>
            <p:nvPr/>
          </p:nvGrpSpPr>
          <p:grpSpPr>
            <a:xfrm>
              <a:off x="457200" y="4889500"/>
              <a:ext cx="1905000" cy="127000"/>
              <a:chOff x="0" y="0"/>
              <a:chExt cx="1905000" cy="127000"/>
            </a:xfrm>
          </p:grpSpPr>
          <p:sp>
            <p:nvSpPr>
              <p:cNvPr id="12" name="Freeform 12"/>
              <p:cNvSpPr/>
              <p:nvPr/>
            </p:nvSpPr>
            <p:spPr>
              <a:xfrm>
                <a:off x="0" y="0"/>
                <a:ext cx="1905000" cy="127000"/>
              </a:xfrm>
              <a:custGeom>
                <a:avLst/>
                <a:gdLst/>
                <a:ahLst/>
                <a:cxnLst/>
                <a:rect l="l" t="t" r="r" b="b"/>
                <a:pathLst>
                  <a:path w="1905000" h="127000">
                    <a:moveTo>
                      <a:pt x="0" y="0"/>
                    </a:moveTo>
                    <a:lnTo>
                      <a:pt x="1905000" y="0"/>
                    </a:lnTo>
                    <a:lnTo>
                      <a:pt x="1905000" y="127000"/>
                    </a:lnTo>
                    <a:lnTo>
                      <a:pt x="0" y="127000"/>
                    </a:lnTo>
                    <a:close/>
                  </a:path>
                </a:pathLst>
              </a:custGeom>
              <a:solidFill>
                <a:srgbClr val="0AA6A6"/>
              </a:solidFill>
              <a:ln cap="sq">
                <a:noFill/>
                <a:prstDash val="solid"/>
                <a:miter/>
              </a:ln>
            </p:spPr>
          </p:sp>
          <p:sp>
            <p:nvSpPr>
              <p:cNvPr id="13" name="TextBox 13"/>
              <p:cNvSpPr txBox="1"/>
              <p:nvPr/>
            </p:nvSpPr>
            <p:spPr>
              <a:xfrm>
                <a:off x="0" y="-38100"/>
                <a:ext cx="1905000" cy="165100"/>
              </a:xfrm>
              <a:prstGeom prst="rect">
                <a:avLst/>
              </a:prstGeom>
            </p:spPr>
            <p:txBody>
              <a:bodyPr lIns="50800" tIns="50800" rIns="50800" bIns="50800" rtlCol="0" anchor="ctr"/>
              <a:lstStyle/>
              <a:p>
                <a:pPr algn="l">
                  <a:lnSpc>
                    <a:spcPts val="1679"/>
                  </a:lnSpc>
                </a:pPr>
                <a:endParaRPr/>
              </a:p>
            </p:txBody>
          </p:sp>
        </p:grpSp>
      </p:grpSp>
      <p:grpSp>
        <p:nvGrpSpPr>
          <p:cNvPr id="14" name="Group 14"/>
          <p:cNvGrpSpPr/>
          <p:nvPr/>
        </p:nvGrpSpPr>
        <p:grpSpPr>
          <a:xfrm>
            <a:off x="6477000" y="4057650"/>
            <a:ext cx="4953000" cy="4476750"/>
            <a:chOff x="0" y="0"/>
            <a:chExt cx="6604000" cy="5969000"/>
          </a:xfrm>
        </p:grpSpPr>
        <p:grpSp>
          <p:nvGrpSpPr>
            <p:cNvPr id="15" name="Group 15"/>
            <p:cNvGrpSpPr/>
            <p:nvPr/>
          </p:nvGrpSpPr>
          <p:grpSpPr>
            <a:xfrm>
              <a:off x="0" y="0"/>
              <a:ext cx="6604000" cy="5969000"/>
              <a:chOff x="0" y="0"/>
              <a:chExt cx="6604000" cy="5969000"/>
            </a:xfrm>
          </p:grpSpPr>
          <p:sp>
            <p:nvSpPr>
              <p:cNvPr id="16" name="Freeform 16"/>
              <p:cNvSpPr/>
              <p:nvPr/>
            </p:nvSpPr>
            <p:spPr>
              <a:xfrm>
                <a:off x="0" y="0"/>
                <a:ext cx="6604000" cy="5969000"/>
              </a:xfrm>
              <a:custGeom>
                <a:avLst/>
                <a:gdLst/>
                <a:ahLst/>
                <a:cxnLst/>
                <a:rect l="l" t="t" r="r" b="b"/>
                <a:pathLst>
                  <a:path w="6604000" h="5969000">
                    <a:moveTo>
                      <a:pt x="0" y="0"/>
                    </a:moveTo>
                    <a:lnTo>
                      <a:pt x="6604000" y="0"/>
                    </a:lnTo>
                    <a:lnTo>
                      <a:pt x="6604000" y="5969000"/>
                    </a:lnTo>
                    <a:lnTo>
                      <a:pt x="0" y="5969000"/>
                    </a:lnTo>
                    <a:close/>
                  </a:path>
                </a:pathLst>
              </a:custGeom>
              <a:solidFill>
                <a:srgbClr val="D9F2EF"/>
              </a:solidFill>
              <a:ln w="19050" cap="sq">
                <a:solidFill>
                  <a:srgbClr val="B9D2D4"/>
                </a:solidFill>
                <a:prstDash val="solid"/>
                <a:miter/>
              </a:ln>
            </p:spPr>
          </p:sp>
          <p:sp>
            <p:nvSpPr>
              <p:cNvPr id="17" name="TextBox 17"/>
              <p:cNvSpPr txBox="1"/>
              <p:nvPr/>
            </p:nvSpPr>
            <p:spPr>
              <a:xfrm>
                <a:off x="0" y="-38100"/>
                <a:ext cx="6604000" cy="6007100"/>
              </a:xfrm>
              <a:prstGeom prst="rect">
                <a:avLst/>
              </a:prstGeom>
            </p:spPr>
            <p:txBody>
              <a:bodyPr lIns="50800" tIns="50800" rIns="50800" bIns="50800" rtlCol="0" anchor="ctr"/>
              <a:lstStyle/>
              <a:p>
                <a:pPr algn="l">
                  <a:lnSpc>
                    <a:spcPts val="1679"/>
                  </a:lnSpc>
                </a:pPr>
                <a:endParaRPr/>
              </a:p>
            </p:txBody>
          </p:sp>
        </p:grpSp>
        <p:sp>
          <p:nvSpPr>
            <p:cNvPr id="18" name="TextBox 18"/>
            <p:cNvSpPr txBox="1"/>
            <p:nvPr/>
          </p:nvSpPr>
          <p:spPr>
            <a:xfrm>
              <a:off x="457200" y="450850"/>
              <a:ext cx="1524000" cy="481330"/>
            </a:xfrm>
            <a:prstGeom prst="rect">
              <a:avLst/>
            </a:prstGeom>
          </p:spPr>
          <p:txBody>
            <a:bodyPr lIns="0" tIns="0" rIns="0" bIns="0" rtlCol="0" anchor="t">
              <a:spAutoFit/>
            </a:bodyPr>
            <a:lstStyle/>
            <a:p>
              <a:pPr algn="l">
                <a:lnSpc>
                  <a:spcPts val="2940"/>
                </a:lnSpc>
              </a:pPr>
              <a:r>
                <a:rPr lang="en-US" sz="2100" b="1" spc="105">
                  <a:solidFill>
                    <a:srgbClr val="0AA6A6"/>
                  </a:solidFill>
                  <a:latin typeface="Poppins Bold"/>
                  <a:ea typeface="Poppins Bold"/>
                  <a:cs typeface="Poppins Bold"/>
                  <a:sym typeface="Poppins Bold"/>
                </a:rPr>
                <a:t>02</a:t>
              </a:r>
            </a:p>
          </p:txBody>
        </p:sp>
        <p:sp>
          <p:nvSpPr>
            <p:cNvPr id="19" name="TextBox 19"/>
            <p:cNvSpPr txBox="1"/>
            <p:nvPr/>
          </p:nvSpPr>
          <p:spPr>
            <a:xfrm>
              <a:off x="457200" y="1533525"/>
              <a:ext cx="5715000" cy="711327"/>
            </a:xfrm>
            <a:prstGeom prst="rect">
              <a:avLst/>
            </a:prstGeom>
          </p:spPr>
          <p:txBody>
            <a:bodyPr lIns="0" tIns="0" rIns="0" bIns="0" rtlCol="0" anchor="t">
              <a:spAutoFit/>
            </a:bodyPr>
            <a:lstStyle/>
            <a:p>
              <a:pPr algn="l">
                <a:lnSpc>
                  <a:spcPts val="3888"/>
                </a:lnSpc>
              </a:pPr>
              <a:r>
                <a:rPr lang="en-US" sz="3600" b="1">
                  <a:solidFill>
                    <a:srgbClr val="102A3A"/>
                  </a:solidFill>
                  <a:latin typeface="Poppins Bold"/>
                  <a:ea typeface="Poppins Bold"/>
                  <a:cs typeface="Poppins Bold"/>
                  <a:sym typeface="Poppins Bold"/>
                </a:rPr>
                <a:t>REMIND</a:t>
              </a:r>
            </a:p>
          </p:txBody>
        </p:sp>
        <p:sp>
          <p:nvSpPr>
            <p:cNvPr id="20" name="TextBox 20"/>
            <p:cNvSpPr txBox="1"/>
            <p:nvPr/>
          </p:nvSpPr>
          <p:spPr>
            <a:xfrm>
              <a:off x="457200" y="2565400"/>
              <a:ext cx="5715000" cy="901065"/>
            </a:xfrm>
            <a:prstGeom prst="rect">
              <a:avLst/>
            </a:prstGeom>
          </p:spPr>
          <p:txBody>
            <a:bodyPr lIns="0" tIns="0" rIns="0" bIns="0" rtlCol="0" anchor="t">
              <a:spAutoFit/>
            </a:bodyPr>
            <a:lstStyle/>
            <a:p>
              <a:pPr algn="l">
                <a:lnSpc>
                  <a:spcPts val="2733"/>
                </a:lnSpc>
              </a:pPr>
              <a:r>
                <a:rPr lang="en-US" sz="2025">
                  <a:solidFill>
                    <a:srgbClr val="56707C"/>
                  </a:solidFill>
                  <a:latin typeface="Open Sans"/>
                  <a:ea typeface="Open Sans"/>
                  <a:cs typeface="Open Sans"/>
                  <a:sym typeface="Open Sans"/>
                </a:rPr>
                <a:t>Keep daily healthcare schedules visible and actionable.</a:t>
              </a:r>
            </a:p>
          </p:txBody>
        </p:sp>
        <p:grpSp>
          <p:nvGrpSpPr>
            <p:cNvPr id="21" name="Group 21"/>
            <p:cNvGrpSpPr/>
            <p:nvPr/>
          </p:nvGrpSpPr>
          <p:grpSpPr>
            <a:xfrm>
              <a:off x="457200" y="4889500"/>
              <a:ext cx="1905000" cy="127000"/>
              <a:chOff x="0" y="0"/>
              <a:chExt cx="1905000" cy="127000"/>
            </a:xfrm>
          </p:grpSpPr>
          <p:sp>
            <p:nvSpPr>
              <p:cNvPr id="22" name="Freeform 22"/>
              <p:cNvSpPr/>
              <p:nvPr/>
            </p:nvSpPr>
            <p:spPr>
              <a:xfrm>
                <a:off x="0" y="0"/>
                <a:ext cx="1905000" cy="127000"/>
              </a:xfrm>
              <a:custGeom>
                <a:avLst/>
                <a:gdLst/>
                <a:ahLst/>
                <a:cxnLst/>
                <a:rect l="l" t="t" r="r" b="b"/>
                <a:pathLst>
                  <a:path w="1905000" h="127000">
                    <a:moveTo>
                      <a:pt x="0" y="0"/>
                    </a:moveTo>
                    <a:lnTo>
                      <a:pt x="1905000" y="0"/>
                    </a:lnTo>
                    <a:lnTo>
                      <a:pt x="1905000" y="127000"/>
                    </a:lnTo>
                    <a:lnTo>
                      <a:pt x="0" y="127000"/>
                    </a:lnTo>
                    <a:close/>
                  </a:path>
                </a:pathLst>
              </a:custGeom>
              <a:solidFill>
                <a:srgbClr val="0AA6A6"/>
              </a:solidFill>
              <a:ln cap="sq">
                <a:noFill/>
                <a:prstDash val="solid"/>
                <a:miter/>
              </a:ln>
            </p:spPr>
          </p:sp>
          <p:sp>
            <p:nvSpPr>
              <p:cNvPr id="23" name="TextBox 23"/>
              <p:cNvSpPr txBox="1"/>
              <p:nvPr/>
            </p:nvSpPr>
            <p:spPr>
              <a:xfrm>
                <a:off x="0" y="-38100"/>
                <a:ext cx="1905000" cy="165100"/>
              </a:xfrm>
              <a:prstGeom prst="rect">
                <a:avLst/>
              </a:prstGeom>
            </p:spPr>
            <p:txBody>
              <a:bodyPr lIns="50800" tIns="50800" rIns="50800" bIns="50800" rtlCol="0" anchor="ctr"/>
              <a:lstStyle/>
              <a:p>
                <a:pPr algn="l">
                  <a:lnSpc>
                    <a:spcPts val="1679"/>
                  </a:lnSpc>
                </a:pPr>
                <a:endParaRPr/>
              </a:p>
            </p:txBody>
          </p:sp>
        </p:grpSp>
      </p:grpSp>
      <p:grpSp>
        <p:nvGrpSpPr>
          <p:cNvPr id="24" name="Group 24"/>
          <p:cNvGrpSpPr/>
          <p:nvPr/>
        </p:nvGrpSpPr>
        <p:grpSpPr>
          <a:xfrm>
            <a:off x="12001500" y="4057650"/>
            <a:ext cx="4953000" cy="4476750"/>
            <a:chOff x="0" y="0"/>
            <a:chExt cx="6604000" cy="5969000"/>
          </a:xfrm>
        </p:grpSpPr>
        <p:grpSp>
          <p:nvGrpSpPr>
            <p:cNvPr id="25" name="Group 25"/>
            <p:cNvGrpSpPr/>
            <p:nvPr/>
          </p:nvGrpSpPr>
          <p:grpSpPr>
            <a:xfrm>
              <a:off x="0" y="0"/>
              <a:ext cx="6604000" cy="5969000"/>
              <a:chOff x="0" y="0"/>
              <a:chExt cx="6604000" cy="5969000"/>
            </a:xfrm>
          </p:grpSpPr>
          <p:sp>
            <p:nvSpPr>
              <p:cNvPr id="26" name="Freeform 26"/>
              <p:cNvSpPr/>
              <p:nvPr/>
            </p:nvSpPr>
            <p:spPr>
              <a:xfrm>
                <a:off x="0" y="0"/>
                <a:ext cx="6604000" cy="5969000"/>
              </a:xfrm>
              <a:custGeom>
                <a:avLst/>
                <a:gdLst/>
                <a:ahLst/>
                <a:cxnLst/>
                <a:rect l="l" t="t" r="r" b="b"/>
                <a:pathLst>
                  <a:path w="6604000" h="5969000">
                    <a:moveTo>
                      <a:pt x="0" y="0"/>
                    </a:moveTo>
                    <a:lnTo>
                      <a:pt x="6604000" y="0"/>
                    </a:lnTo>
                    <a:lnTo>
                      <a:pt x="6604000" y="5969000"/>
                    </a:lnTo>
                    <a:lnTo>
                      <a:pt x="0" y="5969000"/>
                    </a:lnTo>
                    <a:close/>
                  </a:path>
                </a:pathLst>
              </a:custGeom>
              <a:solidFill>
                <a:srgbClr val="FFFFFF"/>
              </a:solidFill>
              <a:ln w="19050" cap="sq">
                <a:solidFill>
                  <a:srgbClr val="B9D2D4"/>
                </a:solidFill>
                <a:prstDash val="solid"/>
                <a:miter/>
              </a:ln>
            </p:spPr>
          </p:sp>
          <p:sp>
            <p:nvSpPr>
              <p:cNvPr id="27" name="TextBox 27"/>
              <p:cNvSpPr txBox="1"/>
              <p:nvPr/>
            </p:nvSpPr>
            <p:spPr>
              <a:xfrm>
                <a:off x="0" y="-38100"/>
                <a:ext cx="6604000" cy="6007100"/>
              </a:xfrm>
              <a:prstGeom prst="rect">
                <a:avLst/>
              </a:prstGeom>
            </p:spPr>
            <p:txBody>
              <a:bodyPr lIns="50800" tIns="50800" rIns="50800" bIns="50800" rtlCol="0" anchor="ctr"/>
              <a:lstStyle/>
              <a:p>
                <a:pPr algn="l">
                  <a:lnSpc>
                    <a:spcPts val="1679"/>
                  </a:lnSpc>
                </a:pPr>
                <a:endParaRPr/>
              </a:p>
            </p:txBody>
          </p:sp>
        </p:grpSp>
        <p:sp>
          <p:nvSpPr>
            <p:cNvPr id="28" name="TextBox 28"/>
            <p:cNvSpPr txBox="1"/>
            <p:nvPr/>
          </p:nvSpPr>
          <p:spPr>
            <a:xfrm>
              <a:off x="457200" y="450850"/>
              <a:ext cx="1524000" cy="481330"/>
            </a:xfrm>
            <a:prstGeom prst="rect">
              <a:avLst/>
            </a:prstGeom>
          </p:spPr>
          <p:txBody>
            <a:bodyPr lIns="0" tIns="0" rIns="0" bIns="0" rtlCol="0" anchor="t">
              <a:spAutoFit/>
            </a:bodyPr>
            <a:lstStyle/>
            <a:p>
              <a:pPr algn="l">
                <a:lnSpc>
                  <a:spcPts val="2940"/>
                </a:lnSpc>
              </a:pPr>
              <a:r>
                <a:rPr lang="en-US" sz="2100" b="1" spc="105">
                  <a:solidFill>
                    <a:srgbClr val="0AA6A6"/>
                  </a:solidFill>
                  <a:latin typeface="Poppins Bold"/>
                  <a:ea typeface="Poppins Bold"/>
                  <a:cs typeface="Poppins Bold"/>
                  <a:sym typeface="Poppins Bold"/>
                </a:rPr>
                <a:t>03</a:t>
              </a:r>
            </a:p>
          </p:txBody>
        </p:sp>
        <p:sp>
          <p:nvSpPr>
            <p:cNvPr id="29" name="TextBox 29"/>
            <p:cNvSpPr txBox="1"/>
            <p:nvPr/>
          </p:nvSpPr>
          <p:spPr>
            <a:xfrm>
              <a:off x="457200" y="1533525"/>
              <a:ext cx="5715000" cy="711327"/>
            </a:xfrm>
            <a:prstGeom prst="rect">
              <a:avLst/>
            </a:prstGeom>
          </p:spPr>
          <p:txBody>
            <a:bodyPr lIns="0" tIns="0" rIns="0" bIns="0" rtlCol="0" anchor="t">
              <a:spAutoFit/>
            </a:bodyPr>
            <a:lstStyle/>
            <a:p>
              <a:pPr algn="l">
                <a:lnSpc>
                  <a:spcPts val="3888"/>
                </a:lnSpc>
              </a:pPr>
              <a:r>
                <a:rPr lang="en-US" sz="3600" b="1">
                  <a:solidFill>
                    <a:srgbClr val="102A3A"/>
                  </a:solidFill>
                  <a:latin typeface="Poppins Bold"/>
                  <a:ea typeface="Poppins Bold"/>
                  <a:cs typeface="Poppins Bold"/>
                  <a:sym typeface="Poppins Bold"/>
                </a:rPr>
                <a:t>RESOLVE</a:t>
              </a:r>
            </a:p>
          </p:txBody>
        </p:sp>
        <p:sp>
          <p:nvSpPr>
            <p:cNvPr id="30" name="TextBox 30"/>
            <p:cNvSpPr txBox="1"/>
            <p:nvPr/>
          </p:nvSpPr>
          <p:spPr>
            <a:xfrm>
              <a:off x="457200" y="2565400"/>
              <a:ext cx="5715000" cy="901065"/>
            </a:xfrm>
            <a:prstGeom prst="rect">
              <a:avLst/>
            </a:prstGeom>
          </p:spPr>
          <p:txBody>
            <a:bodyPr lIns="0" tIns="0" rIns="0" bIns="0" rtlCol="0" anchor="t">
              <a:spAutoFit/>
            </a:bodyPr>
            <a:lstStyle/>
            <a:p>
              <a:pPr algn="l">
                <a:lnSpc>
                  <a:spcPts val="2733"/>
                </a:lnSpc>
              </a:pPr>
              <a:r>
                <a:rPr lang="en-US" sz="2025">
                  <a:solidFill>
                    <a:srgbClr val="56707C"/>
                  </a:solidFill>
                  <a:latin typeface="Open Sans"/>
                  <a:ea typeface="Open Sans"/>
                  <a:cs typeface="Open Sans"/>
                  <a:sym typeface="Open Sans"/>
                </a:rPr>
                <a:t>Access implemented healthcare-related functions in one module.</a:t>
              </a:r>
            </a:p>
          </p:txBody>
        </p:sp>
        <p:grpSp>
          <p:nvGrpSpPr>
            <p:cNvPr id="31" name="Group 31"/>
            <p:cNvGrpSpPr/>
            <p:nvPr/>
          </p:nvGrpSpPr>
          <p:grpSpPr>
            <a:xfrm>
              <a:off x="457200" y="4889500"/>
              <a:ext cx="1905000" cy="127000"/>
              <a:chOff x="0" y="0"/>
              <a:chExt cx="1905000" cy="127000"/>
            </a:xfrm>
          </p:grpSpPr>
          <p:sp>
            <p:nvSpPr>
              <p:cNvPr id="32" name="Freeform 32"/>
              <p:cNvSpPr/>
              <p:nvPr/>
            </p:nvSpPr>
            <p:spPr>
              <a:xfrm>
                <a:off x="0" y="0"/>
                <a:ext cx="1905000" cy="127000"/>
              </a:xfrm>
              <a:custGeom>
                <a:avLst/>
                <a:gdLst/>
                <a:ahLst/>
                <a:cxnLst/>
                <a:rect l="l" t="t" r="r" b="b"/>
                <a:pathLst>
                  <a:path w="1905000" h="127000">
                    <a:moveTo>
                      <a:pt x="0" y="0"/>
                    </a:moveTo>
                    <a:lnTo>
                      <a:pt x="1905000" y="0"/>
                    </a:lnTo>
                    <a:lnTo>
                      <a:pt x="1905000" y="127000"/>
                    </a:lnTo>
                    <a:lnTo>
                      <a:pt x="0" y="127000"/>
                    </a:lnTo>
                    <a:close/>
                  </a:path>
                </a:pathLst>
              </a:custGeom>
              <a:solidFill>
                <a:srgbClr val="0AA6A6"/>
              </a:solidFill>
              <a:ln cap="sq">
                <a:noFill/>
                <a:prstDash val="solid"/>
                <a:miter/>
              </a:ln>
            </p:spPr>
          </p:sp>
          <p:sp>
            <p:nvSpPr>
              <p:cNvPr id="33" name="TextBox 33"/>
              <p:cNvSpPr txBox="1"/>
              <p:nvPr/>
            </p:nvSpPr>
            <p:spPr>
              <a:xfrm>
                <a:off x="0" y="-38100"/>
                <a:ext cx="1905000" cy="165100"/>
              </a:xfrm>
              <a:prstGeom prst="rect">
                <a:avLst/>
              </a:prstGeom>
            </p:spPr>
            <p:txBody>
              <a:bodyPr lIns="50800" tIns="50800" rIns="50800" bIns="50800" rtlCol="0" anchor="ctr"/>
              <a:lstStyle/>
              <a:p>
                <a:pPr algn="l">
                  <a:lnSpc>
                    <a:spcPts val="1679"/>
                  </a:lnSpc>
                </a:pPr>
                <a:endParaRPr/>
              </a:p>
            </p:txBody>
          </p:sp>
        </p:grpSp>
      </p:grpSp>
      <p:sp>
        <p:nvSpPr>
          <p:cNvPr id="34" name="AutoShape 34"/>
          <p:cNvSpPr/>
          <p:nvPr/>
        </p:nvSpPr>
        <p:spPr>
          <a:xfrm>
            <a:off x="952500" y="9572625"/>
            <a:ext cx="16383000" cy="0"/>
          </a:xfrm>
          <a:prstGeom prst="line">
            <a:avLst/>
          </a:prstGeom>
          <a:ln w="9525" cap="flat">
            <a:solidFill>
              <a:srgbClr val="B9D2D4"/>
            </a:solidFill>
            <a:prstDash val="solid"/>
            <a:headEnd type="none" w="sm" len="sm"/>
            <a:tailEnd type="none" w="sm" len="sm"/>
          </a:ln>
        </p:spPr>
      </p:sp>
      <p:sp>
        <p:nvSpPr>
          <p:cNvPr id="35" name="TextBox 35"/>
          <p:cNvSpPr txBox="1"/>
          <p:nvPr/>
        </p:nvSpPr>
        <p:spPr>
          <a:xfrm>
            <a:off x="15811500" y="9753600"/>
            <a:ext cx="1524000" cy="232410"/>
          </a:xfrm>
          <a:prstGeom prst="rect">
            <a:avLst/>
          </a:prstGeom>
        </p:spPr>
        <p:txBody>
          <a:bodyPr lIns="0" tIns="0" rIns="0" bIns="0" rtlCol="0" anchor="t">
            <a:spAutoFit/>
          </a:bodyPr>
          <a:lstStyle/>
          <a:p>
            <a:pPr algn="r">
              <a:lnSpc>
                <a:spcPts val="1889"/>
              </a:lnSpc>
            </a:pPr>
            <a:r>
              <a:rPr lang="en-US" sz="1350" b="1">
                <a:solidFill>
                  <a:srgbClr val="56707C"/>
                </a:solidFill>
                <a:latin typeface="Open Sans Bold"/>
                <a:ea typeface="Open Sans Bold"/>
                <a:cs typeface="Open Sans Bold"/>
                <a:sym typeface="Open Sans Bold"/>
              </a:rPr>
              <a:t>02 / 18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8"/>
        </a:solidFill>
        <a:effectLst/>
      </p:bgPr>
    </p:bg>
    <p:spTree>
      <p:nvGrpSpPr>
        <p:cNvPr id="1" name=""/>
        <p:cNvGrpSpPr/>
        <p:nvPr/>
      </p:nvGrpSpPr>
      <p:grpSpPr>
        <a:xfrm>
          <a:off x="0" y="0"/>
          <a:ext cx="0" cy="0"/>
          <a:chOff x="0" y="0"/>
          <a:chExt cx="0" cy="0"/>
        </a:xfrm>
      </p:grpSpPr>
      <p:sp>
        <p:nvSpPr>
          <p:cNvPr id="2" name="TextBox 2"/>
          <p:cNvSpPr txBox="1"/>
          <p:nvPr/>
        </p:nvSpPr>
        <p:spPr>
          <a:xfrm>
            <a:off x="952500" y="1393698"/>
            <a:ext cx="14287500" cy="720852"/>
          </a:xfrm>
          <a:prstGeom prst="rect">
            <a:avLst/>
          </a:prstGeom>
        </p:spPr>
        <p:txBody>
          <a:bodyPr lIns="0" tIns="0" rIns="0" bIns="0" rtlCol="0" anchor="t">
            <a:spAutoFit/>
          </a:bodyPr>
          <a:lstStyle/>
          <a:p>
            <a:pPr algn="l">
              <a:lnSpc>
                <a:spcPts val="5184"/>
              </a:lnSpc>
            </a:pPr>
            <a:r>
              <a:rPr lang="en-US" sz="4800" b="1">
                <a:solidFill>
                  <a:srgbClr val="102A3A"/>
                </a:solidFill>
                <a:latin typeface="Poppins Bold"/>
                <a:ea typeface="Poppins Bold"/>
                <a:cs typeface="Poppins Bold"/>
                <a:sym typeface="Poppins Bold"/>
              </a:rPr>
              <a:t>Fragmented records create avoidable friction</a:t>
            </a:r>
          </a:p>
        </p:txBody>
      </p:sp>
      <p:grpSp>
        <p:nvGrpSpPr>
          <p:cNvPr id="3" name="Group 3"/>
          <p:cNvGrpSpPr/>
          <p:nvPr/>
        </p:nvGrpSpPr>
        <p:grpSpPr>
          <a:xfrm>
            <a:off x="952500" y="2857500"/>
            <a:ext cx="3143250" cy="4438650"/>
            <a:chOff x="0" y="0"/>
            <a:chExt cx="4191000" cy="5918200"/>
          </a:xfrm>
        </p:grpSpPr>
        <p:grpSp>
          <p:nvGrpSpPr>
            <p:cNvPr id="4" name="Group 4"/>
            <p:cNvGrpSpPr/>
            <p:nvPr/>
          </p:nvGrpSpPr>
          <p:grpSpPr>
            <a:xfrm>
              <a:off x="0" y="0"/>
              <a:ext cx="3810000" cy="5334000"/>
              <a:chOff x="0" y="0"/>
              <a:chExt cx="3810000" cy="5334000"/>
            </a:xfrm>
          </p:grpSpPr>
          <p:sp>
            <p:nvSpPr>
              <p:cNvPr id="5" name="Freeform 5"/>
              <p:cNvSpPr/>
              <p:nvPr/>
            </p:nvSpPr>
            <p:spPr>
              <a:xfrm>
                <a:off x="0" y="0"/>
                <a:ext cx="3810000" cy="5334000"/>
              </a:xfrm>
              <a:custGeom>
                <a:avLst/>
                <a:gdLst/>
                <a:ahLst/>
                <a:cxnLst/>
                <a:rect l="l" t="t" r="r" b="b"/>
                <a:pathLst>
                  <a:path w="3810000" h="5334000">
                    <a:moveTo>
                      <a:pt x="0" y="0"/>
                    </a:moveTo>
                    <a:lnTo>
                      <a:pt x="3810000" y="0"/>
                    </a:lnTo>
                    <a:lnTo>
                      <a:pt x="3810000" y="5334000"/>
                    </a:lnTo>
                    <a:lnTo>
                      <a:pt x="0" y="5334000"/>
                    </a:lnTo>
                    <a:close/>
                  </a:path>
                </a:pathLst>
              </a:custGeom>
              <a:solidFill>
                <a:srgbClr val="FFFFFF"/>
              </a:solidFill>
              <a:ln w="19050" cap="sq">
                <a:solidFill>
                  <a:srgbClr val="B9D2D4"/>
                </a:solidFill>
                <a:prstDash val="solid"/>
                <a:miter/>
              </a:ln>
            </p:spPr>
          </p:sp>
          <p:sp>
            <p:nvSpPr>
              <p:cNvPr id="6" name="TextBox 6"/>
              <p:cNvSpPr txBox="1"/>
              <p:nvPr/>
            </p:nvSpPr>
            <p:spPr>
              <a:xfrm>
                <a:off x="0" y="-38100"/>
                <a:ext cx="3810000" cy="5372100"/>
              </a:xfrm>
              <a:prstGeom prst="rect">
                <a:avLst/>
              </a:prstGeom>
            </p:spPr>
            <p:txBody>
              <a:bodyPr lIns="50800" tIns="50800" rIns="50800" bIns="50800" rtlCol="0" anchor="ctr"/>
              <a:lstStyle/>
              <a:p>
                <a:pPr algn="l">
                  <a:lnSpc>
                    <a:spcPts val="1679"/>
                  </a:lnSpc>
                </a:pPr>
                <a:endParaRPr/>
              </a:p>
            </p:txBody>
          </p:sp>
        </p:grpSp>
        <p:sp>
          <p:nvSpPr>
            <p:cNvPr id="7" name="TextBox 7"/>
            <p:cNvSpPr txBox="1"/>
            <p:nvPr/>
          </p:nvSpPr>
          <p:spPr>
            <a:xfrm>
              <a:off x="305534" y="343083"/>
              <a:ext cx="1270000" cy="929640"/>
            </a:xfrm>
            <a:prstGeom prst="rect">
              <a:avLst/>
            </a:prstGeom>
          </p:spPr>
          <p:txBody>
            <a:bodyPr lIns="0" tIns="0" rIns="0" bIns="0" rtlCol="0" anchor="t">
              <a:spAutoFit/>
            </a:bodyPr>
            <a:lstStyle/>
            <a:p>
              <a:pPr algn="l">
                <a:lnSpc>
                  <a:spcPts val="5670"/>
                </a:lnSpc>
              </a:pPr>
              <a:r>
                <a:rPr lang="en-US" sz="4050" b="1" spc="202">
                  <a:solidFill>
                    <a:srgbClr val="0AA6A6"/>
                  </a:solidFill>
                  <a:latin typeface="Poppins Bold"/>
                  <a:ea typeface="Poppins Bold"/>
                  <a:cs typeface="Poppins Bold"/>
                  <a:sym typeface="Poppins Bold"/>
                </a:rPr>
                <a:t>01</a:t>
              </a:r>
            </a:p>
          </p:txBody>
        </p:sp>
        <p:sp>
          <p:nvSpPr>
            <p:cNvPr id="8" name="TextBox 8"/>
            <p:cNvSpPr txBox="1"/>
            <p:nvPr/>
          </p:nvSpPr>
          <p:spPr>
            <a:xfrm>
              <a:off x="635000" y="2183892"/>
              <a:ext cx="3556000" cy="966216"/>
            </a:xfrm>
            <a:prstGeom prst="rect">
              <a:avLst/>
            </a:prstGeom>
          </p:spPr>
          <p:txBody>
            <a:bodyPr lIns="0" tIns="0" rIns="0" bIns="0" rtlCol="0" anchor="t">
              <a:spAutoFit/>
            </a:bodyPr>
            <a:lstStyle/>
            <a:p>
              <a:pPr algn="l">
                <a:lnSpc>
                  <a:spcPts val="2754"/>
                </a:lnSpc>
              </a:pPr>
              <a:r>
                <a:rPr lang="en-US" sz="2550" b="1">
                  <a:solidFill>
                    <a:srgbClr val="102A3A"/>
                  </a:solidFill>
                  <a:latin typeface="Poppins Bold"/>
                  <a:ea typeface="Poppins Bold"/>
                  <a:cs typeface="Poppins Bold"/>
                  <a:sym typeface="Poppins Bold"/>
                </a:rPr>
                <a:t>Scattered</a:t>
              </a:r>
            </a:p>
            <a:p>
              <a:pPr algn="l">
                <a:lnSpc>
                  <a:spcPts val="2754"/>
                </a:lnSpc>
              </a:pPr>
              <a:r>
                <a:rPr lang="en-US" sz="2550" b="1">
                  <a:solidFill>
                    <a:srgbClr val="102A3A"/>
                  </a:solidFill>
                  <a:latin typeface="Poppins Bold"/>
                  <a:ea typeface="Poppins Bold"/>
                  <a:cs typeface="Poppins Bold"/>
                  <a:sym typeface="Poppins Bold"/>
                </a:rPr>
                <a:t>documents</a:t>
              </a:r>
            </a:p>
          </p:txBody>
        </p:sp>
        <p:grpSp>
          <p:nvGrpSpPr>
            <p:cNvPr id="9" name="Group 9"/>
            <p:cNvGrpSpPr/>
            <p:nvPr/>
          </p:nvGrpSpPr>
          <p:grpSpPr>
            <a:xfrm>
              <a:off x="0" y="5715000"/>
              <a:ext cx="3810000" cy="203200"/>
              <a:chOff x="0" y="0"/>
              <a:chExt cx="3810000" cy="203200"/>
            </a:xfrm>
          </p:grpSpPr>
          <p:sp>
            <p:nvSpPr>
              <p:cNvPr id="10" name="Freeform 10"/>
              <p:cNvSpPr/>
              <p:nvPr/>
            </p:nvSpPr>
            <p:spPr>
              <a:xfrm>
                <a:off x="0" y="0"/>
                <a:ext cx="3810000" cy="203200"/>
              </a:xfrm>
              <a:custGeom>
                <a:avLst/>
                <a:gdLst/>
                <a:ahLst/>
                <a:cxnLst/>
                <a:rect l="l" t="t" r="r" b="b"/>
                <a:pathLst>
                  <a:path w="3810000" h="203200">
                    <a:moveTo>
                      <a:pt x="0" y="0"/>
                    </a:moveTo>
                    <a:lnTo>
                      <a:pt x="3810000" y="0"/>
                    </a:lnTo>
                    <a:lnTo>
                      <a:pt x="3810000" y="203200"/>
                    </a:lnTo>
                    <a:lnTo>
                      <a:pt x="0" y="203200"/>
                    </a:lnTo>
                    <a:close/>
                  </a:path>
                </a:pathLst>
              </a:custGeom>
              <a:solidFill>
                <a:srgbClr val="0AA6A6"/>
              </a:solidFill>
              <a:ln cap="sq">
                <a:noFill/>
                <a:prstDash val="solid"/>
                <a:miter/>
              </a:ln>
            </p:spPr>
          </p:sp>
          <p:sp>
            <p:nvSpPr>
              <p:cNvPr id="11" name="TextBox 11"/>
              <p:cNvSpPr txBox="1"/>
              <p:nvPr/>
            </p:nvSpPr>
            <p:spPr>
              <a:xfrm>
                <a:off x="0" y="-38100"/>
                <a:ext cx="3810000" cy="241300"/>
              </a:xfrm>
              <a:prstGeom prst="rect">
                <a:avLst/>
              </a:prstGeom>
            </p:spPr>
            <p:txBody>
              <a:bodyPr lIns="50800" tIns="50800" rIns="50800" bIns="50800" rtlCol="0" anchor="ctr"/>
              <a:lstStyle/>
              <a:p>
                <a:pPr algn="l">
                  <a:lnSpc>
                    <a:spcPts val="1679"/>
                  </a:lnSpc>
                </a:pPr>
                <a:endParaRPr/>
              </a:p>
            </p:txBody>
          </p:sp>
        </p:grpSp>
      </p:grpSp>
      <p:grpSp>
        <p:nvGrpSpPr>
          <p:cNvPr id="12" name="Group 12"/>
          <p:cNvGrpSpPr/>
          <p:nvPr/>
        </p:nvGrpSpPr>
        <p:grpSpPr>
          <a:xfrm>
            <a:off x="4286250" y="2857500"/>
            <a:ext cx="3125301" cy="4438650"/>
            <a:chOff x="0" y="0"/>
            <a:chExt cx="4167068" cy="5918200"/>
          </a:xfrm>
        </p:grpSpPr>
        <p:grpSp>
          <p:nvGrpSpPr>
            <p:cNvPr id="13" name="Group 13"/>
            <p:cNvGrpSpPr/>
            <p:nvPr/>
          </p:nvGrpSpPr>
          <p:grpSpPr>
            <a:xfrm>
              <a:off x="0" y="0"/>
              <a:ext cx="3810000" cy="5334000"/>
              <a:chOff x="0" y="0"/>
              <a:chExt cx="3810000" cy="5334000"/>
            </a:xfrm>
          </p:grpSpPr>
          <p:sp>
            <p:nvSpPr>
              <p:cNvPr id="14" name="Freeform 14"/>
              <p:cNvSpPr/>
              <p:nvPr/>
            </p:nvSpPr>
            <p:spPr>
              <a:xfrm>
                <a:off x="0" y="0"/>
                <a:ext cx="3810000" cy="5334000"/>
              </a:xfrm>
              <a:custGeom>
                <a:avLst/>
                <a:gdLst/>
                <a:ahLst/>
                <a:cxnLst/>
                <a:rect l="l" t="t" r="r" b="b"/>
                <a:pathLst>
                  <a:path w="3810000" h="5334000">
                    <a:moveTo>
                      <a:pt x="0" y="0"/>
                    </a:moveTo>
                    <a:lnTo>
                      <a:pt x="3810000" y="0"/>
                    </a:lnTo>
                    <a:lnTo>
                      <a:pt x="3810000" y="5334000"/>
                    </a:lnTo>
                    <a:lnTo>
                      <a:pt x="0" y="5334000"/>
                    </a:lnTo>
                    <a:close/>
                  </a:path>
                </a:pathLst>
              </a:custGeom>
              <a:solidFill>
                <a:srgbClr val="FFFFFF"/>
              </a:solidFill>
              <a:ln w="19050" cap="sq">
                <a:solidFill>
                  <a:srgbClr val="B9D2D4"/>
                </a:solidFill>
                <a:prstDash val="solid"/>
                <a:miter/>
              </a:ln>
            </p:spPr>
          </p:sp>
          <p:sp>
            <p:nvSpPr>
              <p:cNvPr id="15" name="TextBox 15"/>
              <p:cNvSpPr txBox="1"/>
              <p:nvPr/>
            </p:nvSpPr>
            <p:spPr>
              <a:xfrm>
                <a:off x="0" y="-38100"/>
                <a:ext cx="3810000" cy="5372100"/>
              </a:xfrm>
              <a:prstGeom prst="rect">
                <a:avLst/>
              </a:prstGeom>
            </p:spPr>
            <p:txBody>
              <a:bodyPr lIns="50800" tIns="50800" rIns="50800" bIns="50800" rtlCol="0" anchor="ctr"/>
              <a:lstStyle/>
              <a:p>
                <a:pPr algn="l">
                  <a:lnSpc>
                    <a:spcPts val="1679"/>
                  </a:lnSpc>
                </a:pPr>
                <a:endParaRPr/>
              </a:p>
            </p:txBody>
          </p:sp>
        </p:grpSp>
        <p:sp>
          <p:nvSpPr>
            <p:cNvPr id="16" name="TextBox 16"/>
            <p:cNvSpPr txBox="1"/>
            <p:nvPr/>
          </p:nvSpPr>
          <p:spPr>
            <a:xfrm>
              <a:off x="229150" y="304892"/>
              <a:ext cx="1270000" cy="929640"/>
            </a:xfrm>
            <a:prstGeom prst="rect">
              <a:avLst/>
            </a:prstGeom>
          </p:spPr>
          <p:txBody>
            <a:bodyPr lIns="0" tIns="0" rIns="0" bIns="0" rtlCol="0" anchor="t">
              <a:spAutoFit/>
            </a:bodyPr>
            <a:lstStyle/>
            <a:p>
              <a:pPr algn="l">
                <a:lnSpc>
                  <a:spcPts val="5670"/>
                </a:lnSpc>
              </a:pPr>
              <a:r>
                <a:rPr lang="en-US" sz="4050" b="1" spc="202">
                  <a:solidFill>
                    <a:srgbClr val="0AA6A6"/>
                  </a:solidFill>
                  <a:latin typeface="Poppins Bold"/>
                  <a:ea typeface="Poppins Bold"/>
                  <a:cs typeface="Poppins Bold"/>
                  <a:sym typeface="Poppins Bold"/>
                </a:rPr>
                <a:t>02</a:t>
              </a:r>
            </a:p>
          </p:txBody>
        </p:sp>
        <p:sp>
          <p:nvSpPr>
            <p:cNvPr id="17" name="TextBox 17"/>
            <p:cNvSpPr txBox="1"/>
            <p:nvPr/>
          </p:nvSpPr>
          <p:spPr>
            <a:xfrm>
              <a:off x="611068" y="2183892"/>
              <a:ext cx="3556000" cy="966216"/>
            </a:xfrm>
            <a:prstGeom prst="rect">
              <a:avLst/>
            </a:prstGeom>
          </p:spPr>
          <p:txBody>
            <a:bodyPr lIns="0" tIns="0" rIns="0" bIns="0" rtlCol="0" anchor="t">
              <a:spAutoFit/>
            </a:bodyPr>
            <a:lstStyle/>
            <a:p>
              <a:pPr algn="l">
                <a:lnSpc>
                  <a:spcPts val="2754"/>
                </a:lnSpc>
              </a:pPr>
              <a:r>
                <a:rPr lang="en-US" sz="2550" b="1">
                  <a:solidFill>
                    <a:srgbClr val="102A3A"/>
                  </a:solidFill>
                  <a:latin typeface="Poppins Bold"/>
                  <a:ea typeface="Poppins Bold"/>
                  <a:cs typeface="Poppins Bold"/>
                  <a:sym typeface="Poppins Bold"/>
                </a:rPr>
                <a:t>Loss or</a:t>
              </a:r>
            </a:p>
            <a:p>
              <a:pPr algn="l">
                <a:lnSpc>
                  <a:spcPts val="2754"/>
                </a:lnSpc>
              </a:pPr>
              <a:r>
                <a:rPr lang="en-US" sz="2550" b="1">
                  <a:solidFill>
                    <a:srgbClr val="102A3A"/>
                  </a:solidFill>
                  <a:latin typeface="Poppins Bold"/>
                  <a:ea typeface="Poppins Bold"/>
                  <a:cs typeface="Poppins Bold"/>
                  <a:sym typeface="Poppins Bold"/>
                </a:rPr>
                <a:t>damage</a:t>
              </a:r>
            </a:p>
          </p:txBody>
        </p:sp>
        <p:grpSp>
          <p:nvGrpSpPr>
            <p:cNvPr id="18" name="Group 18"/>
            <p:cNvGrpSpPr/>
            <p:nvPr/>
          </p:nvGrpSpPr>
          <p:grpSpPr>
            <a:xfrm>
              <a:off x="0" y="5715000"/>
              <a:ext cx="3810000" cy="203200"/>
              <a:chOff x="0" y="0"/>
              <a:chExt cx="3810000" cy="203200"/>
            </a:xfrm>
          </p:grpSpPr>
          <p:sp>
            <p:nvSpPr>
              <p:cNvPr id="19" name="Freeform 19"/>
              <p:cNvSpPr/>
              <p:nvPr/>
            </p:nvSpPr>
            <p:spPr>
              <a:xfrm>
                <a:off x="0" y="0"/>
                <a:ext cx="3810000" cy="203200"/>
              </a:xfrm>
              <a:custGeom>
                <a:avLst/>
                <a:gdLst/>
                <a:ahLst/>
                <a:cxnLst/>
                <a:rect l="l" t="t" r="r" b="b"/>
                <a:pathLst>
                  <a:path w="3810000" h="203200">
                    <a:moveTo>
                      <a:pt x="0" y="0"/>
                    </a:moveTo>
                    <a:lnTo>
                      <a:pt x="3810000" y="0"/>
                    </a:lnTo>
                    <a:lnTo>
                      <a:pt x="3810000" y="203200"/>
                    </a:lnTo>
                    <a:lnTo>
                      <a:pt x="0" y="203200"/>
                    </a:lnTo>
                    <a:close/>
                  </a:path>
                </a:pathLst>
              </a:custGeom>
              <a:solidFill>
                <a:srgbClr val="0AA6A6"/>
              </a:solidFill>
              <a:ln cap="sq">
                <a:noFill/>
                <a:prstDash val="solid"/>
                <a:miter/>
              </a:ln>
            </p:spPr>
          </p:sp>
          <p:sp>
            <p:nvSpPr>
              <p:cNvPr id="20" name="TextBox 20"/>
              <p:cNvSpPr txBox="1"/>
              <p:nvPr/>
            </p:nvSpPr>
            <p:spPr>
              <a:xfrm>
                <a:off x="0" y="-38100"/>
                <a:ext cx="3810000" cy="241300"/>
              </a:xfrm>
              <a:prstGeom prst="rect">
                <a:avLst/>
              </a:prstGeom>
            </p:spPr>
            <p:txBody>
              <a:bodyPr lIns="50800" tIns="50800" rIns="50800" bIns="50800" rtlCol="0" anchor="ctr"/>
              <a:lstStyle/>
              <a:p>
                <a:pPr algn="l">
                  <a:lnSpc>
                    <a:spcPts val="1679"/>
                  </a:lnSpc>
                </a:pPr>
                <a:endParaRPr/>
              </a:p>
            </p:txBody>
          </p:sp>
        </p:grpSp>
      </p:grpSp>
      <p:grpSp>
        <p:nvGrpSpPr>
          <p:cNvPr id="21" name="Group 21"/>
          <p:cNvGrpSpPr/>
          <p:nvPr/>
        </p:nvGrpSpPr>
        <p:grpSpPr>
          <a:xfrm>
            <a:off x="7620000" y="2857500"/>
            <a:ext cx="3143250" cy="4438650"/>
            <a:chOff x="0" y="0"/>
            <a:chExt cx="4191000" cy="5918200"/>
          </a:xfrm>
        </p:grpSpPr>
        <p:grpSp>
          <p:nvGrpSpPr>
            <p:cNvPr id="22" name="Group 22"/>
            <p:cNvGrpSpPr/>
            <p:nvPr/>
          </p:nvGrpSpPr>
          <p:grpSpPr>
            <a:xfrm>
              <a:off x="0" y="0"/>
              <a:ext cx="3810000" cy="5334000"/>
              <a:chOff x="0" y="0"/>
              <a:chExt cx="3810000" cy="5334000"/>
            </a:xfrm>
          </p:grpSpPr>
          <p:sp>
            <p:nvSpPr>
              <p:cNvPr id="23" name="Freeform 23"/>
              <p:cNvSpPr/>
              <p:nvPr/>
            </p:nvSpPr>
            <p:spPr>
              <a:xfrm>
                <a:off x="0" y="0"/>
                <a:ext cx="3810000" cy="5334000"/>
              </a:xfrm>
              <a:custGeom>
                <a:avLst/>
                <a:gdLst/>
                <a:ahLst/>
                <a:cxnLst/>
                <a:rect l="l" t="t" r="r" b="b"/>
                <a:pathLst>
                  <a:path w="3810000" h="5334000">
                    <a:moveTo>
                      <a:pt x="0" y="0"/>
                    </a:moveTo>
                    <a:lnTo>
                      <a:pt x="3810000" y="0"/>
                    </a:lnTo>
                    <a:lnTo>
                      <a:pt x="3810000" y="5334000"/>
                    </a:lnTo>
                    <a:lnTo>
                      <a:pt x="0" y="5334000"/>
                    </a:lnTo>
                    <a:close/>
                  </a:path>
                </a:pathLst>
              </a:custGeom>
              <a:solidFill>
                <a:srgbClr val="FFFFFF"/>
              </a:solidFill>
              <a:ln w="19050" cap="sq">
                <a:solidFill>
                  <a:srgbClr val="B9D2D4"/>
                </a:solidFill>
                <a:prstDash val="solid"/>
                <a:miter/>
              </a:ln>
            </p:spPr>
          </p:sp>
          <p:sp>
            <p:nvSpPr>
              <p:cNvPr id="24" name="TextBox 24"/>
              <p:cNvSpPr txBox="1"/>
              <p:nvPr/>
            </p:nvSpPr>
            <p:spPr>
              <a:xfrm>
                <a:off x="0" y="-38100"/>
                <a:ext cx="3810000" cy="5372100"/>
              </a:xfrm>
              <a:prstGeom prst="rect">
                <a:avLst/>
              </a:prstGeom>
            </p:spPr>
            <p:txBody>
              <a:bodyPr lIns="50800" tIns="50800" rIns="50800" bIns="50800" rtlCol="0" anchor="ctr"/>
              <a:lstStyle/>
              <a:p>
                <a:pPr algn="l">
                  <a:lnSpc>
                    <a:spcPts val="1679"/>
                  </a:lnSpc>
                </a:pPr>
                <a:endParaRPr/>
              </a:p>
            </p:txBody>
          </p:sp>
        </p:grpSp>
        <p:sp>
          <p:nvSpPr>
            <p:cNvPr id="25" name="TextBox 25"/>
            <p:cNvSpPr txBox="1"/>
            <p:nvPr/>
          </p:nvSpPr>
          <p:spPr>
            <a:xfrm>
              <a:off x="229150" y="304892"/>
              <a:ext cx="1270000" cy="929640"/>
            </a:xfrm>
            <a:prstGeom prst="rect">
              <a:avLst/>
            </a:prstGeom>
          </p:spPr>
          <p:txBody>
            <a:bodyPr lIns="0" tIns="0" rIns="0" bIns="0" rtlCol="0" anchor="t">
              <a:spAutoFit/>
            </a:bodyPr>
            <a:lstStyle/>
            <a:p>
              <a:pPr algn="l">
                <a:lnSpc>
                  <a:spcPts val="5670"/>
                </a:lnSpc>
              </a:pPr>
              <a:r>
                <a:rPr lang="en-US" sz="4050" b="1" spc="202">
                  <a:solidFill>
                    <a:srgbClr val="0AA6A6"/>
                  </a:solidFill>
                  <a:latin typeface="Poppins Bold"/>
                  <a:ea typeface="Poppins Bold"/>
                  <a:cs typeface="Poppins Bold"/>
                  <a:sym typeface="Poppins Bold"/>
                </a:rPr>
                <a:t>03</a:t>
              </a:r>
            </a:p>
          </p:txBody>
        </p:sp>
        <p:sp>
          <p:nvSpPr>
            <p:cNvPr id="26" name="TextBox 26"/>
            <p:cNvSpPr txBox="1"/>
            <p:nvPr/>
          </p:nvSpPr>
          <p:spPr>
            <a:xfrm>
              <a:off x="635000" y="2183892"/>
              <a:ext cx="3556000" cy="966216"/>
            </a:xfrm>
            <a:prstGeom prst="rect">
              <a:avLst/>
            </a:prstGeom>
          </p:spPr>
          <p:txBody>
            <a:bodyPr lIns="0" tIns="0" rIns="0" bIns="0" rtlCol="0" anchor="t">
              <a:spAutoFit/>
            </a:bodyPr>
            <a:lstStyle/>
            <a:p>
              <a:pPr algn="l">
                <a:lnSpc>
                  <a:spcPts val="2754"/>
                </a:lnSpc>
              </a:pPr>
              <a:r>
                <a:rPr lang="en-US" sz="2550" b="1">
                  <a:solidFill>
                    <a:srgbClr val="102A3A"/>
                  </a:solidFill>
                  <a:latin typeface="Poppins Bold"/>
                  <a:ea typeface="Poppins Bold"/>
                  <a:cs typeface="Poppins Bold"/>
                  <a:sym typeface="Poppins Bold"/>
                </a:rPr>
                <a:t>Slow</a:t>
              </a:r>
            </a:p>
            <a:p>
              <a:pPr algn="l">
                <a:lnSpc>
                  <a:spcPts val="2754"/>
                </a:lnSpc>
              </a:pPr>
              <a:r>
                <a:rPr lang="en-US" sz="2550" b="1">
                  <a:solidFill>
                    <a:srgbClr val="102A3A"/>
                  </a:solidFill>
                  <a:latin typeface="Poppins Bold"/>
                  <a:ea typeface="Poppins Bold"/>
                  <a:cs typeface="Poppins Bold"/>
                  <a:sym typeface="Poppins Bold"/>
                </a:rPr>
                <a:t>retrieval</a:t>
              </a:r>
            </a:p>
          </p:txBody>
        </p:sp>
        <p:grpSp>
          <p:nvGrpSpPr>
            <p:cNvPr id="27" name="Group 27"/>
            <p:cNvGrpSpPr/>
            <p:nvPr/>
          </p:nvGrpSpPr>
          <p:grpSpPr>
            <a:xfrm>
              <a:off x="0" y="5715000"/>
              <a:ext cx="3810000" cy="203200"/>
              <a:chOff x="0" y="0"/>
              <a:chExt cx="3810000" cy="203200"/>
            </a:xfrm>
          </p:grpSpPr>
          <p:sp>
            <p:nvSpPr>
              <p:cNvPr id="28" name="Freeform 28"/>
              <p:cNvSpPr/>
              <p:nvPr/>
            </p:nvSpPr>
            <p:spPr>
              <a:xfrm>
                <a:off x="0" y="0"/>
                <a:ext cx="3810000" cy="203200"/>
              </a:xfrm>
              <a:custGeom>
                <a:avLst/>
                <a:gdLst/>
                <a:ahLst/>
                <a:cxnLst/>
                <a:rect l="l" t="t" r="r" b="b"/>
                <a:pathLst>
                  <a:path w="3810000" h="203200">
                    <a:moveTo>
                      <a:pt x="0" y="0"/>
                    </a:moveTo>
                    <a:lnTo>
                      <a:pt x="3810000" y="0"/>
                    </a:lnTo>
                    <a:lnTo>
                      <a:pt x="3810000" y="203200"/>
                    </a:lnTo>
                    <a:lnTo>
                      <a:pt x="0" y="203200"/>
                    </a:lnTo>
                    <a:close/>
                  </a:path>
                </a:pathLst>
              </a:custGeom>
              <a:solidFill>
                <a:srgbClr val="0AA6A6"/>
              </a:solidFill>
              <a:ln cap="sq">
                <a:noFill/>
                <a:prstDash val="solid"/>
                <a:miter/>
              </a:ln>
            </p:spPr>
          </p:sp>
          <p:sp>
            <p:nvSpPr>
              <p:cNvPr id="29" name="TextBox 29"/>
              <p:cNvSpPr txBox="1"/>
              <p:nvPr/>
            </p:nvSpPr>
            <p:spPr>
              <a:xfrm>
                <a:off x="0" y="-38100"/>
                <a:ext cx="3810000" cy="241300"/>
              </a:xfrm>
              <a:prstGeom prst="rect">
                <a:avLst/>
              </a:prstGeom>
            </p:spPr>
            <p:txBody>
              <a:bodyPr lIns="50800" tIns="50800" rIns="50800" bIns="50800" rtlCol="0" anchor="ctr"/>
              <a:lstStyle/>
              <a:p>
                <a:pPr algn="l">
                  <a:lnSpc>
                    <a:spcPts val="1679"/>
                  </a:lnSpc>
                </a:pPr>
                <a:endParaRPr/>
              </a:p>
            </p:txBody>
          </p:sp>
        </p:grpSp>
      </p:grpSp>
      <p:grpSp>
        <p:nvGrpSpPr>
          <p:cNvPr id="30" name="Group 30"/>
          <p:cNvGrpSpPr/>
          <p:nvPr/>
        </p:nvGrpSpPr>
        <p:grpSpPr>
          <a:xfrm>
            <a:off x="10953750" y="2857500"/>
            <a:ext cx="2857500" cy="4000500"/>
            <a:chOff x="0" y="0"/>
            <a:chExt cx="3810000" cy="5334000"/>
          </a:xfrm>
        </p:grpSpPr>
        <p:sp>
          <p:nvSpPr>
            <p:cNvPr id="31" name="Freeform 31"/>
            <p:cNvSpPr/>
            <p:nvPr/>
          </p:nvSpPr>
          <p:spPr>
            <a:xfrm>
              <a:off x="0" y="0"/>
              <a:ext cx="3810000" cy="5334000"/>
            </a:xfrm>
            <a:custGeom>
              <a:avLst/>
              <a:gdLst/>
              <a:ahLst/>
              <a:cxnLst/>
              <a:rect l="l" t="t" r="r" b="b"/>
              <a:pathLst>
                <a:path w="3810000" h="5334000">
                  <a:moveTo>
                    <a:pt x="0" y="0"/>
                  </a:moveTo>
                  <a:lnTo>
                    <a:pt x="3810000" y="0"/>
                  </a:lnTo>
                  <a:lnTo>
                    <a:pt x="3810000" y="5334000"/>
                  </a:lnTo>
                  <a:lnTo>
                    <a:pt x="0" y="5334000"/>
                  </a:lnTo>
                  <a:close/>
                </a:path>
              </a:pathLst>
            </a:custGeom>
            <a:solidFill>
              <a:srgbClr val="FFFFFF"/>
            </a:solidFill>
            <a:ln w="19050" cap="sq">
              <a:solidFill>
                <a:srgbClr val="B9D2D4"/>
              </a:solidFill>
              <a:prstDash val="solid"/>
              <a:miter/>
            </a:ln>
          </p:spPr>
        </p:sp>
        <p:sp>
          <p:nvSpPr>
            <p:cNvPr id="32" name="TextBox 32"/>
            <p:cNvSpPr txBox="1"/>
            <p:nvPr/>
          </p:nvSpPr>
          <p:spPr>
            <a:xfrm>
              <a:off x="0" y="-38100"/>
              <a:ext cx="3810000" cy="5372100"/>
            </a:xfrm>
            <a:prstGeom prst="rect">
              <a:avLst/>
            </a:prstGeom>
          </p:spPr>
          <p:txBody>
            <a:bodyPr lIns="50800" tIns="50800" rIns="50800" bIns="50800" rtlCol="0" anchor="ctr"/>
            <a:lstStyle/>
            <a:p>
              <a:pPr algn="l">
                <a:lnSpc>
                  <a:spcPts val="1679"/>
                </a:lnSpc>
              </a:pPr>
              <a:endParaRPr/>
            </a:p>
          </p:txBody>
        </p:sp>
      </p:grpSp>
      <p:sp>
        <p:nvSpPr>
          <p:cNvPr id="33" name="TextBox 33"/>
          <p:cNvSpPr txBox="1"/>
          <p:nvPr/>
        </p:nvSpPr>
        <p:spPr>
          <a:xfrm>
            <a:off x="11182900" y="3028950"/>
            <a:ext cx="952500" cy="725805"/>
          </a:xfrm>
          <a:prstGeom prst="rect">
            <a:avLst/>
          </a:prstGeom>
        </p:spPr>
        <p:txBody>
          <a:bodyPr lIns="0" tIns="0" rIns="0" bIns="0" rtlCol="0" anchor="t">
            <a:spAutoFit/>
          </a:bodyPr>
          <a:lstStyle/>
          <a:p>
            <a:pPr algn="l">
              <a:lnSpc>
                <a:spcPts val="5670"/>
              </a:lnSpc>
            </a:pPr>
            <a:r>
              <a:rPr lang="en-US" sz="4050" b="1" spc="202">
                <a:solidFill>
                  <a:srgbClr val="0AA6A6"/>
                </a:solidFill>
                <a:latin typeface="Poppins Bold"/>
                <a:ea typeface="Poppins Bold"/>
                <a:cs typeface="Poppins Bold"/>
                <a:sym typeface="Poppins Bold"/>
              </a:rPr>
              <a:t>04</a:t>
            </a:r>
          </a:p>
        </p:txBody>
      </p:sp>
      <p:sp>
        <p:nvSpPr>
          <p:cNvPr id="34" name="TextBox 34"/>
          <p:cNvSpPr txBox="1"/>
          <p:nvPr/>
        </p:nvSpPr>
        <p:spPr>
          <a:xfrm>
            <a:off x="11430000" y="4495419"/>
            <a:ext cx="2667000" cy="724662"/>
          </a:xfrm>
          <a:prstGeom prst="rect">
            <a:avLst/>
          </a:prstGeom>
        </p:spPr>
        <p:txBody>
          <a:bodyPr lIns="0" tIns="0" rIns="0" bIns="0" rtlCol="0" anchor="t">
            <a:spAutoFit/>
          </a:bodyPr>
          <a:lstStyle/>
          <a:p>
            <a:pPr algn="l">
              <a:lnSpc>
                <a:spcPts val="2754"/>
              </a:lnSpc>
            </a:pPr>
            <a:r>
              <a:rPr lang="en-US" sz="2550" b="1">
                <a:solidFill>
                  <a:srgbClr val="102A3A"/>
                </a:solidFill>
                <a:latin typeface="Poppins Bold"/>
                <a:ea typeface="Poppins Bold"/>
                <a:cs typeface="Poppins Bold"/>
                <a:sym typeface="Poppins Bold"/>
              </a:rPr>
              <a:t>Missed</a:t>
            </a:r>
          </a:p>
          <a:p>
            <a:pPr algn="l">
              <a:lnSpc>
                <a:spcPts val="2754"/>
              </a:lnSpc>
            </a:pPr>
            <a:r>
              <a:rPr lang="en-US" sz="2550" b="1">
                <a:solidFill>
                  <a:srgbClr val="102A3A"/>
                </a:solidFill>
                <a:latin typeface="Poppins Bold"/>
                <a:ea typeface="Poppins Bold"/>
                <a:cs typeface="Poppins Bold"/>
                <a:sym typeface="Poppins Bold"/>
              </a:rPr>
              <a:t>medication</a:t>
            </a:r>
          </a:p>
        </p:txBody>
      </p:sp>
      <p:grpSp>
        <p:nvGrpSpPr>
          <p:cNvPr id="35" name="Group 35"/>
          <p:cNvGrpSpPr/>
          <p:nvPr/>
        </p:nvGrpSpPr>
        <p:grpSpPr>
          <a:xfrm>
            <a:off x="10953750" y="7143750"/>
            <a:ext cx="2857500" cy="152400"/>
            <a:chOff x="0" y="0"/>
            <a:chExt cx="3810000" cy="203200"/>
          </a:xfrm>
        </p:grpSpPr>
        <p:sp>
          <p:nvSpPr>
            <p:cNvPr id="36" name="Freeform 36"/>
            <p:cNvSpPr/>
            <p:nvPr/>
          </p:nvSpPr>
          <p:spPr>
            <a:xfrm>
              <a:off x="0" y="0"/>
              <a:ext cx="3810000" cy="203200"/>
            </a:xfrm>
            <a:custGeom>
              <a:avLst/>
              <a:gdLst/>
              <a:ahLst/>
              <a:cxnLst/>
              <a:rect l="l" t="t" r="r" b="b"/>
              <a:pathLst>
                <a:path w="3810000" h="203200">
                  <a:moveTo>
                    <a:pt x="0" y="0"/>
                  </a:moveTo>
                  <a:lnTo>
                    <a:pt x="3810000" y="0"/>
                  </a:lnTo>
                  <a:lnTo>
                    <a:pt x="3810000" y="203200"/>
                  </a:lnTo>
                  <a:lnTo>
                    <a:pt x="0" y="203200"/>
                  </a:lnTo>
                  <a:close/>
                </a:path>
              </a:pathLst>
            </a:custGeom>
            <a:solidFill>
              <a:srgbClr val="12A5A5"/>
            </a:solidFill>
            <a:ln cap="sq">
              <a:noFill/>
              <a:prstDash val="solid"/>
              <a:miter/>
            </a:ln>
          </p:spPr>
        </p:sp>
        <p:sp>
          <p:nvSpPr>
            <p:cNvPr id="37" name="TextBox 37"/>
            <p:cNvSpPr txBox="1"/>
            <p:nvPr/>
          </p:nvSpPr>
          <p:spPr>
            <a:xfrm>
              <a:off x="0" y="-38100"/>
              <a:ext cx="3810000" cy="241300"/>
            </a:xfrm>
            <a:prstGeom prst="rect">
              <a:avLst/>
            </a:prstGeom>
          </p:spPr>
          <p:txBody>
            <a:bodyPr lIns="50800" tIns="50800" rIns="50800" bIns="50800" rtlCol="0" anchor="ctr"/>
            <a:lstStyle/>
            <a:p>
              <a:pPr algn="l">
                <a:lnSpc>
                  <a:spcPts val="1679"/>
                </a:lnSpc>
              </a:pPr>
              <a:endParaRPr/>
            </a:p>
          </p:txBody>
        </p:sp>
      </p:grpSp>
      <p:grpSp>
        <p:nvGrpSpPr>
          <p:cNvPr id="38" name="Group 38"/>
          <p:cNvGrpSpPr/>
          <p:nvPr/>
        </p:nvGrpSpPr>
        <p:grpSpPr>
          <a:xfrm>
            <a:off x="14287500" y="2857500"/>
            <a:ext cx="2857500" cy="4438650"/>
            <a:chOff x="0" y="0"/>
            <a:chExt cx="3810000" cy="5918200"/>
          </a:xfrm>
        </p:grpSpPr>
        <p:grpSp>
          <p:nvGrpSpPr>
            <p:cNvPr id="39" name="Group 39"/>
            <p:cNvGrpSpPr/>
            <p:nvPr/>
          </p:nvGrpSpPr>
          <p:grpSpPr>
            <a:xfrm>
              <a:off x="0" y="0"/>
              <a:ext cx="3810000" cy="5334000"/>
              <a:chOff x="0" y="0"/>
              <a:chExt cx="3810000" cy="5334000"/>
            </a:xfrm>
          </p:grpSpPr>
          <p:sp>
            <p:nvSpPr>
              <p:cNvPr id="40" name="Freeform 40"/>
              <p:cNvSpPr/>
              <p:nvPr/>
            </p:nvSpPr>
            <p:spPr>
              <a:xfrm>
                <a:off x="0" y="0"/>
                <a:ext cx="3810000" cy="5334000"/>
              </a:xfrm>
              <a:custGeom>
                <a:avLst/>
                <a:gdLst/>
                <a:ahLst/>
                <a:cxnLst/>
                <a:rect l="l" t="t" r="r" b="b"/>
                <a:pathLst>
                  <a:path w="3810000" h="5334000">
                    <a:moveTo>
                      <a:pt x="0" y="0"/>
                    </a:moveTo>
                    <a:lnTo>
                      <a:pt x="3810000" y="0"/>
                    </a:lnTo>
                    <a:lnTo>
                      <a:pt x="3810000" y="5334000"/>
                    </a:lnTo>
                    <a:lnTo>
                      <a:pt x="0" y="5334000"/>
                    </a:lnTo>
                    <a:close/>
                  </a:path>
                </a:pathLst>
              </a:custGeom>
              <a:solidFill>
                <a:srgbClr val="FFFFFF"/>
              </a:solidFill>
              <a:ln w="19050" cap="sq">
                <a:solidFill>
                  <a:srgbClr val="B9D2D4"/>
                </a:solidFill>
                <a:prstDash val="solid"/>
                <a:miter/>
              </a:ln>
            </p:spPr>
          </p:sp>
          <p:sp>
            <p:nvSpPr>
              <p:cNvPr id="41" name="TextBox 41"/>
              <p:cNvSpPr txBox="1"/>
              <p:nvPr/>
            </p:nvSpPr>
            <p:spPr>
              <a:xfrm>
                <a:off x="0" y="-38100"/>
                <a:ext cx="3810000" cy="5372100"/>
              </a:xfrm>
              <a:prstGeom prst="rect">
                <a:avLst/>
              </a:prstGeom>
            </p:spPr>
            <p:txBody>
              <a:bodyPr lIns="50800" tIns="50800" rIns="50800" bIns="50800" rtlCol="0" anchor="ctr"/>
              <a:lstStyle/>
              <a:p>
                <a:pPr algn="l">
                  <a:lnSpc>
                    <a:spcPts val="1679"/>
                  </a:lnSpc>
                </a:pPr>
                <a:endParaRPr/>
              </a:p>
            </p:txBody>
          </p:sp>
        </p:grpSp>
        <p:sp>
          <p:nvSpPr>
            <p:cNvPr id="42" name="TextBox 42"/>
            <p:cNvSpPr txBox="1"/>
            <p:nvPr/>
          </p:nvSpPr>
          <p:spPr>
            <a:xfrm>
              <a:off x="229150" y="228508"/>
              <a:ext cx="1270000" cy="929640"/>
            </a:xfrm>
            <a:prstGeom prst="rect">
              <a:avLst/>
            </a:prstGeom>
          </p:spPr>
          <p:txBody>
            <a:bodyPr lIns="0" tIns="0" rIns="0" bIns="0" rtlCol="0" anchor="t">
              <a:spAutoFit/>
            </a:bodyPr>
            <a:lstStyle/>
            <a:p>
              <a:pPr algn="l">
                <a:lnSpc>
                  <a:spcPts val="5670"/>
                </a:lnSpc>
              </a:pPr>
              <a:r>
                <a:rPr lang="en-US" sz="4050" b="1" spc="202">
                  <a:solidFill>
                    <a:srgbClr val="0AA6A6"/>
                  </a:solidFill>
                  <a:latin typeface="Poppins Bold"/>
                  <a:ea typeface="Poppins Bold"/>
                  <a:cs typeface="Poppins Bold"/>
                  <a:sym typeface="Poppins Bold"/>
                </a:rPr>
                <a:t>05</a:t>
              </a:r>
            </a:p>
          </p:txBody>
        </p:sp>
        <p:sp>
          <p:nvSpPr>
            <p:cNvPr id="43" name="TextBox 43"/>
            <p:cNvSpPr txBox="1"/>
            <p:nvPr/>
          </p:nvSpPr>
          <p:spPr>
            <a:xfrm>
              <a:off x="528013" y="1955292"/>
              <a:ext cx="2753973" cy="1423416"/>
            </a:xfrm>
            <a:prstGeom prst="rect">
              <a:avLst/>
            </a:prstGeom>
          </p:spPr>
          <p:txBody>
            <a:bodyPr lIns="0" tIns="0" rIns="0" bIns="0" rtlCol="0" anchor="t">
              <a:spAutoFit/>
            </a:bodyPr>
            <a:lstStyle/>
            <a:p>
              <a:pPr algn="l">
                <a:lnSpc>
                  <a:spcPts val="2754"/>
                </a:lnSpc>
              </a:pPr>
              <a:r>
                <a:rPr lang="en-US" sz="2550" b="1">
                  <a:solidFill>
                    <a:srgbClr val="102A3A"/>
                  </a:solidFill>
                  <a:latin typeface="Poppins Bold"/>
                  <a:ea typeface="Poppins Bold"/>
                  <a:cs typeface="Poppins Bold"/>
                  <a:sym typeface="Poppins Bold"/>
                </a:rPr>
                <a:t>Broken medical</a:t>
              </a:r>
            </a:p>
            <a:p>
              <a:pPr algn="l">
                <a:lnSpc>
                  <a:spcPts val="2754"/>
                </a:lnSpc>
              </a:pPr>
              <a:r>
                <a:rPr lang="en-US" sz="2550" b="1">
                  <a:solidFill>
                    <a:srgbClr val="102A3A"/>
                  </a:solidFill>
                  <a:latin typeface="Poppins Bold"/>
                  <a:ea typeface="Poppins Bold"/>
                  <a:cs typeface="Poppins Bold"/>
                  <a:sym typeface="Poppins Bold"/>
                </a:rPr>
                <a:t>history</a:t>
              </a:r>
            </a:p>
          </p:txBody>
        </p:sp>
        <p:grpSp>
          <p:nvGrpSpPr>
            <p:cNvPr id="44" name="Group 44"/>
            <p:cNvGrpSpPr/>
            <p:nvPr/>
          </p:nvGrpSpPr>
          <p:grpSpPr>
            <a:xfrm>
              <a:off x="0" y="5715000"/>
              <a:ext cx="3810000" cy="203200"/>
              <a:chOff x="0" y="0"/>
              <a:chExt cx="3810000" cy="203200"/>
            </a:xfrm>
          </p:grpSpPr>
          <p:sp>
            <p:nvSpPr>
              <p:cNvPr id="45" name="Freeform 45"/>
              <p:cNvSpPr/>
              <p:nvPr/>
            </p:nvSpPr>
            <p:spPr>
              <a:xfrm>
                <a:off x="0" y="0"/>
                <a:ext cx="3810000" cy="203200"/>
              </a:xfrm>
              <a:custGeom>
                <a:avLst/>
                <a:gdLst/>
                <a:ahLst/>
                <a:cxnLst/>
                <a:rect l="l" t="t" r="r" b="b"/>
                <a:pathLst>
                  <a:path w="3810000" h="203200">
                    <a:moveTo>
                      <a:pt x="0" y="0"/>
                    </a:moveTo>
                    <a:lnTo>
                      <a:pt x="3810000" y="0"/>
                    </a:lnTo>
                    <a:lnTo>
                      <a:pt x="3810000" y="203200"/>
                    </a:lnTo>
                    <a:lnTo>
                      <a:pt x="0" y="203200"/>
                    </a:lnTo>
                    <a:close/>
                  </a:path>
                </a:pathLst>
              </a:custGeom>
              <a:solidFill>
                <a:srgbClr val="0AA6A6"/>
              </a:solidFill>
              <a:ln cap="sq">
                <a:noFill/>
                <a:prstDash val="solid"/>
                <a:miter/>
              </a:ln>
            </p:spPr>
          </p:sp>
          <p:sp>
            <p:nvSpPr>
              <p:cNvPr id="46" name="TextBox 46"/>
              <p:cNvSpPr txBox="1"/>
              <p:nvPr/>
            </p:nvSpPr>
            <p:spPr>
              <a:xfrm>
                <a:off x="0" y="-38100"/>
                <a:ext cx="3810000" cy="241300"/>
              </a:xfrm>
              <a:prstGeom prst="rect">
                <a:avLst/>
              </a:prstGeom>
            </p:spPr>
            <p:txBody>
              <a:bodyPr lIns="50800" tIns="50800" rIns="50800" bIns="50800" rtlCol="0" anchor="ctr"/>
              <a:lstStyle/>
              <a:p>
                <a:pPr algn="l">
                  <a:lnSpc>
                    <a:spcPts val="1679"/>
                  </a:lnSpc>
                </a:pPr>
                <a:endParaRPr/>
              </a:p>
            </p:txBody>
          </p:sp>
        </p:grpSp>
      </p:grpSp>
      <p:sp>
        <p:nvSpPr>
          <p:cNvPr id="47" name="AutoShape 47"/>
          <p:cNvSpPr/>
          <p:nvPr/>
        </p:nvSpPr>
        <p:spPr>
          <a:xfrm>
            <a:off x="952500" y="9572625"/>
            <a:ext cx="16383000" cy="0"/>
          </a:xfrm>
          <a:prstGeom prst="line">
            <a:avLst/>
          </a:prstGeom>
          <a:ln w="9525" cap="flat">
            <a:solidFill>
              <a:srgbClr val="B9D2D4"/>
            </a:solidFill>
            <a:prstDash val="solid"/>
            <a:headEnd type="none" w="sm" len="sm"/>
            <a:tailEnd type="none" w="sm" len="sm"/>
          </a:ln>
        </p:spPr>
      </p:sp>
      <p:sp>
        <p:nvSpPr>
          <p:cNvPr id="48" name="TextBox 48"/>
          <p:cNvSpPr txBox="1"/>
          <p:nvPr/>
        </p:nvSpPr>
        <p:spPr>
          <a:xfrm>
            <a:off x="952500" y="9753600"/>
            <a:ext cx="6667500" cy="232410"/>
          </a:xfrm>
          <a:prstGeom prst="rect">
            <a:avLst/>
          </a:prstGeom>
        </p:spPr>
        <p:txBody>
          <a:bodyPr lIns="0" tIns="0" rIns="0" bIns="0" rtlCol="0" anchor="t">
            <a:spAutoFit/>
          </a:bodyPr>
          <a:lstStyle/>
          <a:p>
            <a:pPr algn="l">
              <a:lnSpc>
                <a:spcPts val="1889"/>
              </a:lnSpc>
            </a:pPr>
            <a:r>
              <a:rPr lang="en-US" sz="1350" b="1" spc="108">
                <a:solidFill>
                  <a:srgbClr val="56707C"/>
                </a:solidFill>
                <a:latin typeface="Open Sans Bold"/>
                <a:ea typeface="Open Sans Bold"/>
                <a:cs typeface="Open Sans Bold"/>
                <a:sym typeface="Open Sans Bold"/>
              </a:rPr>
              <a:t>MEDISYNC • MCA PROJECT</a:t>
            </a:r>
          </a:p>
        </p:txBody>
      </p:sp>
      <p:sp>
        <p:nvSpPr>
          <p:cNvPr id="49" name="TextBox 49"/>
          <p:cNvSpPr txBox="1"/>
          <p:nvPr/>
        </p:nvSpPr>
        <p:spPr>
          <a:xfrm>
            <a:off x="15811500" y="9753600"/>
            <a:ext cx="1524000" cy="232410"/>
          </a:xfrm>
          <a:prstGeom prst="rect">
            <a:avLst/>
          </a:prstGeom>
        </p:spPr>
        <p:txBody>
          <a:bodyPr lIns="0" tIns="0" rIns="0" bIns="0" rtlCol="0" anchor="t">
            <a:spAutoFit/>
          </a:bodyPr>
          <a:lstStyle/>
          <a:p>
            <a:pPr algn="r">
              <a:lnSpc>
                <a:spcPts val="1889"/>
              </a:lnSpc>
            </a:pPr>
            <a:r>
              <a:rPr lang="en-US" sz="1350" b="1">
                <a:solidFill>
                  <a:srgbClr val="56707C"/>
                </a:solidFill>
                <a:latin typeface="Open Sans Bold"/>
                <a:ea typeface="Open Sans Bold"/>
                <a:cs typeface="Open Sans Bold"/>
                <a:sym typeface="Open Sans Bold"/>
              </a:rPr>
              <a:t>03 / 18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8"/>
        </a:solidFill>
        <a:effectLst/>
      </p:bgPr>
    </p:bg>
    <p:spTree>
      <p:nvGrpSpPr>
        <p:cNvPr id="1" name=""/>
        <p:cNvGrpSpPr/>
        <p:nvPr/>
      </p:nvGrpSpPr>
      <p:grpSpPr>
        <a:xfrm>
          <a:off x="0" y="0"/>
          <a:ext cx="0" cy="0"/>
          <a:chOff x="0" y="0"/>
          <a:chExt cx="0" cy="0"/>
        </a:xfrm>
      </p:grpSpPr>
      <p:sp>
        <p:nvSpPr>
          <p:cNvPr id="2" name="TextBox 2"/>
          <p:cNvSpPr txBox="1"/>
          <p:nvPr/>
        </p:nvSpPr>
        <p:spPr>
          <a:xfrm>
            <a:off x="952500" y="657225"/>
            <a:ext cx="14287500" cy="720852"/>
          </a:xfrm>
          <a:prstGeom prst="rect">
            <a:avLst/>
          </a:prstGeom>
        </p:spPr>
        <p:txBody>
          <a:bodyPr lIns="0" tIns="0" rIns="0" bIns="0" rtlCol="0" anchor="t">
            <a:spAutoFit/>
          </a:bodyPr>
          <a:lstStyle/>
          <a:p>
            <a:pPr algn="l">
              <a:lnSpc>
                <a:spcPts val="5184"/>
              </a:lnSpc>
            </a:pPr>
            <a:r>
              <a:rPr lang="en-US" sz="4800" b="1">
                <a:solidFill>
                  <a:srgbClr val="102A3A"/>
                </a:solidFill>
                <a:latin typeface="Poppins Bold"/>
                <a:ea typeface="Poppins Bold"/>
                <a:cs typeface="Poppins Bold"/>
                <a:sym typeface="Poppins Bold"/>
              </a:rPr>
              <a:t>Five objectives, one coherent experience</a:t>
            </a:r>
          </a:p>
        </p:txBody>
      </p:sp>
      <p:sp>
        <p:nvSpPr>
          <p:cNvPr id="3" name="TextBox 3"/>
          <p:cNvSpPr txBox="1"/>
          <p:nvPr/>
        </p:nvSpPr>
        <p:spPr>
          <a:xfrm>
            <a:off x="952500" y="1371600"/>
            <a:ext cx="13811250" cy="334328"/>
          </a:xfrm>
          <a:prstGeom prst="rect">
            <a:avLst/>
          </a:prstGeom>
        </p:spPr>
        <p:txBody>
          <a:bodyPr lIns="0" tIns="0" rIns="0" bIns="0" rtlCol="0" anchor="t">
            <a:spAutoFit/>
          </a:bodyPr>
          <a:lstStyle/>
          <a:p>
            <a:pPr algn="l">
              <a:lnSpc>
                <a:spcPts val="2632"/>
              </a:lnSpc>
            </a:pPr>
            <a:r>
              <a:rPr lang="en-US" sz="1950">
                <a:solidFill>
                  <a:srgbClr val="56707C"/>
                </a:solidFill>
                <a:latin typeface="Open Sans"/>
                <a:ea typeface="Open Sans"/>
                <a:cs typeface="Open Sans"/>
                <a:sym typeface="Open Sans"/>
              </a:rPr>
              <a:t>The project focuses on organization, access, reminders, retrieval and usability.</a:t>
            </a:r>
          </a:p>
        </p:txBody>
      </p:sp>
      <p:grpSp>
        <p:nvGrpSpPr>
          <p:cNvPr id="4" name="Group 4"/>
          <p:cNvGrpSpPr/>
          <p:nvPr/>
        </p:nvGrpSpPr>
        <p:grpSpPr>
          <a:xfrm>
            <a:off x="952500" y="2619375"/>
            <a:ext cx="14192250" cy="857250"/>
            <a:chOff x="0" y="0"/>
            <a:chExt cx="18923000" cy="1143000"/>
          </a:xfrm>
        </p:grpSpPr>
        <p:grpSp>
          <p:nvGrpSpPr>
            <p:cNvPr id="5" name="Group 5"/>
            <p:cNvGrpSpPr/>
            <p:nvPr/>
          </p:nvGrpSpPr>
          <p:grpSpPr>
            <a:xfrm>
              <a:off x="0" y="0"/>
              <a:ext cx="1841500" cy="1143000"/>
              <a:chOff x="0" y="0"/>
              <a:chExt cx="1841500" cy="1143000"/>
            </a:xfrm>
          </p:grpSpPr>
          <p:sp>
            <p:nvSpPr>
              <p:cNvPr id="6" name="Freeform 6"/>
              <p:cNvSpPr/>
              <p:nvPr/>
            </p:nvSpPr>
            <p:spPr>
              <a:xfrm>
                <a:off x="0" y="0"/>
                <a:ext cx="1841500" cy="1143000"/>
              </a:xfrm>
              <a:custGeom>
                <a:avLst/>
                <a:gdLst/>
                <a:ahLst/>
                <a:cxnLst/>
                <a:rect l="l" t="t" r="r" b="b"/>
                <a:pathLst>
                  <a:path w="1841500" h="1143000">
                    <a:moveTo>
                      <a:pt x="157655" y="0"/>
                    </a:moveTo>
                    <a:lnTo>
                      <a:pt x="1683845" y="0"/>
                    </a:lnTo>
                    <a:cubicBezTo>
                      <a:pt x="1725658" y="0"/>
                      <a:pt x="1765758" y="16610"/>
                      <a:pt x="1795324" y="46176"/>
                    </a:cubicBezTo>
                    <a:cubicBezTo>
                      <a:pt x="1824890" y="75742"/>
                      <a:pt x="1841500" y="115842"/>
                      <a:pt x="1841500" y="157655"/>
                    </a:cubicBezTo>
                    <a:lnTo>
                      <a:pt x="1841500" y="985345"/>
                    </a:lnTo>
                    <a:cubicBezTo>
                      <a:pt x="1841500" y="1027158"/>
                      <a:pt x="1824890" y="1067258"/>
                      <a:pt x="1795324" y="1096824"/>
                    </a:cubicBezTo>
                    <a:cubicBezTo>
                      <a:pt x="1765758" y="1126390"/>
                      <a:pt x="1725658" y="1143000"/>
                      <a:pt x="1683845" y="1143000"/>
                    </a:cubicBezTo>
                    <a:lnTo>
                      <a:pt x="157655" y="1143000"/>
                    </a:lnTo>
                    <a:cubicBezTo>
                      <a:pt x="115842" y="1143000"/>
                      <a:pt x="75742" y="1126390"/>
                      <a:pt x="46176" y="1096824"/>
                    </a:cubicBezTo>
                    <a:cubicBezTo>
                      <a:pt x="16610" y="1067258"/>
                      <a:pt x="0" y="1027158"/>
                      <a:pt x="0" y="985345"/>
                    </a:cubicBezTo>
                    <a:lnTo>
                      <a:pt x="0" y="157655"/>
                    </a:lnTo>
                    <a:cubicBezTo>
                      <a:pt x="0" y="115842"/>
                      <a:pt x="16610" y="75742"/>
                      <a:pt x="46176" y="46176"/>
                    </a:cubicBezTo>
                    <a:cubicBezTo>
                      <a:pt x="75742" y="16610"/>
                      <a:pt x="115842" y="0"/>
                      <a:pt x="157655" y="0"/>
                    </a:cubicBezTo>
                    <a:close/>
                  </a:path>
                </a:pathLst>
              </a:custGeom>
              <a:solidFill>
                <a:srgbClr val="D9F2EF"/>
              </a:solidFill>
              <a:ln w="19050" cap="sq">
                <a:solidFill>
                  <a:srgbClr val="0AA6A6"/>
                </a:solidFill>
                <a:prstDash val="solid"/>
                <a:miter/>
              </a:ln>
            </p:spPr>
          </p:sp>
          <p:sp>
            <p:nvSpPr>
              <p:cNvPr id="7" name="TextBox 7"/>
              <p:cNvSpPr txBox="1"/>
              <p:nvPr/>
            </p:nvSpPr>
            <p:spPr>
              <a:xfrm>
                <a:off x="0" y="-9525"/>
                <a:ext cx="1841500" cy="1152525"/>
              </a:xfrm>
              <a:prstGeom prst="rect">
                <a:avLst/>
              </a:prstGeom>
            </p:spPr>
            <p:txBody>
              <a:bodyPr lIns="50800" tIns="50800" rIns="50800" bIns="50800" rtlCol="0" anchor="ctr"/>
              <a:lstStyle/>
              <a:p>
                <a:pPr algn="ctr">
                  <a:lnSpc>
                    <a:spcPts val="2070"/>
                  </a:lnSpc>
                </a:pPr>
                <a:r>
                  <a:rPr lang="en-US" sz="1800" b="1">
                    <a:solidFill>
                      <a:srgbClr val="102A3A"/>
                    </a:solidFill>
                    <a:latin typeface="Poppins Bold"/>
                    <a:ea typeface="Poppins Bold"/>
                    <a:cs typeface="Poppins Bold"/>
                    <a:sym typeface="Poppins Bold"/>
                  </a:rPr>
                  <a:t>1</a:t>
                </a:r>
              </a:p>
            </p:txBody>
          </p:sp>
        </p:grpSp>
        <p:sp>
          <p:nvSpPr>
            <p:cNvPr id="8" name="TextBox 8"/>
            <p:cNvSpPr txBox="1"/>
            <p:nvPr/>
          </p:nvSpPr>
          <p:spPr>
            <a:xfrm>
              <a:off x="2667000" y="279400"/>
              <a:ext cx="16256000" cy="452120"/>
            </a:xfrm>
            <a:prstGeom prst="rect">
              <a:avLst/>
            </a:prstGeom>
          </p:spPr>
          <p:txBody>
            <a:bodyPr lIns="0" tIns="0" rIns="0" bIns="0" rtlCol="0" anchor="t">
              <a:spAutoFit/>
            </a:bodyPr>
            <a:lstStyle/>
            <a:p>
              <a:pPr algn="l">
                <a:lnSpc>
                  <a:spcPts val="2430"/>
                </a:lnSpc>
              </a:pPr>
              <a:r>
                <a:rPr lang="en-US" sz="2250" b="1">
                  <a:solidFill>
                    <a:srgbClr val="102A3A"/>
                  </a:solidFill>
                  <a:latin typeface="Poppins Bold"/>
                  <a:ea typeface="Poppins Bold"/>
                  <a:cs typeface="Poppins Bold"/>
                  <a:sym typeface="Poppins Bold"/>
                </a:rPr>
                <a:t>Digitally organize personal medical data</a:t>
              </a:r>
            </a:p>
          </p:txBody>
        </p:sp>
      </p:grpSp>
      <p:grpSp>
        <p:nvGrpSpPr>
          <p:cNvPr id="9" name="Group 9"/>
          <p:cNvGrpSpPr/>
          <p:nvPr/>
        </p:nvGrpSpPr>
        <p:grpSpPr>
          <a:xfrm>
            <a:off x="952500" y="3857625"/>
            <a:ext cx="14192250" cy="857250"/>
            <a:chOff x="0" y="0"/>
            <a:chExt cx="18923000" cy="1143000"/>
          </a:xfrm>
        </p:grpSpPr>
        <p:grpSp>
          <p:nvGrpSpPr>
            <p:cNvPr id="10" name="Group 10"/>
            <p:cNvGrpSpPr/>
            <p:nvPr/>
          </p:nvGrpSpPr>
          <p:grpSpPr>
            <a:xfrm>
              <a:off x="0" y="0"/>
              <a:ext cx="1841500" cy="1143000"/>
              <a:chOff x="0" y="0"/>
              <a:chExt cx="1841500" cy="1143000"/>
            </a:xfrm>
          </p:grpSpPr>
          <p:sp>
            <p:nvSpPr>
              <p:cNvPr id="11" name="Freeform 11"/>
              <p:cNvSpPr/>
              <p:nvPr/>
            </p:nvSpPr>
            <p:spPr>
              <a:xfrm>
                <a:off x="0" y="0"/>
                <a:ext cx="1841500" cy="1143000"/>
              </a:xfrm>
              <a:custGeom>
                <a:avLst/>
                <a:gdLst/>
                <a:ahLst/>
                <a:cxnLst/>
                <a:rect l="l" t="t" r="r" b="b"/>
                <a:pathLst>
                  <a:path w="1841500" h="1143000">
                    <a:moveTo>
                      <a:pt x="157655" y="0"/>
                    </a:moveTo>
                    <a:lnTo>
                      <a:pt x="1683845" y="0"/>
                    </a:lnTo>
                    <a:cubicBezTo>
                      <a:pt x="1725658" y="0"/>
                      <a:pt x="1765758" y="16610"/>
                      <a:pt x="1795324" y="46176"/>
                    </a:cubicBezTo>
                    <a:cubicBezTo>
                      <a:pt x="1824890" y="75742"/>
                      <a:pt x="1841500" y="115842"/>
                      <a:pt x="1841500" y="157655"/>
                    </a:cubicBezTo>
                    <a:lnTo>
                      <a:pt x="1841500" y="985345"/>
                    </a:lnTo>
                    <a:cubicBezTo>
                      <a:pt x="1841500" y="1027158"/>
                      <a:pt x="1824890" y="1067258"/>
                      <a:pt x="1795324" y="1096824"/>
                    </a:cubicBezTo>
                    <a:cubicBezTo>
                      <a:pt x="1765758" y="1126390"/>
                      <a:pt x="1725658" y="1143000"/>
                      <a:pt x="1683845" y="1143000"/>
                    </a:cubicBezTo>
                    <a:lnTo>
                      <a:pt x="157655" y="1143000"/>
                    </a:lnTo>
                    <a:cubicBezTo>
                      <a:pt x="115842" y="1143000"/>
                      <a:pt x="75742" y="1126390"/>
                      <a:pt x="46176" y="1096824"/>
                    </a:cubicBezTo>
                    <a:cubicBezTo>
                      <a:pt x="16610" y="1067258"/>
                      <a:pt x="0" y="1027158"/>
                      <a:pt x="0" y="985345"/>
                    </a:cubicBezTo>
                    <a:lnTo>
                      <a:pt x="0" y="157655"/>
                    </a:lnTo>
                    <a:cubicBezTo>
                      <a:pt x="0" y="115842"/>
                      <a:pt x="16610" y="75742"/>
                      <a:pt x="46176" y="46176"/>
                    </a:cubicBezTo>
                    <a:cubicBezTo>
                      <a:pt x="75742" y="16610"/>
                      <a:pt x="115842" y="0"/>
                      <a:pt x="157655" y="0"/>
                    </a:cubicBezTo>
                    <a:close/>
                  </a:path>
                </a:pathLst>
              </a:custGeom>
              <a:solidFill>
                <a:srgbClr val="D9F2EF"/>
              </a:solidFill>
              <a:ln w="19050" cap="sq">
                <a:solidFill>
                  <a:srgbClr val="0AA6A6"/>
                </a:solidFill>
                <a:prstDash val="solid"/>
                <a:miter/>
              </a:ln>
            </p:spPr>
          </p:sp>
          <p:sp>
            <p:nvSpPr>
              <p:cNvPr id="12" name="TextBox 12"/>
              <p:cNvSpPr txBox="1"/>
              <p:nvPr/>
            </p:nvSpPr>
            <p:spPr>
              <a:xfrm>
                <a:off x="0" y="-9525"/>
                <a:ext cx="1841500" cy="1152525"/>
              </a:xfrm>
              <a:prstGeom prst="rect">
                <a:avLst/>
              </a:prstGeom>
            </p:spPr>
            <p:txBody>
              <a:bodyPr lIns="50800" tIns="50800" rIns="50800" bIns="50800" rtlCol="0" anchor="ctr"/>
              <a:lstStyle/>
              <a:p>
                <a:pPr algn="ctr">
                  <a:lnSpc>
                    <a:spcPts val="2070"/>
                  </a:lnSpc>
                </a:pPr>
                <a:r>
                  <a:rPr lang="en-US" sz="1800" b="1">
                    <a:solidFill>
                      <a:srgbClr val="102A3A"/>
                    </a:solidFill>
                    <a:latin typeface="Poppins Bold"/>
                    <a:ea typeface="Poppins Bold"/>
                    <a:cs typeface="Poppins Bold"/>
                    <a:sym typeface="Poppins Bold"/>
                  </a:rPr>
                  <a:t>2</a:t>
                </a:r>
              </a:p>
            </p:txBody>
          </p:sp>
        </p:grpSp>
        <p:sp>
          <p:nvSpPr>
            <p:cNvPr id="13" name="TextBox 13"/>
            <p:cNvSpPr txBox="1"/>
            <p:nvPr/>
          </p:nvSpPr>
          <p:spPr>
            <a:xfrm>
              <a:off x="2667000" y="279400"/>
              <a:ext cx="16256000" cy="452120"/>
            </a:xfrm>
            <a:prstGeom prst="rect">
              <a:avLst/>
            </a:prstGeom>
          </p:spPr>
          <p:txBody>
            <a:bodyPr lIns="0" tIns="0" rIns="0" bIns="0" rtlCol="0" anchor="t">
              <a:spAutoFit/>
            </a:bodyPr>
            <a:lstStyle/>
            <a:p>
              <a:pPr algn="l">
                <a:lnSpc>
                  <a:spcPts val="2430"/>
                </a:lnSpc>
              </a:pPr>
              <a:r>
                <a:rPr lang="en-US" sz="2250" b="1">
                  <a:solidFill>
                    <a:srgbClr val="102A3A"/>
                  </a:solidFill>
                  <a:latin typeface="Poppins Bold"/>
                  <a:ea typeface="Poppins Bold"/>
                  <a:cs typeface="Poppins Bold"/>
                  <a:sym typeface="Poppins Bold"/>
                </a:rPr>
                <a:t>Simplify access to records and prescriptions</a:t>
              </a:r>
            </a:p>
          </p:txBody>
        </p:sp>
      </p:grpSp>
      <p:grpSp>
        <p:nvGrpSpPr>
          <p:cNvPr id="14" name="Group 14"/>
          <p:cNvGrpSpPr/>
          <p:nvPr/>
        </p:nvGrpSpPr>
        <p:grpSpPr>
          <a:xfrm>
            <a:off x="952500" y="5095875"/>
            <a:ext cx="14192250" cy="857250"/>
            <a:chOff x="0" y="0"/>
            <a:chExt cx="18923000" cy="1143000"/>
          </a:xfrm>
        </p:grpSpPr>
        <p:grpSp>
          <p:nvGrpSpPr>
            <p:cNvPr id="15" name="Group 15"/>
            <p:cNvGrpSpPr/>
            <p:nvPr/>
          </p:nvGrpSpPr>
          <p:grpSpPr>
            <a:xfrm>
              <a:off x="0" y="0"/>
              <a:ext cx="1841500" cy="1143000"/>
              <a:chOff x="0" y="0"/>
              <a:chExt cx="1841500" cy="1143000"/>
            </a:xfrm>
          </p:grpSpPr>
          <p:sp>
            <p:nvSpPr>
              <p:cNvPr id="16" name="Freeform 16"/>
              <p:cNvSpPr/>
              <p:nvPr/>
            </p:nvSpPr>
            <p:spPr>
              <a:xfrm>
                <a:off x="0" y="0"/>
                <a:ext cx="1841500" cy="1143000"/>
              </a:xfrm>
              <a:custGeom>
                <a:avLst/>
                <a:gdLst/>
                <a:ahLst/>
                <a:cxnLst/>
                <a:rect l="l" t="t" r="r" b="b"/>
                <a:pathLst>
                  <a:path w="1841500" h="1143000">
                    <a:moveTo>
                      <a:pt x="157655" y="0"/>
                    </a:moveTo>
                    <a:lnTo>
                      <a:pt x="1683845" y="0"/>
                    </a:lnTo>
                    <a:cubicBezTo>
                      <a:pt x="1725658" y="0"/>
                      <a:pt x="1765758" y="16610"/>
                      <a:pt x="1795324" y="46176"/>
                    </a:cubicBezTo>
                    <a:cubicBezTo>
                      <a:pt x="1824890" y="75742"/>
                      <a:pt x="1841500" y="115842"/>
                      <a:pt x="1841500" y="157655"/>
                    </a:cubicBezTo>
                    <a:lnTo>
                      <a:pt x="1841500" y="985345"/>
                    </a:lnTo>
                    <a:cubicBezTo>
                      <a:pt x="1841500" y="1027158"/>
                      <a:pt x="1824890" y="1067258"/>
                      <a:pt x="1795324" y="1096824"/>
                    </a:cubicBezTo>
                    <a:cubicBezTo>
                      <a:pt x="1765758" y="1126390"/>
                      <a:pt x="1725658" y="1143000"/>
                      <a:pt x="1683845" y="1143000"/>
                    </a:cubicBezTo>
                    <a:lnTo>
                      <a:pt x="157655" y="1143000"/>
                    </a:lnTo>
                    <a:cubicBezTo>
                      <a:pt x="115842" y="1143000"/>
                      <a:pt x="75742" y="1126390"/>
                      <a:pt x="46176" y="1096824"/>
                    </a:cubicBezTo>
                    <a:cubicBezTo>
                      <a:pt x="16610" y="1067258"/>
                      <a:pt x="0" y="1027158"/>
                      <a:pt x="0" y="985345"/>
                    </a:cubicBezTo>
                    <a:lnTo>
                      <a:pt x="0" y="157655"/>
                    </a:lnTo>
                    <a:cubicBezTo>
                      <a:pt x="0" y="115842"/>
                      <a:pt x="16610" y="75742"/>
                      <a:pt x="46176" y="46176"/>
                    </a:cubicBezTo>
                    <a:cubicBezTo>
                      <a:pt x="75742" y="16610"/>
                      <a:pt x="115842" y="0"/>
                      <a:pt x="157655" y="0"/>
                    </a:cubicBezTo>
                    <a:close/>
                  </a:path>
                </a:pathLst>
              </a:custGeom>
              <a:solidFill>
                <a:srgbClr val="D9F2EF"/>
              </a:solidFill>
              <a:ln w="19050" cap="sq">
                <a:solidFill>
                  <a:srgbClr val="0AA6A6"/>
                </a:solidFill>
                <a:prstDash val="solid"/>
                <a:miter/>
              </a:ln>
            </p:spPr>
          </p:sp>
          <p:sp>
            <p:nvSpPr>
              <p:cNvPr id="17" name="TextBox 17"/>
              <p:cNvSpPr txBox="1"/>
              <p:nvPr/>
            </p:nvSpPr>
            <p:spPr>
              <a:xfrm>
                <a:off x="0" y="-9525"/>
                <a:ext cx="1841500" cy="1152525"/>
              </a:xfrm>
              <a:prstGeom prst="rect">
                <a:avLst/>
              </a:prstGeom>
            </p:spPr>
            <p:txBody>
              <a:bodyPr lIns="50800" tIns="50800" rIns="50800" bIns="50800" rtlCol="0" anchor="ctr"/>
              <a:lstStyle/>
              <a:p>
                <a:pPr algn="ctr">
                  <a:lnSpc>
                    <a:spcPts val="2070"/>
                  </a:lnSpc>
                </a:pPr>
                <a:r>
                  <a:rPr lang="en-US" sz="1800" b="1">
                    <a:solidFill>
                      <a:srgbClr val="102A3A"/>
                    </a:solidFill>
                    <a:latin typeface="Poppins Bold"/>
                    <a:ea typeface="Poppins Bold"/>
                    <a:cs typeface="Poppins Bold"/>
                    <a:sym typeface="Poppins Bold"/>
                  </a:rPr>
                  <a:t>3</a:t>
                </a:r>
              </a:p>
            </p:txBody>
          </p:sp>
        </p:grpSp>
        <p:sp>
          <p:nvSpPr>
            <p:cNvPr id="18" name="TextBox 18"/>
            <p:cNvSpPr txBox="1"/>
            <p:nvPr/>
          </p:nvSpPr>
          <p:spPr>
            <a:xfrm>
              <a:off x="2667000" y="279400"/>
              <a:ext cx="16256000" cy="452120"/>
            </a:xfrm>
            <a:prstGeom prst="rect">
              <a:avLst/>
            </a:prstGeom>
          </p:spPr>
          <p:txBody>
            <a:bodyPr lIns="0" tIns="0" rIns="0" bIns="0" rtlCol="0" anchor="t">
              <a:spAutoFit/>
            </a:bodyPr>
            <a:lstStyle/>
            <a:p>
              <a:pPr algn="l">
                <a:lnSpc>
                  <a:spcPts val="2430"/>
                </a:lnSpc>
              </a:pPr>
              <a:r>
                <a:rPr lang="en-US" sz="2250" b="1">
                  <a:solidFill>
                    <a:srgbClr val="102A3A"/>
                  </a:solidFill>
                  <a:latin typeface="Poppins Bold"/>
                  <a:ea typeface="Poppins Bold"/>
                  <a:cs typeface="Poppins Bold"/>
                  <a:sym typeface="Poppins Bold"/>
                </a:rPr>
                <a:t>Provide personalized healthcare reminders</a:t>
              </a:r>
            </a:p>
          </p:txBody>
        </p:sp>
      </p:grpSp>
      <p:grpSp>
        <p:nvGrpSpPr>
          <p:cNvPr id="19" name="Group 19"/>
          <p:cNvGrpSpPr/>
          <p:nvPr/>
        </p:nvGrpSpPr>
        <p:grpSpPr>
          <a:xfrm>
            <a:off x="952500" y="6334125"/>
            <a:ext cx="14192250" cy="857250"/>
            <a:chOff x="0" y="0"/>
            <a:chExt cx="18923000" cy="1143000"/>
          </a:xfrm>
        </p:grpSpPr>
        <p:grpSp>
          <p:nvGrpSpPr>
            <p:cNvPr id="20" name="Group 20"/>
            <p:cNvGrpSpPr/>
            <p:nvPr/>
          </p:nvGrpSpPr>
          <p:grpSpPr>
            <a:xfrm>
              <a:off x="0" y="0"/>
              <a:ext cx="1841500" cy="1143000"/>
              <a:chOff x="0" y="0"/>
              <a:chExt cx="1841500" cy="1143000"/>
            </a:xfrm>
          </p:grpSpPr>
          <p:sp>
            <p:nvSpPr>
              <p:cNvPr id="21" name="Freeform 21"/>
              <p:cNvSpPr/>
              <p:nvPr/>
            </p:nvSpPr>
            <p:spPr>
              <a:xfrm>
                <a:off x="0" y="0"/>
                <a:ext cx="1841500" cy="1143000"/>
              </a:xfrm>
              <a:custGeom>
                <a:avLst/>
                <a:gdLst/>
                <a:ahLst/>
                <a:cxnLst/>
                <a:rect l="l" t="t" r="r" b="b"/>
                <a:pathLst>
                  <a:path w="1841500" h="1143000">
                    <a:moveTo>
                      <a:pt x="157655" y="0"/>
                    </a:moveTo>
                    <a:lnTo>
                      <a:pt x="1683845" y="0"/>
                    </a:lnTo>
                    <a:cubicBezTo>
                      <a:pt x="1725658" y="0"/>
                      <a:pt x="1765758" y="16610"/>
                      <a:pt x="1795324" y="46176"/>
                    </a:cubicBezTo>
                    <a:cubicBezTo>
                      <a:pt x="1824890" y="75742"/>
                      <a:pt x="1841500" y="115842"/>
                      <a:pt x="1841500" y="157655"/>
                    </a:cubicBezTo>
                    <a:lnTo>
                      <a:pt x="1841500" y="985345"/>
                    </a:lnTo>
                    <a:cubicBezTo>
                      <a:pt x="1841500" y="1027158"/>
                      <a:pt x="1824890" y="1067258"/>
                      <a:pt x="1795324" y="1096824"/>
                    </a:cubicBezTo>
                    <a:cubicBezTo>
                      <a:pt x="1765758" y="1126390"/>
                      <a:pt x="1725658" y="1143000"/>
                      <a:pt x="1683845" y="1143000"/>
                    </a:cubicBezTo>
                    <a:lnTo>
                      <a:pt x="157655" y="1143000"/>
                    </a:lnTo>
                    <a:cubicBezTo>
                      <a:pt x="115842" y="1143000"/>
                      <a:pt x="75742" y="1126390"/>
                      <a:pt x="46176" y="1096824"/>
                    </a:cubicBezTo>
                    <a:cubicBezTo>
                      <a:pt x="16610" y="1067258"/>
                      <a:pt x="0" y="1027158"/>
                      <a:pt x="0" y="985345"/>
                    </a:cubicBezTo>
                    <a:lnTo>
                      <a:pt x="0" y="157655"/>
                    </a:lnTo>
                    <a:cubicBezTo>
                      <a:pt x="0" y="115842"/>
                      <a:pt x="16610" y="75742"/>
                      <a:pt x="46176" y="46176"/>
                    </a:cubicBezTo>
                    <a:cubicBezTo>
                      <a:pt x="75742" y="16610"/>
                      <a:pt x="115842" y="0"/>
                      <a:pt x="157655" y="0"/>
                    </a:cubicBezTo>
                    <a:close/>
                  </a:path>
                </a:pathLst>
              </a:custGeom>
              <a:solidFill>
                <a:srgbClr val="D9F2EF"/>
              </a:solidFill>
              <a:ln w="19050" cap="sq">
                <a:solidFill>
                  <a:srgbClr val="0AA6A6"/>
                </a:solidFill>
                <a:prstDash val="solid"/>
                <a:miter/>
              </a:ln>
            </p:spPr>
          </p:sp>
          <p:sp>
            <p:nvSpPr>
              <p:cNvPr id="22" name="TextBox 22"/>
              <p:cNvSpPr txBox="1"/>
              <p:nvPr/>
            </p:nvSpPr>
            <p:spPr>
              <a:xfrm>
                <a:off x="0" y="-9525"/>
                <a:ext cx="1841500" cy="1152525"/>
              </a:xfrm>
              <a:prstGeom prst="rect">
                <a:avLst/>
              </a:prstGeom>
            </p:spPr>
            <p:txBody>
              <a:bodyPr lIns="50800" tIns="50800" rIns="50800" bIns="50800" rtlCol="0" anchor="ctr"/>
              <a:lstStyle/>
              <a:p>
                <a:pPr algn="ctr">
                  <a:lnSpc>
                    <a:spcPts val="2070"/>
                  </a:lnSpc>
                </a:pPr>
                <a:r>
                  <a:rPr lang="en-US" sz="1800" b="1">
                    <a:solidFill>
                      <a:srgbClr val="102A3A"/>
                    </a:solidFill>
                    <a:latin typeface="Poppins Bold"/>
                    <a:ea typeface="Poppins Bold"/>
                    <a:cs typeface="Poppins Bold"/>
                    <a:sym typeface="Poppins Bold"/>
                  </a:rPr>
                  <a:t>4</a:t>
                </a:r>
              </a:p>
            </p:txBody>
          </p:sp>
        </p:grpSp>
        <p:sp>
          <p:nvSpPr>
            <p:cNvPr id="23" name="TextBox 23"/>
            <p:cNvSpPr txBox="1"/>
            <p:nvPr/>
          </p:nvSpPr>
          <p:spPr>
            <a:xfrm>
              <a:off x="2667000" y="279400"/>
              <a:ext cx="16256000" cy="452120"/>
            </a:xfrm>
            <a:prstGeom prst="rect">
              <a:avLst/>
            </a:prstGeom>
          </p:spPr>
          <p:txBody>
            <a:bodyPr lIns="0" tIns="0" rIns="0" bIns="0" rtlCol="0" anchor="t">
              <a:spAutoFit/>
            </a:bodyPr>
            <a:lstStyle/>
            <a:p>
              <a:pPr algn="l">
                <a:lnSpc>
                  <a:spcPts val="2430"/>
                </a:lnSpc>
              </a:pPr>
              <a:r>
                <a:rPr lang="en-US" sz="2250" b="1">
                  <a:solidFill>
                    <a:srgbClr val="102A3A"/>
                  </a:solidFill>
                  <a:latin typeface="Poppins Bold"/>
                  <a:ea typeface="Poppins Bold"/>
                  <a:cs typeface="Poppins Bold"/>
                  <a:sym typeface="Poppins Bold"/>
                </a:rPr>
                <a:t>Improve retrieval and management</a:t>
              </a:r>
            </a:p>
          </p:txBody>
        </p:sp>
      </p:grpSp>
      <p:grpSp>
        <p:nvGrpSpPr>
          <p:cNvPr id="24" name="Group 24"/>
          <p:cNvGrpSpPr/>
          <p:nvPr/>
        </p:nvGrpSpPr>
        <p:grpSpPr>
          <a:xfrm>
            <a:off x="952500" y="7572375"/>
            <a:ext cx="14192250" cy="857250"/>
            <a:chOff x="0" y="0"/>
            <a:chExt cx="18923000" cy="1143000"/>
          </a:xfrm>
        </p:grpSpPr>
        <p:grpSp>
          <p:nvGrpSpPr>
            <p:cNvPr id="25" name="Group 25"/>
            <p:cNvGrpSpPr/>
            <p:nvPr/>
          </p:nvGrpSpPr>
          <p:grpSpPr>
            <a:xfrm>
              <a:off x="0" y="0"/>
              <a:ext cx="1841500" cy="1143000"/>
              <a:chOff x="0" y="0"/>
              <a:chExt cx="1841500" cy="1143000"/>
            </a:xfrm>
          </p:grpSpPr>
          <p:sp>
            <p:nvSpPr>
              <p:cNvPr id="26" name="Freeform 26"/>
              <p:cNvSpPr/>
              <p:nvPr/>
            </p:nvSpPr>
            <p:spPr>
              <a:xfrm>
                <a:off x="0" y="0"/>
                <a:ext cx="1841500" cy="1143000"/>
              </a:xfrm>
              <a:custGeom>
                <a:avLst/>
                <a:gdLst/>
                <a:ahLst/>
                <a:cxnLst/>
                <a:rect l="l" t="t" r="r" b="b"/>
                <a:pathLst>
                  <a:path w="1841500" h="1143000">
                    <a:moveTo>
                      <a:pt x="157655" y="0"/>
                    </a:moveTo>
                    <a:lnTo>
                      <a:pt x="1683845" y="0"/>
                    </a:lnTo>
                    <a:cubicBezTo>
                      <a:pt x="1725658" y="0"/>
                      <a:pt x="1765758" y="16610"/>
                      <a:pt x="1795324" y="46176"/>
                    </a:cubicBezTo>
                    <a:cubicBezTo>
                      <a:pt x="1824890" y="75742"/>
                      <a:pt x="1841500" y="115842"/>
                      <a:pt x="1841500" y="157655"/>
                    </a:cubicBezTo>
                    <a:lnTo>
                      <a:pt x="1841500" y="985345"/>
                    </a:lnTo>
                    <a:cubicBezTo>
                      <a:pt x="1841500" y="1027158"/>
                      <a:pt x="1824890" y="1067258"/>
                      <a:pt x="1795324" y="1096824"/>
                    </a:cubicBezTo>
                    <a:cubicBezTo>
                      <a:pt x="1765758" y="1126390"/>
                      <a:pt x="1725658" y="1143000"/>
                      <a:pt x="1683845" y="1143000"/>
                    </a:cubicBezTo>
                    <a:lnTo>
                      <a:pt x="157655" y="1143000"/>
                    </a:lnTo>
                    <a:cubicBezTo>
                      <a:pt x="115842" y="1143000"/>
                      <a:pt x="75742" y="1126390"/>
                      <a:pt x="46176" y="1096824"/>
                    </a:cubicBezTo>
                    <a:cubicBezTo>
                      <a:pt x="16610" y="1067258"/>
                      <a:pt x="0" y="1027158"/>
                      <a:pt x="0" y="985345"/>
                    </a:cubicBezTo>
                    <a:lnTo>
                      <a:pt x="0" y="157655"/>
                    </a:lnTo>
                    <a:cubicBezTo>
                      <a:pt x="0" y="115842"/>
                      <a:pt x="16610" y="75742"/>
                      <a:pt x="46176" y="46176"/>
                    </a:cubicBezTo>
                    <a:cubicBezTo>
                      <a:pt x="75742" y="16610"/>
                      <a:pt x="115842" y="0"/>
                      <a:pt x="157655" y="0"/>
                    </a:cubicBezTo>
                    <a:close/>
                  </a:path>
                </a:pathLst>
              </a:custGeom>
              <a:solidFill>
                <a:srgbClr val="D9F2EF"/>
              </a:solidFill>
              <a:ln w="19050" cap="sq">
                <a:solidFill>
                  <a:srgbClr val="0AA6A6"/>
                </a:solidFill>
                <a:prstDash val="solid"/>
                <a:miter/>
              </a:ln>
            </p:spPr>
          </p:sp>
          <p:sp>
            <p:nvSpPr>
              <p:cNvPr id="27" name="TextBox 27"/>
              <p:cNvSpPr txBox="1"/>
              <p:nvPr/>
            </p:nvSpPr>
            <p:spPr>
              <a:xfrm>
                <a:off x="0" y="-9525"/>
                <a:ext cx="1841500" cy="1152525"/>
              </a:xfrm>
              <a:prstGeom prst="rect">
                <a:avLst/>
              </a:prstGeom>
            </p:spPr>
            <p:txBody>
              <a:bodyPr lIns="50800" tIns="50800" rIns="50800" bIns="50800" rtlCol="0" anchor="ctr"/>
              <a:lstStyle/>
              <a:p>
                <a:pPr algn="ctr">
                  <a:lnSpc>
                    <a:spcPts val="2070"/>
                  </a:lnSpc>
                </a:pPr>
                <a:r>
                  <a:rPr lang="en-US" sz="1800" b="1">
                    <a:solidFill>
                      <a:srgbClr val="071B2B"/>
                    </a:solidFill>
                    <a:latin typeface="Poppins Bold"/>
                    <a:ea typeface="Poppins Bold"/>
                    <a:cs typeface="Poppins Bold"/>
                    <a:sym typeface="Poppins Bold"/>
                  </a:rPr>
                  <a:t>5</a:t>
                </a:r>
              </a:p>
            </p:txBody>
          </p:sp>
        </p:grpSp>
        <p:sp>
          <p:nvSpPr>
            <p:cNvPr id="28" name="TextBox 28"/>
            <p:cNvSpPr txBox="1"/>
            <p:nvPr/>
          </p:nvSpPr>
          <p:spPr>
            <a:xfrm>
              <a:off x="2667000" y="279400"/>
              <a:ext cx="16256000" cy="452120"/>
            </a:xfrm>
            <a:prstGeom prst="rect">
              <a:avLst/>
            </a:prstGeom>
          </p:spPr>
          <p:txBody>
            <a:bodyPr lIns="0" tIns="0" rIns="0" bIns="0" rtlCol="0" anchor="t">
              <a:spAutoFit/>
            </a:bodyPr>
            <a:lstStyle/>
            <a:p>
              <a:pPr algn="l">
                <a:lnSpc>
                  <a:spcPts val="2430"/>
                </a:lnSpc>
              </a:pPr>
              <a:r>
                <a:rPr lang="en-US" sz="2250" b="1">
                  <a:solidFill>
                    <a:srgbClr val="102A3A"/>
                  </a:solidFill>
                  <a:latin typeface="Poppins Bold"/>
                  <a:ea typeface="Poppins Bold"/>
                  <a:cs typeface="Poppins Bold"/>
                  <a:sym typeface="Poppins Bold"/>
                </a:rPr>
                <a:t>Deliver a user-friendly mobile experience</a:t>
              </a:r>
            </a:p>
          </p:txBody>
        </p:sp>
      </p:grpSp>
      <p:sp>
        <p:nvSpPr>
          <p:cNvPr id="29" name="AutoShape 29"/>
          <p:cNvSpPr/>
          <p:nvPr/>
        </p:nvSpPr>
        <p:spPr>
          <a:xfrm>
            <a:off x="952500" y="9572625"/>
            <a:ext cx="16383000" cy="0"/>
          </a:xfrm>
          <a:prstGeom prst="line">
            <a:avLst/>
          </a:prstGeom>
          <a:ln w="9525" cap="flat">
            <a:solidFill>
              <a:srgbClr val="B9D2D4"/>
            </a:solidFill>
            <a:prstDash val="solid"/>
            <a:headEnd type="none" w="sm" len="sm"/>
            <a:tailEnd type="none" w="sm" len="sm"/>
          </a:ln>
        </p:spPr>
      </p:sp>
      <p:sp>
        <p:nvSpPr>
          <p:cNvPr id="30" name="TextBox 30"/>
          <p:cNvSpPr txBox="1"/>
          <p:nvPr/>
        </p:nvSpPr>
        <p:spPr>
          <a:xfrm>
            <a:off x="952500" y="9753600"/>
            <a:ext cx="6667500" cy="232410"/>
          </a:xfrm>
          <a:prstGeom prst="rect">
            <a:avLst/>
          </a:prstGeom>
        </p:spPr>
        <p:txBody>
          <a:bodyPr lIns="0" tIns="0" rIns="0" bIns="0" rtlCol="0" anchor="t">
            <a:spAutoFit/>
          </a:bodyPr>
          <a:lstStyle/>
          <a:p>
            <a:pPr algn="l">
              <a:lnSpc>
                <a:spcPts val="1889"/>
              </a:lnSpc>
            </a:pPr>
            <a:r>
              <a:rPr lang="en-US" sz="1350" b="1" spc="108">
                <a:solidFill>
                  <a:srgbClr val="56707C"/>
                </a:solidFill>
                <a:latin typeface="Open Sans Bold"/>
                <a:ea typeface="Open Sans Bold"/>
                <a:cs typeface="Open Sans Bold"/>
                <a:sym typeface="Open Sans Bold"/>
              </a:rPr>
              <a:t>MEDISYNC • MCA PROJECT</a:t>
            </a:r>
          </a:p>
        </p:txBody>
      </p:sp>
      <p:sp>
        <p:nvSpPr>
          <p:cNvPr id="31" name="TextBox 31"/>
          <p:cNvSpPr txBox="1"/>
          <p:nvPr/>
        </p:nvSpPr>
        <p:spPr>
          <a:xfrm>
            <a:off x="15811500" y="9753600"/>
            <a:ext cx="1524000" cy="232410"/>
          </a:xfrm>
          <a:prstGeom prst="rect">
            <a:avLst/>
          </a:prstGeom>
        </p:spPr>
        <p:txBody>
          <a:bodyPr lIns="0" tIns="0" rIns="0" bIns="0" rtlCol="0" anchor="t">
            <a:spAutoFit/>
          </a:bodyPr>
          <a:lstStyle/>
          <a:p>
            <a:pPr algn="r">
              <a:lnSpc>
                <a:spcPts val="1889"/>
              </a:lnSpc>
            </a:pPr>
            <a:r>
              <a:rPr lang="en-US" sz="1350" b="1">
                <a:solidFill>
                  <a:srgbClr val="56707C"/>
                </a:solidFill>
                <a:latin typeface="Open Sans Bold"/>
                <a:ea typeface="Open Sans Bold"/>
                <a:cs typeface="Open Sans Bold"/>
                <a:sym typeface="Open Sans Bold"/>
              </a:rPr>
              <a:t>04 / 18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8F8"/>
        </a:solidFill>
        <a:effectLst/>
      </p:bgPr>
    </p:bg>
    <p:spTree>
      <p:nvGrpSpPr>
        <p:cNvPr id="1" name=""/>
        <p:cNvGrpSpPr/>
        <p:nvPr/>
      </p:nvGrpSpPr>
      <p:grpSpPr>
        <a:xfrm>
          <a:off x="0" y="0"/>
          <a:ext cx="0" cy="0"/>
          <a:chOff x="0" y="0"/>
          <a:chExt cx="0" cy="0"/>
        </a:xfrm>
      </p:grpSpPr>
      <p:sp>
        <p:nvSpPr>
          <p:cNvPr id="2" name="TextBox 2"/>
          <p:cNvSpPr txBox="1"/>
          <p:nvPr/>
        </p:nvSpPr>
        <p:spPr>
          <a:xfrm>
            <a:off x="876300" y="1038225"/>
            <a:ext cx="14287500" cy="720852"/>
          </a:xfrm>
          <a:prstGeom prst="rect">
            <a:avLst/>
          </a:prstGeom>
        </p:spPr>
        <p:txBody>
          <a:bodyPr lIns="0" tIns="0" rIns="0" bIns="0" rtlCol="0" anchor="t">
            <a:spAutoFit/>
          </a:bodyPr>
          <a:lstStyle/>
          <a:p>
            <a:pPr algn="l">
              <a:lnSpc>
                <a:spcPts val="5184"/>
              </a:lnSpc>
            </a:pPr>
            <a:r>
              <a:rPr lang="en-US" sz="4800" b="1">
                <a:solidFill>
                  <a:srgbClr val="102A3A"/>
                </a:solidFill>
                <a:latin typeface="Poppins Bold"/>
                <a:ea typeface="Poppins Bold"/>
                <a:cs typeface="Poppins Bold"/>
                <a:sym typeface="Poppins Bold"/>
              </a:rPr>
              <a:t>From paper trails to structured access</a:t>
            </a:r>
          </a:p>
        </p:txBody>
      </p:sp>
      <p:sp>
        <p:nvSpPr>
          <p:cNvPr id="3" name="TextBox 3"/>
          <p:cNvSpPr txBox="1"/>
          <p:nvPr/>
        </p:nvSpPr>
        <p:spPr>
          <a:xfrm>
            <a:off x="876300" y="1752600"/>
            <a:ext cx="13811250" cy="334328"/>
          </a:xfrm>
          <a:prstGeom prst="rect">
            <a:avLst/>
          </a:prstGeom>
        </p:spPr>
        <p:txBody>
          <a:bodyPr lIns="0" tIns="0" rIns="0" bIns="0" rtlCol="0" anchor="t">
            <a:spAutoFit/>
          </a:bodyPr>
          <a:lstStyle/>
          <a:p>
            <a:pPr algn="l">
              <a:lnSpc>
                <a:spcPts val="2632"/>
              </a:lnSpc>
            </a:pPr>
            <a:r>
              <a:rPr lang="en-US" sz="1950">
                <a:solidFill>
                  <a:srgbClr val="56707C"/>
                </a:solidFill>
                <a:latin typeface="Open Sans"/>
                <a:ea typeface="Open Sans"/>
                <a:cs typeface="Open Sans"/>
                <a:sym typeface="Open Sans"/>
              </a:rPr>
              <a:t>Traditional handling introduces gaps that a centralized mobile workflow can reduce.</a:t>
            </a:r>
          </a:p>
        </p:txBody>
      </p:sp>
      <p:grpSp>
        <p:nvGrpSpPr>
          <p:cNvPr id="4" name="Group 4"/>
          <p:cNvGrpSpPr/>
          <p:nvPr/>
        </p:nvGrpSpPr>
        <p:grpSpPr>
          <a:xfrm>
            <a:off x="876300" y="2952750"/>
            <a:ext cx="7429500" cy="5715000"/>
            <a:chOff x="0" y="0"/>
            <a:chExt cx="9906000" cy="7620000"/>
          </a:xfrm>
        </p:grpSpPr>
        <p:grpSp>
          <p:nvGrpSpPr>
            <p:cNvPr id="5" name="Group 5"/>
            <p:cNvGrpSpPr/>
            <p:nvPr/>
          </p:nvGrpSpPr>
          <p:grpSpPr>
            <a:xfrm>
              <a:off x="0" y="0"/>
              <a:ext cx="9906000" cy="7620000"/>
              <a:chOff x="0" y="0"/>
              <a:chExt cx="9906000" cy="7620000"/>
            </a:xfrm>
          </p:grpSpPr>
          <p:sp>
            <p:nvSpPr>
              <p:cNvPr id="6" name="Freeform 6"/>
              <p:cNvSpPr/>
              <p:nvPr/>
            </p:nvSpPr>
            <p:spPr>
              <a:xfrm>
                <a:off x="0" y="0"/>
                <a:ext cx="9906000" cy="7620000"/>
              </a:xfrm>
              <a:custGeom>
                <a:avLst/>
                <a:gdLst/>
                <a:ahLst/>
                <a:cxnLst/>
                <a:rect l="l" t="t" r="r" b="b"/>
                <a:pathLst>
                  <a:path w="9906000" h="7620000">
                    <a:moveTo>
                      <a:pt x="0" y="0"/>
                    </a:moveTo>
                    <a:lnTo>
                      <a:pt x="9906000" y="0"/>
                    </a:lnTo>
                    <a:lnTo>
                      <a:pt x="9906000" y="7620000"/>
                    </a:lnTo>
                    <a:lnTo>
                      <a:pt x="0" y="7620000"/>
                    </a:lnTo>
                    <a:close/>
                  </a:path>
                </a:pathLst>
              </a:custGeom>
              <a:solidFill>
                <a:srgbClr val="FFFFFF"/>
              </a:solidFill>
              <a:ln w="19050" cap="sq">
                <a:solidFill>
                  <a:srgbClr val="B9D2D4"/>
                </a:solidFill>
                <a:prstDash val="solid"/>
                <a:miter/>
              </a:ln>
            </p:spPr>
          </p:sp>
          <p:sp>
            <p:nvSpPr>
              <p:cNvPr id="7" name="TextBox 7"/>
              <p:cNvSpPr txBox="1"/>
              <p:nvPr/>
            </p:nvSpPr>
            <p:spPr>
              <a:xfrm>
                <a:off x="0" y="-38100"/>
                <a:ext cx="9906000" cy="7658100"/>
              </a:xfrm>
              <a:prstGeom prst="rect">
                <a:avLst/>
              </a:prstGeom>
            </p:spPr>
            <p:txBody>
              <a:bodyPr lIns="50800" tIns="50800" rIns="50800" bIns="50800" rtlCol="0" anchor="ctr"/>
              <a:lstStyle/>
              <a:p>
                <a:pPr algn="l">
                  <a:lnSpc>
                    <a:spcPts val="1679"/>
                  </a:lnSpc>
                </a:pPr>
                <a:endParaRPr/>
              </a:p>
            </p:txBody>
          </p:sp>
        </p:grpSp>
        <p:sp>
          <p:nvSpPr>
            <p:cNvPr id="8" name="TextBox 8"/>
            <p:cNvSpPr txBox="1"/>
            <p:nvPr/>
          </p:nvSpPr>
          <p:spPr>
            <a:xfrm>
              <a:off x="508000" y="314325"/>
              <a:ext cx="8255000" cy="523875"/>
            </a:xfrm>
            <a:prstGeom prst="rect">
              <a:avLst/>
            </a:prstGeom>
          </p:spPr>
          <p:txBody>
            <a:bodyPr lIns="0" tIns="0" rIns="0" bIns="0" rtlCol="0" anchor="t">
              <a:spAutoFit/>
            </a:bodyPr>
            <a:lstStyle/>
            <a:p>
              <a:pPr algn="l">
                <a:lnSpc>
                  <a:spcPts val="3149"/>
                </a:lnSpc>
              </a:pPr>
              <a:r>
                <a:rPr lang="en-US" sz="2250" b="1" spc="112">
                  <a:solidFill>
                    <a:srgbClr val="0AA6A6"/>
                  </a:solidFill>
                  <a:latin typeface="Poppins Bold"/>
                  <a:ea typeface="Poppins Bold"/>
                  <a:cs typeface="Poppins Bold"/>
                  <a:sym typeface="Poppins Bold"/>
                </a:rPr>
                <a:t>TRADITIONAL</a:t>
              </a:r>
            </a:p>
          </p:txBody>
        </p:sp>
        <p:sp>
          <p:nvSpPr>
            <p:cNvPr id="9" name="TextBox 9"/>
            <p:cNvSpPr txBox="1"/>
            <p:nvPr/>
          </p:nvSpPr>
          <p:spPr>
            <a:xfrm>
              <a:off x="508000" y="1206500"/>
              <a:ext cx="8255000" cy="790448"/>
            </a:xfrm>
            <a:prstGeom prst="rect">
              <a:avLst/>
            </a:prstGeom>
          </p:spPr>
          <p:txBody>
            <a:bodyPr lIns="0" tIns="0" rIns="0" bIns="0" rtlCol="0" anchor="t">
              <a:spAutoFit/>
            </a:bodyPr>
            <a:lstStyle/>
            <a:p>
              <a:pPr algn="l">
                <a:lnSpc>
                  <a:spcPts val="4212"/>
                </a:lnSpc>
              </a:pPr>
              <a:r>
                <a:rPr lang="en-US" sz="3900" b="1">
                  <a:solidFill>
                    <a:srgbClr val="102A3A"/>
                  </a:solidFill>
                  <a:latin typeface="Poppins Bold"/>
                  <a:ea typeface="Poppins Bold"/>
                  <a:cs typeface="Poppins Bold"/>
                  <a:sym typeface="Poppins Bold"/>
                </a:rPr>
                <a:t>Dispersed &amp; manual</a:t>
              </a:r>
            </a:p>
          </p:txBody>
        </p:sp>
        <p:sp>
          <p:nvSpPr>
            <p:cNvPr id="10" name="TextBox 10"/>
            <p:cNvSpPr txBox="1"/>
            <p:nvPr/>
          </p:nvSpPr>
          <p:spPr>
            <a:xfrm>
              <a:off x="508000" y="2638425"/>
              <a:ext cx="8255000" cy="2449830"/>
            </a:xfrm>
            <a:prstGeom prst="rect">
              <a:avLst/>
            </a:prstGeom>
          </p:spPr>
          <p:txBody>
            <a:bodyPr lIns="0" tIns="0" rIns="0" bIns="0" rtlCol="0" anchor="t">
              <a:spAutoFit/>
            </a:bodyPr>
            <a:lstStyle/>
            <a:p>
              <a:pPr algn="l">
                <a:lnSpc>
                  <a:spcPts val="2936"/>
                </a:lnSpc>
              </a:pPr>
              <a:r>
                <a:rPr lang="en-US" sz="2175">
                  <a:solidFill>
                    <a:srgbClr val="56707C"/>
                  </a:solidFill>
                  <a:latin typeface="Open Sans"/>
                  <a:ea typeface="Open Sans"/>
                  <a:cs typeface="Open Sans"/>
                  <a:sym typeface="Open Sans"/>
                </a:rPr>
                <a:t>Paper documents</a:t>
              </a:r>
            </a:p>
            <a:p>
              <a:pPr algn="l">
                <a:lnSpc>
                  <a:spcPts val="2936"/>
                </a:lnSpc>
              </a:pPr>
              <a:r>
                <a:rPr lang="en-US" sz="2175">
                  <a:solidFill>
                    <a:srgbClr val="56707C"/>
                  </a:solidFill>
                  <a:latin typeface="Open Sans"/>
                  <a:ea typeface="Open Sans"/>
                  <a:cs typeface="Open Sans"/>
                  <a:sym typeface="Open Sans"/>
                </a:rPr>
                <a:t>Unorganized information</a:t>
              </a:r>
            </a:p>
            <a:p>
              <a:pPr algn="l">
                <a:lnSpc>
                  <a:spcPts val="2936"/>
                </a:lnSpc>
              </a:pPr>
              <a:r>
                <a:rPr lang="en-US" sz="2175">
                  <a:solidFill>
                    <a:srgbClr val="56707C"/>
                  </a:solidFill>
                  <a:latin typeface="Open Sans"/>
                  <a:ea typeface="Open Sans"/>
                  <a:cs typeface="Open Sans"/>
                  <a:sym typeface="Open Sans"/>
                </a:rPr>
                <a:t>Manual retrieval</a:t>
              </a:r>
            </a:p>
            <a:p>
              <a:pPr algn="l">
                <a:lnSpc>
                  <a:spcPts val="2936"/>
                </a:lnSpc>
              </a:pPr>
              <a:r>
                <a:rPr lang="en-US" sz="2175">
                  <a:solidFill>
                    <a:srgbClr val="56707C"/>
                  </a:solidFill>
                  <a:latin typeface="Open Sans"/>
                  <a:ea typeface="Open Sans"/>
                  <a:cs typeface="Open Sans"/>
                  <a:sym typeface="Open Sans"/>
                </a:rPr>
                <a:t>No automated reminders</a:t>
              </a:r>
            </a:p>
            <a:p>
              <a:pPr algn="l">
                <a:lnSpc>
                  <a:spcPts val="2936"/>
                </a:lnSpc>
              </a:pPr>
              <a:r>
                <a:rPr lang="en-US" sz="2175">
                  <a:solidFill>
                    <a:srgbClr val="56707C"/>
                  </a:solidFill>
                  <a:latin typeface="Open Sans"/>
                  <a:ea typeface="Open Sans"/>
                  <a:cs typeface="Open Sans"/>
                  <a:sym typeface="Open Sans"/>
                </a:rPr>
                <a:t>Incomplete continuity</a:t>
              </a:r>
            </a:p>
          </p:txBody>
        </p:sp>
      </p:grpSp>
      <p:sp>
        <p:nvSpPr>
          <p:cNvPr id="11" name="AutoShape 11"/>
          <p:cNvSpPr/>
          <p:nvPr/>
        </p:nvSpPr>
        <p:spPr>
          <a:xfrm>
            <a:off x="8543925" y="5810250"/>
            <a:ext cx="1047750" cy="0"/>
          </a:xfrm>
          <a:prstGeom prst="line">
            <a:avLst/>
          </a:prstGeom>
          <a:ln w="76200" cap="rnd">
            <a:solidFill>
              <a:srgbClr val="0AA6A6"/>
            </a:solidFill>
            <a:prstDash val="solid"/>
            <a:headEnd type="none" w="sm" len="sm"/>
            <a:tailEnd type="none" w="sm" len="sm"/>
          </a:ln>
        </p:spPr>
      </p:sp>
      <p:grpSp>
        <p:nvGrpSpPr>
          <p:cNvPr id="12" name="Group 12"/>
          <p:cNvGrpSpPr/>
          <p:nvPr/>
        </p:nvGrpSpPr>
        <p:grpSpPr>
          <a:xfrm>
            <a:off x="9925050" y="2952750"/>
            <a:ext cx="7334250" cy="5715000"/>
            <a:chOff x="0" y="0"/>
            <a:chExt cx="9779000" cy="7620000"/>
          </a:xfrm>
        </p:grpSpPr>
        <p:grpSp>
          <p:nvGrpSpPr>
            <p:cNvPr id="13" name="Group 13"/>
            <p:cNvGrpSpPr/>
            <p:nvPr/>
          </p:nvGrpSpPr>
          <p:grpSpPr>
            <a:xfrm>
              <a:off x="0" y="0"/>
              <a:ext cx="9779000" cy="7620000"/>
              <a:chOff x="0" y="0"/>
              <a:chExt cx="9779000" cy="7620000"/>
            </a:xfrm>
          </p:grpSpPr>
          <p:sp>
            <p:nvSpPr>
              <p:cNvPr id="14" name="Freeform 14"/>
              <p:cNvSpPr/>
              <p:nvPr/>
            </p:nvSpPr>
            <p:spPr>
              <a:xfrm>
                <a:off x="0" y="0"/>
                <a:ext cx="9779000" cy="7620000"/>
              </a:xfrm>
              <a:custGeom>
                <a:avLst/>
                <a:gdLst/>
                <a:ahLst/>
                <a:cxnLst/>
                <a:rect l="l" t="t" r="r" b="b"/>
                <a:pathLst>
                  <a:path w="9779000" h="7620000">
                    <a:moveTo>
                      <a:pt x="0" y="0"/>
                    </a:moveTo>
                    <a:lnTo>
                      <a:pt x="9779000" y="0"/>
                    </a:lnTo>
                    <a:lnTo>
                      <a:pt x="9779000" y="7620000"/>
                    </a:lnTo>
                    <a:lnTo>
                      <a:pt x="0" y="7620000"/>
                    </a:lnTo>
                    <a:close/>
                  </a:path>
                </a:pathLst>
              </a:custGeom>
              <a:solidFill>
                <a:srgbClr val="D9F2EF"/>
              </a:solidFill>
              <a:ln cap="sq">
                <a:noFill/>
                <a:prstDash val="solid"/>
                <a:miter/>
              </a:ln>
            </p:spPr>
          </p:sp>
          <p:sp>
            <p:nvSpPr>
              <p:cNvPr id="15" name="TextBox 15"/>
              <p:cNvSpPr txBox="1"/>
              <p:nvPr/>
            </p:nvSpPr>
            <p:spPr>
              <a:xfrm>
                <a:off x="0" y="-38100"/>
                <a:ext cx="9779000" cy="7658100"/>
              </a:xfrm>
              <a:prstGeom prst="rect">
                <a:avLst/>
              </a:prstGeom>
            </p:spPr>
            <p:txBody>
              <a:bodyPr lIns="50800" tIns="50800" rIns="50800" bIns="50800" rtlCol="0" anchor="ctr"/>
              <a:lstStyle/>
              <a:p>
                <a:pPr algn="l">
                  <a:lnSpc>
                    <a:spcPts val="1679"/>
                  </a:lnSpc>
                </a:pPr>
                <a:endParaRPr/>
              </a:p>
            </p:txBody>
          </p:sp>
        </p:grpSp>
        <p:sp>
          <p:nvSpPr>
            <p:cNvPr id="16" name="TextBox 16"/>
            <p:cNvSpPr txBox="1"/>
            <p:nvPr/>
          </p:nvSpPr>
          <p:spPr>
            <a:xfrm>
              <a:off x="508000" y="314325"/>
              <a:ext cx="8255000" cy="523875"/>
            </a:xfrm>
            <a:prstGeom prst="rect">
              <a:avLst/>
            </a:prstGeom>
          </p:spPr>
          <p:txBody>
            <a:bodyPr lIns="0" tIns="0" rIns="0" bIns="0" rtlCol="0" anchor="t">
              <a:spAutoFit/>
            </a:bodyPr>
            <a:lstStyle/>
            <a:p>
              <a:pPr algn="l">
                <a:lnSpc>
                  <a:spcPts val="3149"/>
                </a:lnSpc>
              </a:pPr>
              <a:r>
                <a:rPr lang="en-US" sz="2250" b="1" spc="112">
                  <a:solidFill>
                    <a:srgbClr val="0AA6A6"/>
                  </a:solidFill>
                  <a:latin typeface="Poppins Bold"/>
                  <a:ea typeface="Poppins Bold"/>
                  <a:cs typeface="Poppins Bold"/>
                  <a:sym typeface="Poppins Bold"/>
                </a:rPr>
                <a:t>MEDISYNC DIRECTION</a:t>
              </a:r>
            </a:p>
          </p:txBody>
        </p:sp>
        <p:sp>
          <p:nvSpPr>
            <p:cNvPr id="17" name="TextBox 17"/>
            <p:cNvSpPr txBox="1"/>
            <p:nvPr/>
          </p:nvSpPr>
          <p:spPr>
            <a:xfrm>
              <a:off x="508000" y="1206500"/>
              <a:ext cx="8890000" cy="790448"/>
            </a:xfrm>
            <a:prstGeom prst="rect">
              <a:avLst/>
            </a:prstGeom>
          </p:spPr>
          <p:txBody>
            <a:bodyPr lIns="0" tIns="0" rIns="0" bIns="0" rtlCol="0" anchor="t">
              <a:spAutoFit/>
            </a:bodyPr>
            <a:lstStyle/>
            <a:p>
              <a:pPr algn="l">
                <a:lnSpc>
                  <a:spcPts val="4212"/>
                </a:lnSpc>
              </a:pPr>
              <a:r>
                <a:rPr lang="en-US" sz="3900" b="1">
                  <a:solidFill>
                    <a:srgbClr val="102A3A"/>
                  </a:solidFill>
                  <a:latin typeface="Poppins Bold"/>
                  <a:ea typeface="Poppins Bold"/>
                  <a:cs typeface="Poppins Bold"/>
                  <a:sym typeface="Poppins Bold"/>
                </a:rPr>
                <a:t>Centralized &amp; accessible</a:t>
              </a:r>
            </a:p>
          </p:txBody>
        </p:sp>
        <p:sp>
          <p:nvSpPr>
            <p:cNvPr id="18" name="TextBox 18"/>
            <p:cNvSpPr txBox="1"/>
            <p:nvPr/>
          </p:nvSpPr>
          <p:spPr>
            <a:xfrm>
              <a:off x="508000" y="2638425"/>
              <a:ext cx="8255000" cy="2449830"/>
            </a:xfrm>
            <a:prstGeom prst="rect">
              <a:avLst/>
            </a:prstGeom>
          </p:spPr>
          <p:txBody>
            <a:bodyPr lIns="0" tIns="0" rIns="0" bIns="0" rtlCol="0" anchor="t">
              <a:spAutoFit/>
            </a:bodyPr>
            <a:lstStyle/>
            <a:p>
              <a:pPr algn="l">
                <a:lnSpc>
                  <a:spcPts val="2936"/>
                </a:lnSpc>
              </a:pPr>
              <a:r>
                <a:rPr lang="en-US" sz="2175">
                  <a:solidFill>
                    <a:srgbClr val="56707C"/>
                  </a:solidFill>
                  <a:latin typeface="Open Sans"/>
                  <a:ea typeface="Open Sans"/>
                  <a:cs typeface="Open Sans"/>
                  <a:sym typeface="Open Sans"/>
                </a:rPr>
                <a:t>Digital organization</a:t>
              </a:r>
            </a:p>
            <a:p>
              <a:pPr algn="l">
                <a:lnSpc>
                  <a:spcPts val="2936"/>
                </a:lnSpc>
              </a:pPr>
              <a:r>
                <a:rPr lang="en-US" sz="2175">
                  <a:solidFill>
                    <a:srgbClr val="56707C"/>
                  </a:solidFill>
                  <a:latin typeface="Open Sans"/>
                  <a:ea typeface="Open Sans"/>
                  <a:cs typeface="Open Sans"/>
                  <a:sym typeface="Open Sans"/>
                </a:rPr>
                <a:t>Module-based navigation</a:t>
              </a:r>
            </a:p>
            <a:p>
              <a:pPr algn="l">
                <a:lnSpc>
                  <a:spcPts val="2936"/>
                </a:lnSpc>
              </a:pPr>
              <a:r>
                <a:rPr lang="en-US" sz="2175">
                  <a:solidFill>
                    <a:srgbClr val="56707C"/>
                  </a:solidFill>
                  <a:latin typeface="Open Sans"/>
                  <a:ea typeface="Open Sans"/>
                  <a:cs typeface="Open Sans"/>
                  <a:sym typeface="Open Sans"/>
                </a:rPr>
                <a:t>Faster retrieval</a:t>
              </a:r>
            </a:p>
            <a:p>
              <a:pPr algn="l">
                <a:lnSpc>
                  <a:spcPts val="2936"/>
                </a:lnSpc>
              </a:pPr>
              <a:r>
                <a:rPr lang="en-US" sz="2175">
                  <a:solidFill>
                    <a:srgbClr val="56707C"/>
                  </a:solidFill>
                  <a:latin typeface="Open Sans"/>
                  <a:ea typeface="Open Sans"/>
                  <a:cs typeface="Open Sans"/>
                  <a:sym typeface="Open Sans"/>
                </a:rPr>
                <a:t>Reminder support</a:t>
              </a:r>
            </a:p>
            <a:p>
              <a:pPr algn="l">
                <a:lnSpc>
                  <a:spcPts val="2936"/>
                </a:lnSpc>
              </a:pPr>
              <a:r>
                <a:rPr lang="en-US" sz="2175">
                  <a:solidFill>
                    <a:srgbClr val="56707C"/>
                  </a:solidFill>
                  <a:latin typeface="Open Sans"/>
                  <a:ea typeface="Open Sans"/>
                  <a:cs typeface="Open Sans"/>
                  <a:sym typeface="Open Sans"/>
                </a:rPr>
                <a:t>Continuous personal history</a:t>
              </a:r>
            </a:p>
          </p:txBody>
        </p:sp>
      </p:grpSp>
      <p:sp>
        <p:nvSpPr>
          <p:cNvPr id="19" name="AutoShape 19"/>
          <p:cNvSpPr/>
          <p:nvPr/>
        </p:nvSpPr>
        <p:spPr>
          <a:xfrm>
            <a:off x="952500" y="9572625"/>
            <a:ext cx="16383000" cy="0"/>
          </a:xfrm>
          <a:prstGeom prst="line">
            <a:avLst/>
          </a:prstGeom>
          <a:ln w="9525" cap="flat">
            <a:solidFill>
              <a:srgbClr val="B9D2D4"/>
            </a:solidFill>
            <a:prstDash val="solid"/>
            <a:headEnd type="none" w="sm" len="sm"/>
            <a:tailEnd type="none" w="sm" len="sm"/>
          </a:ln>
        </p:spPr>
      </p:sp>
      <p:sp>
        <p:nvSpPr>
          <p:cNvPr id="20" name="TextBox 20"/>
          <p:cNvSpPr txBox="1"/>
          <p:nvPr/>
        </p:nvSpPr>
        <p:spPr>
          <a:xfrm>
            <a:off x="952500" y="9753600"/>
            <a:ext cx="6667500" cy="232410"/>
          </a:xfrm>
          <a:prstGeom prst="rect">
            <a:avLst/>
          </a:prstGeom>
        </p:spPr>
        <p:txBody>
          <a:bodyPr lIns="0" tIns="0" rIns="0" bIns="0" rtlCol="0" anchor="t">
            <a:spAutoFit/>
          </a:bodyPr>
          <a:lstStyle/>
          <a:p>
            <a:pPr algn="l">
              <a:lnSpc>
                <a:spcPts val="1889"/>
              </a:lnSpc>
            </a:pPr>
            <a:r>
              <a:rPr lang="en-US" sz="1350" b="1" spc="108">
                <a:solidFill>
                  <a:srgbClr val="56707C"/>
                </a:solidFill>
                <a:latin typeface="Open Sans Bold"/>
                <a:ea typeface="Open Sans Bold"/>
                <a:cs typeface="Open Sans Bold"/>
                <a:sym typeface="Open Sans Bold"/>
              </a:rPr>
              <a:t>MEDISYNC • MCA PROJECT</a:t>
            </a:r>
          </a:p>
        </p:txBody>
      </p:sp>
      <p:sp>
        <p:nvSpPr>
          <p:cNvPr id="21" name="TextBox 21"/>
          <p:cNvSpPr txBox="1"/>
          <p:nvPr/>
        </p:nvSpPr>
        <p:spPr>
          <a:xfrm>
            <a:off x="15811500" y="9753600"/>
            <a:ext cx="1524000" cy="232410"/>
          </a:xfrm>
          <a:prstGeom prst="rect">
            <a:avLst/>
          </a:prstGeom>
        </p:spPr>
        <p:txBody>
          <a:bodyPr lIns="0" tIns="0" rIns="0" bIns="0" rtlCol="0" anchor="t">
            <a:spAutoFit/>
          </a:bodyPr>
          <a:lstStyle/>
          <a:p>
            <a:pPr algn="r">
              <a:lnSpc>
                <a:spcPts val="1889"/>
              </a:lnSpc>
            </a:pPr>
            <a:r>
              <a:rPr lang="en-US" sz="1350" b="1">
                <a:solidFill>
                  <a:srgbClr val="56707C"/>
                </a:solidFill>
                <a:latin typeface="Open Sans Bold"/>
                <a:ea typeface="Open Sans Bold"/>
                <a:cs typeface="Open Sans Bold"/>
                <a:sym typeface="Open Sans Bold"/>
              </a:rPr>
              <a:t>05 / 18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1B2B"/>
        </a:solidFill>
        <a:effectLst/>
      </p:bgPr>
    </p:bg>
    <p:spTree>
      <p:nvGrpSpPr>
        <p:cNvPr id="1" name=""/>
        <p:cNvGrpSpPr/>
        <p:nvPr/>
      </p:nvGrpSpPr>
      <p:grpSpPr>
        <a:xfrm>
          <a:off x="0" y="0"/>
          <a:ext cx="0" cy="0"/>
          <a:chOff x="0" y="0"/>
          <a:chExt cx="0" cy="0"/>
        </a:xfrm>
      </p:grpSpPr>
      <p:sp>
        <p:nvSpPr>
          <p:cNvPr id="2" name="TextBox 2"/>
          <p:cNvSpPr txBox="1"/>
          <p:nvPr/>
        </p:nvSpPr>
        <p:spPr>
          <a:xfrm>
            <a:off x="952500" y="1365245"/>
            <a:ext cx="14287500" cy="720852"/>
          </a:xfrm>
          <a:prstGeom prst="rect">
            <a:avLst/>
          </a:prstGeom>
        </p:spPr>
        <p:txBody>
          <a:bodyPr lIns="0" tIns="0" rIns="0" bIns="0" rtlCol="0" anchor="t">
            <a:spAutoFit/>
          </a:bodyPr>
          <a:lstStyle/>
          <a:p>
            <a:pPr algn="l">
              <a:lnSpc>
                <a:spcPts val="5184"/>
              </a:lnSpc>
            </a:pPr>
            <a:r>
              <a:rPr lang="en-US" sz="4800" b="1">
                <a:solidFill>
                  <a:srgbClr val="FFFFFF"/>
                </a:solidFill>
                <a:latin typeface="Poppins Bold"/>
                <a:ea typeface="Poppins Bold"/>
                <a:cs typeface="Poppins Bold"/>
                <a:sym typeface="Poppins Bold"/>
              </a:rPr>
              <a:t>MediSync integrates three focused modules</a:t>
            </a:r>
          </a:p>
        </p:txBody>
      </p:sp>
      <p:sp>
        <p:nvSpPr>
          <p:cNvPr id="3" name="TextBox 3"/>
          <p:cNvSpPr txBox="1"/>
          <p:nvPr/>
        </p:nvSpPr>
        <p:spPr>
          <a:xfrm>
            <a:off x="952500" y="2079620"/>
            <a:ext cx="13811250" cy="334328"/>
          </a:xfrm>
          <a:prstGeom prst="rect">
            <a:avLst/>
          </a:prstGeom>
        </p:spPr>
        <p:txBody>
          <a:bodyPr lIns="0" tIns="0" rIns="0" bIns="0" rtlCol="0" anchor="t">
            <a:spAutoFit/>
          </a:bodyPr>
          <a:lstStyle/>
          <a:p>
            <a:pPr algn="l">
              <a:lnSpc>
                <a:spcPts val="2632"/>
              </a:lnSpc>
            </a:pPr>
            <a:r>
              <a:rPr lang="en-US" sz="1950">
                <a:solidFill>
                  <a:srgbClr val="FFFFFF"/>
                </a:solidFill>
                <a:latin typeface="Open Sans"/>
                <a:ea typeface="Open Sans"/>
                <a:cs typeface="Open Sans"/>
                <a:sym typeface="Open Sans"/>
              </a:rPr>
              <a:t>A mobile interface connects healthcare information, reminders and implemented assistance functions.</a:t>
            </a:r>
          </a:p>
        </p:txBody>
      </p:sp>
      <p:grpSp>
        <p:nvGrpSpPr>
          <p:cNvPr id="4" name="Group 4"/>
          <p:cNvGrpSpPr/>
          <p:nvPr/>
        </p:nvGrpSpPr>
        <p:grpSpPr>
          <a:xfrm>
            <a:off x="1428750" y="4470395"/>
            <a:ext cx="4000500" cy="2190750"/>
            <a:chOff x="0" y="0"/>
            <a:chExt cx="5334000" cy="2921000"/>
          </a:xfrm>
        </p:grpSpPr>
        <p:sp>
          <p:nvSpPr>
            <p:cNvPr id="5" name="Freeform 5"/>
            <p:cNvSpPr/>
            <p:nvPr/>
          </p:nvSpPr>
          <p:spPr>
            <a:xfrm>
              <a:off x="0" y="0"/>
              <a:ext cx="5334000" cy="2921000"/>
            </a:xfrm>
            <a:custGeom>
              <a:avLst/>
              <a:gdLst/>
              <a:ahLst/>
              <a:cxnLst/>
              <a:rect l="l" t="t" r="r" b="b"/>
              <a:pathLst>
                <a:path w="5334000" h="2921000">
                  <a:moveTo>
                    <a:pt x="54429" y="0"/>
                  </a:moveTo>
                  <a:lnTo>
                    <a:pt x="5279572" y="0"/>
                  </a:lnTo>
                  <a:cubicBezTo>
                    <a:pt x="5309631" y="0"/>
                    <a:pt x="5334000" y="24369"/>
                    <a:pt x="5334000" y="54429"/>
                  </a:cubicBezTo>
                  <a:lnTo>
                    <a:pt x="5334000" y="2866571"/>
                  </a:lnTo>
                  <a:cubicBezTo>
                    <a:pt x="5334000" y="2896632"/>
                    <a:pt x="5309631" y="2921000"/>
                    <a:pt x="5279572" y="2921000"/>
                  </a:cubicBezTo>
                  <a:lnTo>
                    <a:pt x="54429" y="2921000"/>
                  </a:lnTo>
                  <a:cubicBezTo>
                    <a:pt x="24369" y="2921000"/>
                    <a:pt x="0" y="2896632"/>
                    <a:pt x="0" y="2866571"/>
                  </a:cubicBezTo>
                  <a:lnTo>
                    <a:pt x="0" y="54429"/>
                  </a:lnTo>
                  <a:cubicBezTo>
                    <a:pt x="0" y="24369"/>
                    <a:pt x="24369" y="0"/>
                    <a:pt x="54429" y="0"/>
                  </a:cubicBezTo>
                  <a:close/>
                </a:path>
              </a:pathLst>
            </a:custGeom>
            <a:solidFill>
              <a:srgbClr val="FFFFFF"/>
            </a:solidFill>
            <a:ln w="19050" cap="sq">
              <a:solidFill>
                <a:srgbClr val="0AA6A6"/>
              </a:solidFill>
              <a:prstDash val="solid"/>
              <a:miter/>
            </a:ln>
          </p:spPr>
        </p:sp>
        <p:sp>
          <p:nvSpPr>
            <p:cNvPr id="6" name="TextBox 6"/>
            <p:cNvSpPr txBox="1"/>
            <p:nvPr/>
          </p:nvSpPr>
          <p:spPr>
            <a:xfrm>
              <a:off x="0" y="-9525"/>
              <a:ext cx="5334000" cy="2930525"/>
            </a:xfrm>
            <a:prstGeom prst="rect">
              <a:avLst/>
            </a:prstGeom>
          </p:spPr>
          <p:txBody>
            <a:bodyPr lIns="50800" tIns="50800" rIns="50800" bIns="50800" rtlCol="0" anchor="ctr"/>
            <a:lstStyle/>
            <a:p>
              <a:pPr algn="ctr">
                <a:lnSpc>
                  <a:spcPts val="2070"/>
                </a:lnSpc>
              </a:pPr>
              <a:r>
                <a:rPr lang="en-US" sz="1800" b="1">
                  <a:solidFill>
                    <a:srgbClr val="102A3A"/>
                  </a:solidFill>
                  <a:latin typeface="Poppins Bold"/>
                  <a:ea typeface="Poppins Bold"/>
                  <a:cs typeface="Poppins Bold"/>
                  <a:sym typeface="Poppins Bold"/>
                </a:rPr>
                <a:t>RECORD</a:t>
              </a:r>
            </a:p>
            <a:p>
              <a:pPr algn="ctr">
                <a:lnSpc>
                  <a:spcPts val="2070"/>
                </a:lnSpc>
              </a:pPr>
              <a:r>
                <a:rPr lang="en-US" sz="1800" b="1">
                  <a:solidFill>
                    <a:srgbClr val="102A3A"/>
                  </a:solidFill>
                  <a:latin typeface="Poppins Bold"/>
                  <a:ea typeface="Poppins Bold"/>
                  <a:cs typeface="Poppins Bold"/>
                  <a:sym typeface="Poppins Bold"/>
                </a:rPr>
                <a:t>Medical documents</a:t>
              </a:r>
            </a:p>
          </p:txBody>
        </p:sp>
      </p:grpSp>
      <p:sp>
        <p:nvSpPr>
          <p:cNvPr id="7" name="AutoShape 7"/>
          <p:cNvSpPr/>
          <p:nvPr/>
        </p:nvSpPr>
        <p:spPr>
          <a:xfrm>
            <a:off x="5524500" y="5565770"/>
            <a:ext cx="1333500" cy="0"/>
          </a:xfrm>
          <a:prstGeom prst="line">
            <a:avLst/>
          </a:prstGeom>
          <a:ln w="47625" cap="rnd">
            <a:solidFill>
              <a:srgbClr val="0AA6A6"/>
            </a:solidFill>
            <a:prstDash val="solid"/>
            <a:headEnd type="none" w="sm" len="sm"/>
            <a:tailEnd type="none" w="sm" len="sm"/>
          </a:ln>
        </p:spPr>
      </p:sp>
      <p:grpSp>
        <p:nvGrpSpPr>
          <p:cNvPr id="8" name="Group 8"/>
          <p:cNvGrpSpPr/>
          <p:nvPr/>
        </p:nvGrpSpPr>
        <p:grpSpPr>
          <a:xfrm>
            <a:off x="7143750" y="4470395"/>
            <a:ext cx="4000500" cy="2190750"/>
            <a:chOff x="0" y="0"/>
            <a:chExt cx="5334000" cy="2921000"/>
          </a:xfrm>
        </p:grpSpPr>
        <p:sp>
          <p:nvSpPr>
            <p:cNvPr id="9" name="Freeform 9"/>
            <p:cNvSpPr/>
            <p:nvPr/>
          </p:nvSpPr>
          <p:spPr>
            <a:xfrm>
              <a:off x="0" y="0"/>
              <a:ext cx="5334000" cy="2921000"/>
            </a:xfrm>
            <a:custGeom>
              <a:avLst/>
              <a:gdLst/>
              <a:ahLst/>
              <a:cxnLst/>
              <a:rect l="l" t="t" r="r" b="b"/>
              <a:pathLst>
                <a:path w="5334000" h="2921000">
                  <a:moveTo>
                    <a:pt x="54429" y="0"/>
                  </a:moveTo>
                  <a:lnTo>
                    <a:pt x="5279572" y="0"/>
                  </a:lnTo>
                  <a:cubicBezTo>
                    <a:pt x="5309631" y="0"/>
                    <a:pt x="5334000" y="24369"/>
                    <a:pt x="5334000" y="54429"/>
                  </a:cubicBezTo>
                  <a:lnTo>
                    <a:pt x="5334000" y="2866571"/>
                  </a:lnTo>
                  <a:cubicBezTo>
                    <a:pt x="5334000" y="2896632"/>
                    <a:pt x="5309631" y="2921000"/>
                    <a:pt x="5279572" y="2921000"/>
                  </a:cubicBezTo>
                  <a:lnTo>
                    <a:pt x="54429" y="2921000"/>
                  </a:lnTo>
                  <a:cubicBezTo>
                    <a:pt x="24369" y="2921000"/>
                    <a:pt x="0" y="2896632"/>
                    <a:pt x="0" y="2866571"/>
                  </a:cubicBezTo>
                  <a:lnTo>
                    <a:pt x="0" y="54429"/>
                  </a:lnTo>
                  <a:cubicBezTo>
                    <a:pt x="0" y="24369"/>
                    <a:pt x="24369" y="0"/>
                    <a:pt x="54429" y="0"/>
                  </a:cubicBezTo>
                  <a:close/>
                </a:path>
              </a:pathLst>
            </a:custGeom>
            <a:solidFill>
              <a:srgbClr val="0AA6A6"/>
            </a:solidFill>
            <a:ln w="19050" cap="sq">
              <a:solidFill>
                <a:srgbClr val="0AA6A6"/>
              </a:solidFill>
              <a:prstDash val="solid"/>
              <a:miter/>
            </a:ln>
          </p:spPr>
        </p:sp>
        <p:sp>
          <p:nvSpPr>
            <p:cNvPr id="10" name="TextBox 10"/>
            <p:cNvSpPr txBox="1"/>
            <p:nvPr/>
          </p:nvSpPr>
          <p:spPr>
            <a:xfrm>
              <a:off x="0" y="-9525"/>
              <a:ext cx="5334000" cy="2930525"/>
            </a:xfrm>
            <a:prstGeom prst="rect">
              <a:avLst/>
            </a:prstGeom>
          </p:spPr>
          <p:txBody>
            <a:bodyPr lIns="50800" tIns="50800" rIns="50800" bIns="50800" rtlCol="0" anchor="ctr"/>
            <a:lstStyle/>
            <a:p>
              <a:pPr algn="ctr">
                <a:lnSpc>
                  <a:spcPts val="2070"/>
                </a:lnSpc>
              </a:pPr>
              <a:r>
                <a:rPr lang="en-US" sz="1800" b="1">
                  <a:solidFill>
                    <a:srgbClr val="FFFFFF"/>
                  </a:solidFill>
                  <a:latin typeface="Poppins Bold"/>
                  <a:ea typeface="Poppins Bold"/>
                  <a:cs typeface="Poppins Bold"/>
                  <a:sym typeface="Poppins Bold"/>
                </a:rPr>
                <a:t>REMIND</a:t>
              </a:r>
            </a:p>
            <a:p>
              <a:pPr algn="ctr">
                <a:lnSpc>
                  <a:spcPts val="2070"/>
                </a:lnSpc>
              </a:pPr>
              <a:r>
                <a:rPr lang="en-US" sz="1800" b="1">
                  <a:solidFill>
                    <a:srgbClr val="FFFFFF"/>
                  </a:solidFill>
                  <a:latin typeface="Poppins Bold"/>
                  <a:ea typeface="Poppins Bold"/>
                  <a:cs typeface="Poppins Bold"/>
                  <a:sym typeface="Poppins Bold"/>
                </a:rPr>
                <a:t>Schedules &amp; alerts</a:t>
              </a:r>
            </a:p>
          </p:txBody>
        </p:sp>
      </p:grpSp>
      <p:sp>
        <p:nvSpPr>
          <p:cNvPr id="11" name="AutoShape 11"/>
          <p:cNvSpPr/>
          <p:nvPr/>
        </p:nvSpPr>
        <p:spPr>
          <a:xfrm>
            <a:off x="11239500" y="5565770"/>
            <a:ext cx="1333500" cy="0"/>
          </a:xfrm>
          <a:prstGeom prst="line">
            <a:avLst/>
          </a:prstGeom>
          <a:ln w="47625" cap="rnd">
            <a:solidFill>
              <a:srgbClr val="0AA6A6"/>
            </a:solidFill>
            <a:prstDash val="solid"/>
            <a:headEnd type="none" w="sm" len="sm"/>
            <a:tailEnd type="none" w="sm" len="sm"/>
          </a:ln>
        </p:spPr>
      </p:sp>
      <p:grpSp>
        <p:nvGrpSpPr>
          <p:cNvPr id="12" name="Group 12"/>
          <p:cNvGrpSpPr/>
          <p:nvPr/>
        </p:nvGrpSpPr>
        <p:grpSpPr>
          <a:xfrm>
            <a:off x="12858750" y="4470395"/>
            <a:ext cx="4000500" cy="2190750"/>
            <a:chOff x="0" y="0"/>
            <a:chExt cx="5334000" cy="2921000"/>
          </a:xfrm>
        </p:grpSpPr>
        <p:sp>
          <p:nvSpPr>
            <p:cNvPr id="13" name="Freeform 13"/>
            <p:cNvSpPr/>
            <p:nvPr/>
          </p:nvSpPr>
          <p:spPr>
            <a:xfrm>
              <a:off x="0" y="0"/>
              <a:ext cx="5334000" cy="2921000"/>
            </a:xfrm>
            <a:custGeom>
              <a:avLst/>
              <a:gdLst/>
              <a:ahLst/>
              <a:cxnLst/>
              <a:rect l="l" t="t" r="r" b="b"/>
              <a:pathLst>
                <a:path w="5334000" h="2921000">
                  <a:moveTo>
                    <a:pt x="54429" y="0"/>
                  </a:moveTo>
                  <a:lnTo>
                    <a:pt x="5279572" y="0"/>
                  </a:lnTo>
                  <a:cubicBezTo>
                    <a:pt x="5309631" y="0"/>
                    <a:pt x="5334000" y="24369"/>
                    <a:pt x="5334000" y="54429"/>
                  </a:cubicBezTo>
                  <a:lnTo>
                    <a:pt x="5334000" y="2866571"/>
                  </a:lnTo>
                  <a:cubicBezTo>
                    <a:pt x="5334000" y="2896632"/>
                    <a:pt x="5309631" y="2921000"/>
                    <a:pt x="5279572" y="2921000"/>
                  </a:cubicBezTo>
                  <a:lnTo>
                    <a:pt x="54429" y="2921000"/>
                  </a:lnTo>
                  <a:cubicBezTo>
                    <a:pt x="24369" y="2921000"/>
                    <a:pt x="0" y="2896632"/>
                    <a:pt x="0" y="2866571"/>
                  </a:cubicBezTo>
                  <a:lnTo>
                    <a:pt x="0" y="54429"/>
                  </a:lnTo>
                  <a:cubicBezTo>
                    <a:pt x="0" y="24369"/>
                    <a:pt x="24369" y="0"/>
                    <a:pt x="54429" y="0"/>
                  </a:cubicBezTo>
                  <a:close/>
                </a:path>
              </a:pathLst>
            </a:custGeom>
            <a:solidFill>
              <a:srgbClr val="FFFFFF"/>
            </a:solidFill>
            <a:ln w="19050" cap="sq">
              <a:solidFill>
                <a:srgbClr val="0AA6A6"/>
              </a:solidFill>
              <a:prstDash val="solid"/>
              <a:miter/>
            </a:ln>
          </p:spPr>
        </p:sp>
        <p:sp>
          <p:nvSpPr>
            <p:cNvPr id="14" name="TextBox 14"/>
            <p:cNvSpPr txBox="1"/>
            <p:nvPr/>
          </p:nvSpPr>
          <p:spPr>
            <a:xfrm>
              <a:off x="0" y="-9525"/>
              <a:ext cx="5334000" cy="2930525"/>
            </a:xfrm>
            <a:prstGeom prst="rect">
              <a:avLst/>
            </a:prstGeom>
          </p:spPr>
          <p:txBody>
            <a:bodyPr lIns="50800" tIns="50800" rIns="50800" bIns="50800" rtlCol="0" anchor="ctr"/>
            <a:lstStyle/>
            <a:p>
              <a:pPr algn="ctr">
                <a:lnSpc>
                  <a:spcPts val="2070"/>
                </a:lnSpc>
              </a:pPr>
              <a:r>
                <a:rPr lang="en-US" sz="1800" b="1">
                  <a:solidFill>
                    <a:srgbClr val="102A3A"/>
                  </a:solidFill>
                  <a:latin typeface="Poppins Bold"/>
                  <a:ea typeface="Poppins Bold"/>
                  <a:cs typeface="Poppins Bold"/>
                  <a:sym typeface="Poppins Bold"/>
                </a:rPr>
                <a:t>RESOLVE</a:t>
              </a:r>
            </a:p>
            <a:p>
              <a:pPr algn="ctr">
                <a:lnSpc>
                  <a:spcPts val="2070"/>
                </a:lnSpc>
              </a:pPr>
              <a:r>
                <a:rPr lang="en-US" sz="1800" b="1">
                  <a:solidFill>
                    <a:srgbClr val="102A3A"/>
                  </a:solidFill>
                  <a:latin typeface="Poppins Bold"/>
                  <a:ea typeface="Poppins Bold"/>
                  <a:cs typeface="Poppins Bold"/>
                  <a:sym typeface="Poppins Bold"/>
                </a:rPr>
                <a:t>Implemented functions</a:t>
              </a:r>
            </a:p>
          </p:txBody>
        </p:sp>
      </p:grpSp>
      <p:sp>
        <p:nvSpPr>
          <p:cNvPr id="15" name="TextBox 15"/>
          <p:cNvSpPr txBox="1"/>
          <p:nvPr/>
        </p:nvSpPr>
        <p:spPr>
          <a:xfrm>
            <a:off x="3048000" y="7718420"/>
            <a:ext cx="12192000" cy="396240"/>
          </a:xfrm>
          <a:prstGeom prst="rect">
            <a:avLst/>
          </a:prstGeom>
        </p:spPr>
        <p:txBody>
          <a:bodyPr lIns="0" tIns="0" rIns="0" bIns="0" rtlCol="0" anchor="t">
            <a:spAutoFit/>
          </a:bodyPr>
          <a:lstStyle/>
          <a:p>
            <a:pPr algn="ctr">
              <a:lnSpc>
                <a:spcPts val="3359"/>
              </a:lnSpc>
            </a:pPr>
            <a:r>
              <a:rPr lang="en-US" sz="2400">
                <a:solidFill>
                  <a:srgbClr val="D9F2EF"/>
                </a:solidFill>
                <a:latin typeface="Open Sans"/>
                <a:ea typeface="Open Sans"/>
                <a:cs typeface="Open Sans"/>
                <a:sym typeface="Open Sans"/>
              </a:rPr>
              <a:t>Shared navigation • coordinated data flow • consistent mobile experience</a:t>
            </a:r>
          </a:p>
        </p:txBody>
      </p:sp>
      <p:sp>
        <p:nvSpPr>
          <p:cNvPr id="16" name="AutoShape 16"/>
          <p:cNvSpPr/>
          <p:nvPr/>
        </p:nvSpPr>
        <p:spPr>
          <a:xfrm>
            <a:off x="952500" y="9572625"/>
            <a:ext cx="16383000" cy="0"/>
          </a:xfrm>
          <a:prstGeom prst="line">
            <a:avLst/>
          </a:prstGeom>
          <a:ln w="9525" cap="flat">
            <a:solidFill>
              <a:srgbClr val="31505F"/>
            </a:solidFill>
            <a:prstDash val="solid"/>
            <a:headEnd type="none" w="sm" len="sm"/>
            <a:tailEnd type="none" w="sm" len="sm"/>
          </a:ln>
        </p:spPr>
      </p:sp>
      <p:sp>
        <p:nvSpPr>
          <p:cNvPr id="17" name="TextBox 17"/>
          <p:cNvSpPr txBox="1"/>
          <p:nvPr/>
        </p:nvSpPr>
        <p:spPr>
          <a:xfrm>
            <a:off x="952500" y="9753600"/>
            <a:ext cx="6667500" cy="232410"/>
          </a:xfrm>
          <a:prstGeom prst="rect">
            <a:avLst/>
          </a:prstGeom>
        </p:spPr>
        <p:txBody>
          <a:bodyPr lIns="0" tIns="0" rIns="0" bIns="0" rtlCol="0" anchor="t">
            <a:spAutoFit/>
          </a:bodyPr>
          <a:lstStyle/>
          <a:p>
            <a:pPr algn="l">
              <a:lnSpc>
                <a:spcPts val="1889"/>
              </a:lnSpc>
            </a:pPr>
            <a:r>
              <a:rPr lang="en-US" sz="1350" b="1" spc="108">
                <a:solidFill>
                  <a:srgbClr val="B9D2D4"/>
                </a:solidFill>
                <a:latin typeface="Open Sans Bold"/>
                <a:ea typeface="Open Sans Bold"/>
                <a:cs typeface="Open Sans Bold"/>
                <a:sym typeface="Open Sans Bold"/>
              </a:rPr>
              <a:t>MEDISYNC • MCA PROJECT</a:t>
            </a:r>
          </a:p>
        </p:txBody>
      </p:sp>
      <p:sp>
        <p:nvSpPr>
          <p:cNvPr id="18" name="TextBox 18"/>
          <p:cNvSpPr txBox="1"/>
          <p:nvPr/>
        </p:nvSpPr>
        <p:spPr>
          <a:xfrm>
            <a:off x="15811500" y="9753600"/>
            <a:ext cx="1524000" cy="232410"/>
          </a:xfrm>
          <a:prstGeom prst="rect">
            <a:avLst/>
          </a:prstGeom>
        </p:spPr>
        <p:txBody>
          <a:bodyPr lIns="0" tIns="0" rIns="0" bIns="0" rtlCol="0" anchor="t">
            <a:spAutoFit/>
          </a:bodyPr>
          <a:lstStyle/>
          <a:p>
            <a:pPr algn="r">
              <a:lnSpc>
                <a:spcPts val="1889"/>
              </a:lnSpc>
            </a:pPr>
            <a:r>
              <a:rPr lang="en-US" sz="1350" b="1">
                <a:solidFill>
                  <a:srgbClr val="B9D2D4"/>
                </a:solidFill>
                <a:latin typeface="Open Sans Bold"/>
                <a:ea typeface="Open Sans Bold"/>
                <a:cs typeface="Open Sans Bold"/>
                <a:sym typeface="Open Sans Bold"/>
              </a:rPr>
              <a:t>06 / 18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8F8"/>
        </a:solidFill>
        <a:effectLst/>
      </p:bgPr>
    </p:bg>
    <p:spTree>
      <p:nvGrpSpPr>
        <p:cNvPr id="1" name=""/>
        <p:cNvGrpSpPr/>
        <p:nvPr/>
      </p:nvGrpSpPr>
      <p:grpSpPr>
        <a:xfrm>
          <a:off x="0" y="0"/>
          <a:ext cx="0" cy="0"/>
          <a:chOff x="0" y="0"/>
          <a:chExt cx="0" cy="0"/>
        </a:xfrm>
      </p:grpSpPr>
      <p:sp>
        <p:nvSpPr>
          <p:cNvPr id="2" name="TextBox 2"/>
          <p:cNvSpPr txBox="1"/>
          <p:nvPr/>
        </p:nvSpPr>
        <p:spPr>
          <a:xfrm>
            <a:off x="952500" y="657225"/>
            <a:ext cx="14287500" cy="720852"/>
          </a:xfrm>
          <a:prstGeom prst="rect">
            <a:avLst/>
          </a:prstGeom>
        </p:spPr>
        <p:txBody>
          <a:bodyPr lIns="0" tIns="0" rIns="0" bIns="0" rtlCol="0" anchor="t">
            <a:spAutoFit/>
          </a:bodyPr>
          <a:lstStyle/>
          <a:p>
            <a:pPr algn="l">
              <a:lnSpc>
                <a:spcPts val="5184"/>
              </a:lnSpc>
            </a:pPr>
            <a:r>
              <a:rPr lang="en-US" sz="4800" b="1">
                <a:solidFill>
                  <a:srgbClr val="102A3A"/>
                </a:solidFill>
                <a:latin typeface="Poppins Bold"/>
                <a:ea typeface="Poppins Bold"/>
                <a:cs typeface="Poppins Bold"/>
                <a:sym typeface="Poppins Bold"/>
              </a:rPr>
              <a:t>Core capabilities</a:t>
            </a:r>
          </a:p>
        </p:txBody>
      </p:sp>
      <p:sp>
        <p:nvSpPr>
          <p:cNvPr id="3" name="TextBox 3"/>
          <p:cNvSpPr txBox="1"/>
          <p:nvPr/>
        </p:nvSpPr>
        <p:spPr>
          <a:xfrm>
            <a:off x="952500" y="1371600"/>
            <a:ext cx="13811250" cy="334328"/>
          </a:xfrm>
          <a:prstGeom prst="rect">
            <a:avLst/>
          </a:prstGeom>
        </p:spPr>
        <p:txBody>
          <a:bodyPr lIns="0" tIns="0" rIns="0" bIns="0" rtlCol="0" anchor="t">
            <a:spAutoFit/>
          </a:bodyPr>
          <a:lstStyle/>
          <a:p>
            <a:pPr algn="l">
              <a:lnSpc>
                <a:spcPts val="2632"/>
              </a:lnSpc>
            </a:pPr>
            <a:r>
              <a:rPr lang="en-US" sz="1950">
                <a:solidFill>
                  <a:srgbClr val="56707C"/>
                </a:solidFill>
                <a:latin typeface="Open Sans"/>
                <a:ea typeface="Open Sans"/>
                <a:cs typeface="Open Sans"/>
                <a:sym typeface="Open Sans"/>
              </a:rPr>
              <a:t>A concise feature set designed around personal healthcare organization.</a:t>
            </a:r>
          </a:p>
        </p:txBody>
      </p:sp>
      <p:grpSp>
        <p:nvGrpSpPr>
          <p:cNvPr id="4" name="Group 4"/>
          <p:cNvGrpSpPr/>
          <p:nvPr/>
        </p:nvGrpSpPr>
        <p:grpSpPr>
          <a:xfrm>
            <a:off x="952500" y="2857500"/>
            <a:ext cx="4953000" cy="2190750"/>
            <a:chOff x="0" y="0"/>
            <a:chExt cx="6604000" cy="2921000"/>
          </a:xfrm>
        </p:grpSpPr>
        <p:grpSp>
          <p:nvGrpSpPr>
            <p:cNvPr id="5" name="Group 5"/>
            <p:cNvGrpSpPr/>
            <p:nvPr/>
          </p:nvGrpSpPr>
          <p:grpSpPr>
            <a:xfrm>
              <a:off x="0" y="0"/>
              <a:ext cx="6604000" cy="2921000"/>
              <a:chOff x="0" y="0"/>
              <a:chExt cx="6604000" cy="2921000"/>
            </a:xfrm>
          </p:grpSpPr>
          <p:sp>
            <p:nvSpPr>
              <p:cNvPr id="6" name="Freeform 6"/>
              <p:cNvSpPr/>
              <p:nvPr/>
            </p:nvSpPr>
            <p:spPr>
              <a:xfrm>
                <a:off x="0" y="0"/>
                <a:ext cx="6604000" cy="2921000"/>
              </a:xfrm>
              <a:custGeom>
                <a:avLst/>
                <a:gdLst/>
                <a:ahLst/>
                <a:cxnLst/>
                <a:rect l="l" t="t" r="r" b="b"/>
                <a:pathLst>
                  <a:path w="6604000" h="2921000">
                    <a:moveTo>
                      <a:pt x="0" y="0"/>
                    </a:moveTo>
                    <a:lnTo>
                      <a:pt x="6604000" y="0"/>
                    </a:lnTo>
                    <a:lnTo>
                      <a:pt x="6604000" y="2921000"/>
                    </a:lnTo>
                    <a:lnTo>
                      <a:pt x="0" y="2921000"/>
                    </a:lnTo>
                    <a:close/>
                  </a:path>
                </a:pathLst>
              </a:custGeom>
              <a:solidFill>
                <a:srgbClr val="FFFFFF"/>
              </a:solidFill>
              <a:ln w="19050" cap="sq">
                <a:solidFill>
                  <a:srgbClr val="B9D2D4"/>
                </a:solidFill>
                <a:prstDash val="solid"/>
                <a:miter/>
              </a:ln>
            </p:spPr>
          </p:sp>
          <p:sp>
            <p:nvSpPr>
              <p:cNvPr id="7" name="TextBox 7"/>
              <p:cNvSpPr txBox="1"/>
              <p:nvPr/>
            </p:nvSpPr>
            <p:spPr>
              <a:xfrm>
                <a:off x="0" y="-38100"/>
                <a:ext cx="6604000" cy="2959100"/>
              </a:xfrm>
              <a:prstGeom prst="rect">
                <a:avLst/>
              </a:prstGeom>
            </p:spPr>
            <p:txBody>
              <a:bodyPr lIns="50800" tIns="50800" rIns="50800" bIns="50800" rtlCol="0" anchor="ctr"/>
              <a:lstStyle/>
              <a:p>
                <a:pPr algn="l">
                  <a:lnSpc>
                    <a:spcPts val="1679"/>
                  </a:lnSpc>
                </a:pPr>
                <a:endParaRPr/>
              </a:p>
            </p:txBody>
          </p:sp>
        </p:grpSp>
        <p:grpSp>
          <p:nvGrpSpPr>
            <p:cNvPr id="8" name="Group 8"/>
            <p:cNvGrpSpPr/>
            <p:nvPr/>
          </p:nvGrpSpPr>
          <p:grpSpPr>
            <a:xfrm>
              <a:off x="444500" y="381000"/>
              <a:ext cx="1016000" cy="127000"/>
              <a:chOff x="0" y="0"/>
              <a:chExt cx="1016000" cy="127000"/>
            </a:xfrm>
          </p:grpSpPr>
          <p:sp>
            <p:nvSpPr>
              <p:cNvPr id="9" name="Freeform 9"/>
              <p:cNvSpPr/>
              <p:nvPr/>
            </p:nvSpPr>
            <p:spPr>
              <a:xfrm>
                <a:off x="0" y="0"/>
                <a:ext cx="1016000" cy="127000"/>
              </a:xfrm>
              <a:custGeom>
                <a:avLst/>
                <a:gdLst/>
                <a:ahLst/>
                <a:cxnLst/>
                <a:rect l="l" t="t" r="r" b="b"/>
                <a:pathLst>
                  <a:path w="1016000" h="127000">
                    <a:moveTo>
                      <a:pt x="0" y="0"/>
                    </a:moveTo>
                    <a:lnTo>
                      <a:pt x="1016000" y="0"/>
                    </a:lnTo>
                    <a:lnTo>
                      <a:pt x="1016000" y="127000"/>
                    </a:lnTo>
                    <a:lnTo>
                      <a:pt x="0" y="127000"/>
                    </a:lnTo>
                    <a:close/>
                  </a:path>
                </a:pathLst>
              </a:custGeom>
              <a:solidFill>
                <a:srgbClr val="0AA6A6"/>
              </a:solidFill>
              <a:ln cap="sq">
                <a:noFill/>
                <a:prstDash val="solid"/>
                <a:miter/>
              </a:ln>
            </p:spPr>
          </p:sp>
          <p:sp>
            <p:nvSpPr>
              <p:cNvPr id="10" name="TextBox 10"/>
              <p:cNvSpPr txBox="1"/>
              <p:nvPr/>
            </p:nvSpPr>
            <p:spPr>
              <a:xfrm>
                <a:off x="0" y="-38100"/>
                <a:ext cx="1016000" cy="165100"/>
              </a:xfrm>
              <a:prstGeom prst="rect">
                <a:avLst/>
              </a:prstGeom>
            </p:spPr>
            <p:txBody>
              <a:bodyPr lIns="50800" tIns="50800" rIns="50800" bIns="50800" rtlCol="0" anchor="ctr"/>
              <a:lstStyle/>
              <a:p>
                <a:pPr algn="l">
                  <a:lnSpc>
                    <a:spcPts val="1679"/>
                  </a:lnSpc>
                </a:pPr>
                <a:endParaRPr/>
              </a:p>
            </p:txBody>
          </p:sp>
        </p:grpSp>
        <p:sp>
          <p:nvSpPr>
            <p:cNvPr id="11" name="TextBox 11"/>
            <p:cNvSpPr txBox="1"/>
            <p:nvPr/>
          </p:nvSpPr>
          <p:spPr>
            <a:xfrm>
              <a:off x="444500" y="889000"/>
              <a:ext cx="5461000" cy="966216"/>
            </a:xfrm>
            <a:prstGeom prst="rect">
              <a:avLst/>
            </a:prstGeom>
          </p:spPr>
          <p:txBody>
            <a:bodyPr lIns="0" tIns="0" rIns="0" bIns="0" rtlCol="0" anchor="t">
              <a:spAutoFit/>
            </a:bodyPr>
            <a:lstStyle/>
            <a:p>
              <a:pPr algn="l">
                <a:lnSpc>
                  <a:spcPts val="2754"/>
                </a:lnSpc>
              </a:pPr>
              <a:r>
                <a:rPr lang="en-US" sz="2550" b="1">
                  <a:solidFill>
                    <a:srgbClr val="102A3A"/>
                  </a:solidFill>
                  <a:latin typeface="Poppins Bold"/>
                  <a:ea typeface="Poppins Bold"/>
                  <a:cs typeface="Poppins Bold"/>
                  <a:sym typeface="Poppins Bold"/>
                </a:rPr>
                <a:t>Medical record</a:t>
              </a:r>
            </a:p>
            <a:p>
              <a:pPr algn="l">
                <a:lnSpc>
                  <a:spcPts val="2754"/>
                </a:lnSpc>
              </a:pPr>
              <a:r>
                <a:rPr lang="en-US" sz="2550" b="1">
                  <a:solidFill>
                    <a:srgbClr val="102A3A"/>
                  </a:solidFill>
                  <a:latin typeface="Poppins Bold"/>
                  <a:ea typeface="Poppins Bold"/>
                  <a:cs typeface="Poppins Bold"/>
                  <a:sym typeface="Poppins Bold"/>
                </a:rPr>
                <a:t>management</a:t>
              </a:r>
            </a:p>
          </p:txBody>
        </p:sp>
      </p:grpSp>
      <p:grpSp>
        <p:nvGrpSpPr>
          <p:cNvPr id="12" name="Group 12"/>
          <p:cNvGrpSpPr/>
          <p:nvPr/>
        </p:nvGrpSpPr>
        <p:grpSpPr>
          <a:xfrm>
            <a:off x="6477000" y="2857500"/>
            <a:ext cx="4953000" cy="2190750"/>
            <a:chOff x="0" y="0"/>
            <a:chExt cx="6604000" cy="2921000"/>
          </a:xfrm>
        </p:grpSpPr>
        <p:grpSp>
          <p:nvGrpSpPr>
            <p:cNvPr id="13" name="Group 13"/>
            <p:cNvGrpSpPr/>
            <p:nvPr/>
          </p:nvGrpSpPr>
          <p:grpSpPr>
            <a:xfrm>
              <a:off x="0" y="0"/>
              <a:ext cx="6604000" cy="2921000"/>
              <a:chOff x="0" y="0"/>
              <a:chExt cx="6604000" cy="2921000"/>
            </a:xfrm>
          </p:grpSpPr>
          <p:sp>
            <p:nvSpPr>
              <p:cNvPr id="14" name="Freeform 14"/>
              <p:cNvSpPr/>
              <p:nvPr/>
            </p:nvSpPr>
            <p:spPr>
              <a:xfrm>
                <a:off x="0" y="0"/>
                <a:ext cx="6604000" cy="2921000"/>
              </a:xfrm>
              <a:custGeom>
                <a:avLst/>
                <a:gdLst/>
                <a:ahLst/>
                <a:cxnLst/>
                <a:rect l="l" t="t" r="r" b="b"/>
                <a:pathLst>
                  <a:path w="6604000" h="2921000">
                    <a:moveTo>
                      <a:pt x="0" y="0"/>
                    </a:moveTo>
                    <a:lnTo>
                      <a:pt x="6604000" y="0"/>
                    </a:lnTo>
                    <a:lnTo>
                      <a:pt x="6604000" y="2921000"/>
                    </a:lnTo>
                    <a:lnTo>
                      <a:pt x="0" y="2921000"/>
                    </a:lnTo>
                    <a:close/>
                  </a:path>
                </a:pathLst>
              </a:custGeom>
              <a:solidFill>
                <a:srgbClr val="FFFFFF"/>
              </a:solidFill>
              <a:ln w="19050" cap="sq">
                <a:solidFill>
                  <a:srgbClr val="B9D2D4"/>
                </a:solidFill>
                <a:prstDash val="solid"/>
                <a:miter/>
              </a:ln>
            </p:spPr>
          </p:sp>
          <p:sp>
            <p:nvSpPr>
              <p:cNvPr id="15" name="TextBox 15"/>
              <p:cNvSpPr txBox="1"/>
              <p:nvPr/>
            </p:nvSpPr>
            <p:spPr>
              <a:xfrm>
                <a:off x="0" y="-38100"/>
                <a:ext cx="6604000" cy="2959100"/>
              </a:xfrm>
              <a:prstGeom prst="rect">
                <a:avLst/>
              </a:prstGeom>
            </p:spPr>
            <p:txBody>
              <a:bodyPr lIns="50800" tIns="50800" rIns="50800" bIns="50800" rtlCol="0" anchor="ctr"/>
              <a:lstStyle/>
              <a:p>
                <a:pPr algn="l">
                  <a:lnSpc>
                    <a:spcPts val="1679"/>
                  </a:lnSpc>
                </a:pPr>
                <a:endParaRPr/>
              </a:p>
            </p:txBody>
          </p:sp>
        </p:grpSp>
        <p:grpSp>
          <p:nvGrpSpPr>
            <p:cNvPr id="16" name="Group 16"/>
            <p:cNvGrpSpPr/>
            <p:nvPr/>
          </p:nvGrpSpPr>
          <p:grpSpPr>
            <a:xfrm>
              <a:off x="444500" y="381000"/>
              <a:ext cx="1016000" cy="127000"/>
              <a:chOff x="0" y="0"/>
              <a:chExt cx="1016000" cy="127000"/>
            </a:xfrm>
          </p:grpSpPr>
          <p:sp>
            <p:nvSpPr>
              <p:cNvPr id="17" name="Freeform 17"/>
              <p:cNvSpPr/>
              <p:nvPr/>
            </p:nvSpPr>
            <p:spPr>
              <a:xfrm>
                <a:off x="0" y="0"/>
                <a:ext cx="1016000" cy="127000"/>
              </a:xfrm>
              <a:custGeom>
                <a:avLst/>
                <a:gdLst/>
                <a:ahLst/>
                <a:cxnLst/>
                <a:rect l="l" t="t" r="r" b="b"/>
                <a:pathLst>
                  <a:path w="1016000" h="127000">
                    <a:moveTo>
                      <a:pt x="0" y="0"/>
                    </a:moveTo>
                    <a:lnTo>
                      <a:pt x="1016000" y="0"/>
                    </a:lnTo>
                    <a:lnTo>
                      <a:pt x="1016000" y="127000"/>
                    </a:lnTo>
                    <a:lnTo>
                      <a:pt x="0" y="127000"/>
                    </a:lnTo>
                    <a:close/>
                  </a:path>
                </a:pathLst>
              </a:custGeom>
              <a:solidFill>
                <a:srgbClr val="0AA6A6"/>
              </a:solidFill>
              <a:ln cap="sq">
                <a:noFill/>
                <a:prstDash val="solid"/>
                <a:miter/>
              </a:ln>
            </p:spPr>
          </p:sp>
          <p:sp>
            <p:nvSpPr>
              <p:cNvPr id="18" name="TextBox 18"/>
              <p:cNvSpPr txBox="1"/>
              <p:nvPr/>
            </p:nvSpPr>
            <p:spPr>
              <a:xfrm>
                <a:off x="0" y="-38100"/>
                <a:ext cx="1016000" cy="165100"/>
              </a:xfrm>
              <a:prstGeom prst="rect">
                <a:avLst/>
              </a:prstGeom>
            </p:spPr>
            <p:txBody>
              <a:bodyPr lIns="50800" tIns="50800" rIns="50800" bIns="50800" rtlCol="0" anchor="ctr"/>
              <a:lstStyle/>
              <a:p>
                <a:pPr algn="l">
                  <a:lnSpc>
                    <a:spcPts val="1679"/>
                  </a:lnSpc>
                </a:pPr>
                <a:endParaRPr/>
              </a:p>
            </p:txBody>
          </p:sp>
        </p:grpSp>
        <p:sp>
          <p:nvSpPr>
            <p:cNvPr id="19" name="TextBox 19"/>
            <p:cNvSpPr txBox="1"/>
            <p:nvPr/>
          </p:nvSpPr>
          <p:spPr>
            <a:xfrm>
              <a:off x="444500" y="889000"/>
              <a:ext cx="5461000" cy="966216"/>
            </a:xfrm>
            <a:prstGeom prst="rect">
              <a:avLst/>
            </a:prstGeom>
          </p:spPr>
          <p:txBody>
            <a:bodyPr lIns="0" tIns="0" rIns="0" bIns="0" rtlCol="0" anchor="t">
              <a:spAutoFit/>
            </a:bodyPr>
            <a:lstStyle/>
            <a:p>
              <a:pPr algn="l">
                <a:lnSpc>
                  <a:spcPts val="2754"/>
                </a:lnSpc>
              </a:pPr>
              <a:r>
                <a:rPr lang="en-US" sz="2550" b="1">
                  <a:solidFill>
                    <a:srgbClr val="102A3A"/>
                  </a:solidFill>
                  <a:latin typeface="Poppins Bold"/>
                  <a:ea typeface="Poppins Bold"/>
                  <a:cs typeface="Poppins Bold"/>
                  <a:sym typeface="Poppins Bold"/>
                </a:rPr>
                <a:t>Prescription</a:t>
              </a:r>
            </a:p>
            <a:p>
              <a:pPr algn="l">
                <a:lnSpc>
                  <a:spcPts val="2754"/>
                </a:lnSpc>
              </a:pPr>
              <a:r>
                <a:rPr lang="en-US" sz="2550" b="1">
                  <a:solidFill>
                    <a:srgbClr val="102A3A"/>
                  </a:solidFill>
                  <a:latin typeface="Poppins Bold"/>
                  <a:ea typeface="Poppins Bold"/>
                  <a:cs typeface="Poppins Bold"/>
                  <a:sym typeface="Poppins Bold"/>
                </a:rPr>
                <a:t>organization</a:t>
              </a:r>
            </a:p>
          </p:txBody>
        </p:sp>
      </p:grpSp>
      <p:grpSp>
        <p:nvGrpSpPr>
          <p:cNvPr id="20" name="Group 20"/>
          <p:cNvGrpSpPr/>
          <p:nvPr/>
        </p:nvGrpSpPr>
        <p:grpSpPr>
          <a:xfrm>
            <a:off x="12001500" y="2857500"/>
            <a:ext cx="4953000" cy="2190750"/>
            <a:chOff x="0" y="0"/>
            <a:chExt cx="6604000" cy="2921000"/>
          </a:xfrm>
        </p:grpSpPr>
        <p:grpSp>
          <p:nvGrpSpPr>
            <p:cNvPr id="21" name="Group 21"/>
            <p:cNvGrpSpPr/>
            <p:nvPr/>
          </p:nvGrpSpPr>
          <p:grpSpPr>
            <a:xfrm>
              <a:off x="0" y="0"/>
              <a:ext cx="6604000" cy="2921000"/>
              <a:chOff x="0" y="0"/>
              <a:chExt cx="6604000" cy="2921000"/>
            </a:xfrm>
          </p:grpSpPr>
          <p:sp>
            <p:nvSpPr>
              <p:cNvPr id="22" name="Freeform 22"/>
              <p:cNvSpPr/>
              <p:nvPr/>
            </p:nvSpPr>
            <p:spPr>
              <a:xfrm>
                <a:off x="0" y="0"/>
                <a:ext cx="6604000" cy="2921000"/>
              </a:xfrm>
              <a:custGeom>
                <a:avLst/>
                <a:gdLst/>
                <a:ahLst/>
                <a:cxnLst/>
                <a:rect l="l" t="t" r="r" b="b"/>
                <a:pathLst>
                  <a:path w="6604000" h="2921000">
                    <a:moveTo>
                      <a:pt x="0" y="0"/>
                    </a:moveTo>
                    <a:lnTo>
                      <a:pt x="6604000" y="0"/>
                    </a:lnTo>
                    <a:lnTo>
                      <a:pt x="6604000" y="2921000"/>
                    </a:lnTo>
                    <a:lnTo>
                      <a:pt x="0" y="2921000"/>
                    </a:lnTo>
                    <a:close/>
                  </a:path>
                </a:pathLst>
              </a:custGeom>
              <a:solidFill>
                <a:srgbClr val="FFFFFF"/>
              </a:solidFill>
              <a:ln w="19050" cap="sq">
                <a:solidFill>
                  <a:srgbClr val="B9D2D4"/>
                </a:solidFill>
                <a:prstDash val="solid"/>
                <a:miter/>
              </a:ln>
            </p:spPr>
          </p:sp>
          <p:sp>
            <p:nvSpPr>
              <p:cNvPr id="23" name="TextBox 23"/>
              <p:cNvSpPr txBox="1"/>
              <p:nvPr/>
            </p:nvSpPr>
            <p:spPr>
              <a:xfrm>
                <a:off x="0" y="-38100"/>
                <a:ext cx="6604000" cy="2959100"/>
              </a:xfrm>
              <a:prstGeom prst="rect">
                <a:avLst/>
              </a:prstGeom>
            </p:spPr>
            <p:txBody>
              <a:bodyPr lIns="50800" tIns="50800" rIns="50800" bIns="50800" rtlCol="0" anchor="ctr"/>
              <a:lstStyle/>
              <a:p>
                <a:pPr algn="l">
                  <a:lnSpc>
                    <a:spcPts val="1679"/>
                  </a:lnSpc>
                </a:pPr>
                <a:endParaRPr/>
              </a:p>
            </p:txBody>
          </p:sp>
        </p:grpSp>
        <p:grpSp>
          <p:nvGrpSpPr>
            <p:cNvPr id="24" name="Group 24"/>
            <p:cNvGrpSpPr/>
            <p:nvPr/>
          </p:nvGrpSpPr>
          <p:grpSpPr>
            <a:xfrm>
              <a:off x="444500" y="381000"/>
              <a:ext cx="1016000" cy="127000"/>
              <a:chOff x="0" y="0"/>
              <a:chExt cx="1016000" cy="127000"/>
            </a:xfrm>
          </p:grpSpPr>
          <p:sp>
            <p:nvSpPr>
              <p:cNvPr id="25" name="Freeform 25"/>
              <p:cNvSpPr/>
              <p:nvPr/>
            </p:nvSpPr>
            <p:spPr>
              <a:xfrm>
                <a:off x="0" y="0"/>
                <a:ext cx="1016000" cy="127000"/>
              </a:xfrm>
              <a:custGeom>
                <a:avLst/>
                <a:gdLst/>
                <a:ahLst/>
                <a:cxnLst/>
                <a:rect l="l" t="t" r="r" b="b"/>
                <a:pathLst>
                  <a:path w="1016000" h="127000">
                    <a:moveTo>
                      <a:pt x="0" y="0"/>
                    </a:moveTo>
                    <a:lnTo>
                      <a:pt x="1016000" y="0"/>
                    </a:lnTo>
                    <a:lnTo>
                      <a:pt x="1016000" y="127000"/>
                    </a:lnTo>
                    <a:lnTo>
                      <a:pt x="0" y="127000"/>
                    </a:lnTo>
                    <a:close/>
                  </a:path>
                </a:pathLst>
              </a:custGeom>
              <a:solidFill>
                <a:srgbClr val="0AA6A6"/>
              </a:solidFill>
              <a:ln cap="sq">
                <a:noFill/>
                <a:prstDash val="solid"/>
                <a:miter/>
              </a:ln>
            </p:spPr>
          </p:sp>
          <p:sp>
            <p:nvSpPr>
              <p:cNvPr id="26" name="TextBox 26"/>
              <p:cNvSpPr txBox="1"/>
              <p:nvPr/>
            </p:nvSpPr>
            <p:spPr>
              <a:xfrm>
                <a:off x="0" y="-38100"/>
                <a:ext cx="1016000" cy="165100"/>
              </a:xfrm>
              <a:prstGeom prst="rect">
                <a:avLst/>
              </a:prstGeom>
            </p:spPr>
            <p:txBody>
              <a:bodyPr lIns="50800" tIns="50800" rIns="50800" bIns="50800" rtlCol="0" anchor="ctr"/>
              <a:lstStyle/>
              <a:p>
                <a:pPr algn="l">
                  <a:lnSpc>
                    <a:spcPts val="1679"/>
                  </a:lnSpc>
                </a:pPr>
                <a:endParaRPr/>
              </a:p>
            </p:txBody>
          </p:sp>
        </p:grpSp>
        <p:sp>
          <p:nvSpPr>
            <p:cNvPr id="27" name="TextBox 27"/>
            <p:cNvSpPr txBox="1"/>
            <p:nvPr/>
          </p:nvSpPr>
          <p:spPr>
            <a:xfrm>
              <a:off x="444500" y="889000"/>
              <a:ext cx="5461000" cy="966216"/>
            </a:xfrm>
            <a:prstGeom prst="rect">
              <a:avLst/>
            </a:prstGeom>
          </p:spPr>
          <p:txBody>
            <a:bodyPr lIns="0" tIns="0" rIns="0" bIns="0" rtlCol="0" anchor="t">
              <a:spAutoFit/>
            </a:bodyPr>
            <a:lstStyle/>
            <a:p>
              <a:pPr algn="l">
                <a:lnSpc>
                  <a:spcPts val="2754"/>
                </a:lnSpc>
              </a:pPr>
              <a:r>
                <a:rPr lang="en-US" sz="2550" b="1">
                  <a:solidFill>
                    <a:srgbClr val="102A3A"/>
                  </a:solidFill>
                  <a:latin typeface="Poppins Bold"/>
                  <a:ea typeface="Poppins Bold"/>
                  <a:cs typeface="Poppins Bold"/>
                  <a:sym typeface="Poppins Bold"/>
                </a:rPr>
                <a:t>Personalized</a:t>
              </a:r>
            </a:p>
            <a:p>
              <a:pPr algn="l">
                <a:lnSpc>
                  <a:spcPts val="2754"/>
                </a:lnSpc>
              </a:pPr>
              <a:r>
                <a:rPr lang="en-US" sz="2550" b="1">
                  <a:solidFill>
                    <a:srgbClr val="102A3A"/>
                  </a:solidFill>
                  <a:latin typeface="Poppins Bold"/>
                  <a:ea typeface="Poppins Bold"/>
                  <a:cs typeface="Poppins Bold"/>
                  <a:sym typeface="Poppins Bold"/>
                </a:rPr>
                <a:t>reminders</a:t>
              </a:r>
            </a:p>
          </p:txBody>
        </p:sp>
      </p:grpSp>
      <p:grpSp>
        <p:nvGrpSpPr>
          <p:cNvPr id="28" name="Group 28"/>
          <p:cNvGrpSpPr/>
          <p:nvPr/>
        </p:nvGrpSpPr>
        <p:grpSpPr>
          <a:xfrm>
            <a:off x="952500" y="5619750"/>
            <a:ext cx="4953000" cy="2190750"/>
            <a:chOff x="0" y="0"/>
            <a:chExt cx="6604000" cy="2921000"/>
          </a:xfrm>
        </p:grpSpPr>
        <p:grpSp>
          <p:nvGrpSpPr>
            <p:cNvPr id="29" name="Group 29"/>
            <p:cNvGrpSpPr/>
            <p:nvPr/>
          </p:nvGrpSpPr>
          <p:grpSpPr>
            <a:xfrm>
              <a:off x="0" y="0"/>
              <a:ext cx="6604000" cy="2921000"/>
              <a:chOff x="0" y="0"/>
              <a:chExt cx="6604000" cy="2921000"/>
            </a:xfrm>
          </p:grpSpPr>
          <p:sp>
            <p:nvSpPr>
              <p:cNvPr id="30" name="Freeform 30"/>
              <p:cNvSpPr/>
              <p:nvPr/>
            </p:nvSpPr>
            <p:spPr>
              <a:xfrm>
                <a:off x="0" y="0"/>
                <a:ext cx="6604000" cy="2921000"/>
              </a:xfrm>
              <a:custGeom>
                <a:avLst/>
                <a:gdLst/>
                <a:ahLst/>
                <a:cxnLst/>
                <a:rect l="l" t="t" r="r" b="b"/>
                <a:pathLst>
                  <a:path w="6604000" h="2921000">
                    <a:moveTo>
                      <a:pt x="0" y="0"/>
                    </a:moveTo>
                    <a:lnTo>
                      <a:pt x="6604000" y="0"/>
                    </a:lnTo>
                    <a:lnTo>
                      <a:pt x="6604000" y="2921000"/>
                    </a:lnTo>
                    <a:lnTo>
                      <a:pt x="0" y="2921000"/>
                    </a:lnTo>
                    <a:close/>
                  </a:path>
                </a:pathLst>
              </a:custGeom>
              <a:solidFill>
                <a:srgbClr val="FFFFFF"/>
              </a:solidFill>
              <a:ln w="19050" cap="sq">
                <a:solidFill>
                  <a:srgbClr val="B9D2D4"/>
                </a:solidFill>
                <a:prstDash val="solid"/>
                <a:miter/>
              </a:ln>
            </p:spPr>
          </p:sp>
          <p:sp>
            <p:nvSpPr>
              <p:cNvPr id="31" name="TextBox 31"/>
              <p:cNvSpPr txBox="1"/>
              <p:nvPr/>
            </p:nvSpPr>
            <p:spPr>
              <a:xfrm>
                <a:off x="0" y="-38100"/>
                <a:ext cx="6604000" cy="2959100"/>
              </a:xfrm>
              <a:prstGeom prst="rect">
                <a:avLst/>
              </a:prstGeom>
            </p:spPr>
            <p:txBody>
              <a:bodyPr lIns="50800" tIns="50800" rIns="50800" bIns="50800" rtlCol="0" anchor="ctr"/>
              <a:lstStyle/>
              <a:p>
                <a:pPr algn="l">
                  <a:lnSpc>
                    <a:spcPts val="1679"/>
                  </a:lnSpc>
                </a:pPr>
                <a:endParaRPr/>
              </a:p>
            </p:txBody>
          </p:sp>
        </p:grpSp>
        <p:grpSp>
          <p:nvGrpSpPr>
            <p:cNvPr id="32" name="Group 32"/>
            <p:cNvGrpSpPr/>
            <p:nvPr/>
          </p:nvGrpSpPr>
          <p:grpSpPr>
            <a:xfrm>
              <a:off x="444500" y="381000"/>
              <a:ext cx="1016000" cy="127000"/>
              <a:chOff x="0" y="0"/>
              <a:chExt cx="1016000" cy="127000"/>
            </a:xfrm>
          </p:grpSpPr>
          <p:sp>
            <p:nvSpPr>
              <p:cNvPr id="33" name="Freeform 33"/>
              <p:cNvSpPr/>
              <p:nvPr/>
            </p:nvSpPr>
            <p:spPr>
              <a:xfrm>
                <a:off x="0" y="0"/>
                <a:ext cx="1016000" cy="127000"/>
              </a:xfrm>
              <a:custGeom>
                <a:avLst/>
                <a:gdLst/>
                <a:ahLst/>
                <a:cxnLst/>
                <a:rect l="l" t="t" r="r" b="b"/>
                <a:pathLst>
                  <a:path w="1016000" h="127000">
                    <a:moveTo>
                      <a:pt x="0" y="0"/>
                    </a:moveTo>
                    <a:lnTo>
                      <a:pt x="1016000" y="0"/>
                    </a:lnTo>
                    <a:lnTo>
                      <a:pt x="1016000" y="127000"/>
                    </a:lnTo>
                    <a:lnTo>
                      <a:pt x="0" y="127000"/>
                    </a:lnTo>
                    <a:close/>
                  </a:path>
                </a:pathLst>
              </a:custGeom>
              <a:solidFill>
                <a:srgbClr val="0AA6A6"/>
              </a:solidFill>
              <a:ln cap="sq">
                <a:noFill/>
                <a:prstDash val="solid"/>
                <a:miter/>
              </a:ln>
            </p:spPr>
          </p:sp>
          <p:sp>
            <p:nvSpPr>
              <p:cNvPr id="34" name="TextBox 34"/>
              <p:cNvSpPr txBox="1"/>
              <p:nvPr/>
            </p:nvSpPr>
            <p:spPr>
              <a:xfrm>
                <a:off x="0" y="-38100"/>
                <a:ext cx="1016000" cy="165100"/>
              </a:xfrm>
              <a:prstGeom prst="rect">
                <a:avLst/>
              </a:prstGeom>
            </p:spPr>
            <p:txBody>
              <a:bodyPr lIns="50800" tIns="50800" rIns="50800" bIns="50800" rtlCol="0" anchor="ctr"/>
              <a:lstStyle/>
              <a:p>
                <a:pPr algn="l">
                  <a:lnSpc>
                    <a:spcPts val="1679"/>
                  </a:lnSpc>
                </a:pPr>
                <a:endParaRPr/>
              </a:p>
            </p:txBody>
          </p:sp>
        </p:grpSp>
        <p:sp>
          <p:nvSpPr>
            <p:cNvPr id="35" name="TextBox 35"/>
            <p:cNvSpPr txBox="1"/>
            <p:nvPr/>
          </p:nvSpPr>
          <p:spPr>
            <a:xfrm>
              <a:off x="444500" y="889000"/>
              <a:ext cx="5461000" cy="966216"/>
            </a:xfrm>
            <a:prstGeom prst="rect">
              <a:avLst/>
            </a:prstGeom>
          </p:spPr>
          <p:txBody>
            <a:bodyPr lIns="0" tIns="0" rIns="0" bIns="0" rtlCol="0" anchor="t">
              <a:spAutoFit/>
            </a:bodyPr>
            <a:lstStyle/>
            <a:p>
              <a:pPr algn="l">
                <a:lnSpc>
                  <a:spcPts val="2754"/>
                </a:lnSpc>
              </a:pPr>
              <a:r>
                <a:rPr lang="en-US" sz="2550" b="1">
                  <a:solidFill>
                    <a:srgbClr val="102A3A"/>
                  </a:solidFill>
                  <a:latin typeface="Poppins Bold"/>
                  <a:ea typeface="Poppins Bold"/>
                  <a:cs typeface="Poppins Bold"/>
                  <a:sym typeface="Poppins Bold"/>
                </a:rPr>
                <a:t>Module-based</a:t>
              </a:r>
            </a:p>
            <a:p>
              <a:pPr algn="l">
                <a:lnSpc>
                  <a:spcPts val="2754"/>
                </a:lnSpc>
              </a:pPr>
              <a:r>
                <a:rPr lang="en-US" sz="2550" b="1">
                  <a:solidFill>
                    <a:srgbClr val="102A3A"/>
                  </a:solidFill>
                  <a:latin typeface="Poppins Bold"/>
                  <a:ea typeface="Poppins Bold"/>
                  <a:cs typeface="Poppins Bold"/>
                  <a:sym typeface="Poppins Bold"/>
                </a:rPr>
                <a:t>navigation</a:t>
              </a:r>
            </a:p>
          </p:txBody>
        </p:sp>
      </p:grpSp>
      <p:grpSp>
        <p:nvGrpSpPr>
          <p:cNvPr id="36" name="Group 36"/>
          <p:cNvGrpSpPr/>
          <p:nvPr/>
        </p:nvGrpSpPr>
        <p:grpSpPr>
          <a:xfrm>
            <a:off x="6477000" y="5619750"/>
            <a:ext cx="4953000" cy="2190750"/>
            <a:chOff x="0" y="0"/>
            <a:chExt cx="6604000" cy="2921000"/>
          </a:xfrm>
        </p:grpSpPr>
        <p:grpSp>
          <p:nvGrpSpPr>
            <p:cNvPr id="37" name="Group 37"/>
            <p:cNvGrpSpPr/>
            <p:nvPr/>
          </p:nvGrpSpPr>
          <p:grpSpPr>
            <a:xfrm>
              <a:off x="0" y="0"/>
              <a:ext cx="6604000" cy="2921000"/>
              <a:chOff x="0" y="0"/>
              <a:chExt cx="6604000" cy="2921000"/>
            </a:xfrm>
          </p:grpSpPr>
          <p:sp>
            <p:nvSpPr>
              <p:cNvPr id="38" name="Freeform 38"/>
              <p:cNvSpPr/>
              <p:nvPr/>
            </p:nvSpPr>
            <p:spPr>
              <a:xfrm>
                <a:off x="0" y="0"/>
                <a:ext cx="6604000" cy="2921000"/>
              </a:xfrm>
              <a:custGeom>
                <a:avLst/>
                <a:gdLst/>
                <a:ahLst/>
                <a:cxnLst/>
                <a:rect l="l" t="t" r="r" b="b"/>
                <a:pathLst>
                  <a:path w="6604000" h="2921000">
                    <a:moveTo>
                      <a:pt x="0" y="0"/>
                    </a:moveTo>
                    <a:lnTo>
                      <a:pt x="6604000" y="0"/>
                    </a:lnTo>
                    <a:lnTo>
                      <a:pt x="6604000" y="2921000"/>
                    </a:lnTo>
                    <a:lnTo>
                      <a:pt x="0" y="2921000"/>
                    </a:lnTo>
                    <a:close/>
                  </a:path>
                </a:pathLst>
              </a:custGeom>
              <a:solidFill>
                <a:srgbClr val="D9F2EF"/>
              </a:solidFill>
              <a:ln w="19050" cap="sq">
                <a:solidFill>
                  <a:srgbClr val="B9D2D4"/>
                </a:solidFill>
                <a:prstDash val="solid"/>
                <a:miter/>
              </a:ln>
            </p:spPr>
          </p:sp>
          <p:sp>
            <p:nvSpPr>
              <p:cNvPr id="39" name="TextBox 39"/>
              <p:cNvSpPr txBox="1"/>
              <p:nvPr/>
            </p:nvSpPr>
            <p:spPr>
              <a:xfrm>
                <a:off x="0" y="-38100"/>
                <a:ext cx="6604000" cy="2959100"/>
              </a:xfrm>
              <a:prstGeom prst="rect">
                <a:avLst/>
              </a:prstGeom>
            </p:spPr>
            <p:txBody>
              <a:bodyPr lIns="50800" tIns="50800" rIns="50800" bIns="50800" rtlCol="0" anchor="ctr"/>
              <a:lstStyle/>
              <a:p>
                <a:pPr algn="l">
                  <a:lnSpc>
                    <a:spcPts val="1679"/>
                  </a:lnSpc>
                </a:pPr>
                <a:endParaRPr/>
              </a:p>
            </p:txBody>
          </p:sp>
        </p:grpSp>
        <p:grpSp>
          <p:nvGrpSpPr>
            <p:cNvPr id="40" name="Group 40"/>
            <p:cNvGrpSpPr/>
            <p:nvPr/>
          </p:nvGrpSpPr>
          <p:grpSpPr>
            <a:xfrm>
              <a:off x="444500" y="381000"/>
              <a:ext cx="1016000" cy="127000"/>
              <a:chOff x="0" y="0"/>
              <a:chExt cx="1016000" cy="127000"/>
            </a:xfrm>
          </p:grpSpPr>
          <p:sp>
            <p:nvSpPr>
              <p:cNvPr id="41" name="Freeform 41"/>
              <p:cNvSpPr/>
              <p:nvPr/>
            </p:nvSpPr>
            <p:spPr>
              <a:xfrm>
                <a:off x="0" y="0"/>
                <a:ext cx="1016000" cy="127000"/>
              </a:xfrm>
              <a:custGeom>
                <a:avLst/>
                <a:gdLst/>
                <a:ahLst/>
                <a:cxnLst/>
                <a:rect l="l" t="t" r="r" b="b"/>
                <a:pathLst>
                  <a:path w="1016000" h="127000">
                    <a:moveTo>
                      <a:pt x="0" y="0"/>
                    </a:moveTo>
                    <a:lnTo>
                      <a:pt x="1016000" y="0"/>
                    </a:lnTo>
                    <a:lnTo>
                      <a:pt x="1016000" y="127000"/>
                    </a:lnTo>
                    <a:lnTo>
                      <a:pt x="0" y="127000"/>
                    </a:lnTo>
                    <a:close/>
                  </a:path>
                </a:pathLst>
              </a:custGeom>
              <a:solidFill>
                <a:srgbClr val="0AA6A6"/>
              </a:solidFill>
              <a:ln cap="sq">
                <a:noFill/>
                <a:prstDash val="solid"/>
                <a:miter/>
              </a:ln>
            </p:spPr>
          </p:sp>
          <p:sp>
            <p:nvSpPr>
              <p:cNvPr id="42" name="TextBox 42"/>
              <p:cNvSpPr txBox="1"/>
              <p:nvPr/>
            </p:nvSpPr>
            <p:spPr>
              <a:xfrm>
                <a:off x="0" y="-38100"/>
                <a:ext cx="1016000" cy="165100"/>
              </a:xfrm>
              <a:prstGeom prst="rect">
                <a:avLst/>
              </a:prstGeom>
            </p:spPr>
            <p:txBody>
              <a:bodyPr lIns="50800" tIns="50800" rIns="50800" bIns="50800" rtlCol="0" anchor="ctr"/>
              <a:lstStyle/>
              <a:p>
                <a:pPr algn="l">
                  <a:lnSpc>
                    <a:spcPts val="1679"/>
                  </a:lnSpc>
                </a:pPr>
                <a:endParaRPr/>
              </a:p>
            </p:txBody>
          </p:sp>
        </p:grpSp>
        <p:sp>
          <p:nvSpPr>
            <p:cNvPr id="43" name="TextBox 43"/>
            <p:cNvSpPr txBox="1"/>
            <p:nvPr/>
          </p:nvSpPr>
          <p:spPr>
            <a:xfrm>
              <a:off x="444500" y="889000"/>
              <a:ext cx="5461000" cy="966216"/>
            </a:xfrm>
            <a:prstGeom prst="rect">
              <a:avLst/>
            </a:prstGeom>
          </p:spPr>
          <p:txBody>
            <a:bodyPr lIns="0" tIns="0" rIns="0" bIns="0" rtlCol="0" anchor="t">
              <a:spAutoFit/>
            </a:bodyPr>
            <a:lstStyle/>
            <a:p>
              <a:pPr algn="l">
                <a:lnSpc>
                  <a:spcPts val="2754"/>
                </a:lnSpc>
              </a:pPr>
              <a:r>
                <a:rPr lang="en-US" sz="2550" b="1">
                  <a:solidFill>
                    <a:srgbClr val="102A3A"/>
                  </a:solidFill>
                  <a:latin typeface="Poppins Bold"/>
                  <a:ea typeface="Poppins Bold"/>
                  <a:cs typeface="Poppins Bold"/>
                  <a:sym typeface="Poppins Bold"/>
                </a:rPr>
                <a:t>Conceptual secure</a:t>
              </a:r>
            </a:p>
            <a:p>
              <a:pPr algn="l">
                <a:lnSpc>
                  <a:spcPts val="2754"/>
                </a:lnSpc>
              </a:pPr>
              <a:r>
                <a:rPr lang="en-US" sz="2550" b="1">
                  <a:solidFill>
                    <a:srgbClr val="102A3A"/>
                  </a:solidFill>
                  <a:latin typeface="Poppins Bold"/>
                  <a:ea typeface="Poppins Bold"/>
                  <a:cs typeface="Poppins Bold"/>
                  <a:sym typeface="Poppins Bold"/>
                </a:rPr>
                <a:t>data handling</a:t>
              </a:r>
            </a:p>
          </p:txBody>
        </p:sp>
      </p:grpSp>
      <p:grpSp>
        <p:nvGrpSpPr>
          <p:cNvPr id="44" name="Group 44"/>
          <p:cNvGrpSpPr/>
          <p:nvPr/>
        </p:nvGrpSpPr>
        <p:grpSpPr>
          <a:xfrm>
            <a:off x="12001500" y="5619750"/>
            <a:ext cx="4953000" cy="2190750"/>
            <a:chOff x="0" y="0"/>
            <a:chExt cx="6604000" cy="2921000"/>
          </a:xfrm>
        </p:grpSpPr>
        <p:grpSp>
          <p:nvGrpSpPr>
            <p:cNvPr id="45" name="Group 45"/>
            <p:cNvGrpSpPr/>
            <p:nvPr/>
          </p:nvGrpSpPr>
          <p:grpSpPr>
            <a:xfrm>
              <a:off x="0" y="0"/>
              <a:ext cx="6604000" cy="2921000"/>
              <a:chOff x="0" y="0"/>
              <a:chExt cx="6604000" cy="2921000"/>
            </a:xfrm>
          </p:grpSpPr>
          <p:sp>
            <p:nvSpPr>
              <p:cNvPr id="46" name="Freeform 46"/>
              <p:cNvSpPr/>
              <p:nvPr/>
            </p:nvSpPr>
            <p:spPr>
              <a:xfrm>
                <a:off x="0" y="0"/>
                <a:ext cx="6604000" cy="2921000"/>
              </a:xfrm>
              <a:custGeom>
                <a:avLst/>
                <a:gdLst/>
                <a:ahLst/>
                <a:cxnLst/>
                <a:rect l="l" t="t" r="r" b="b"/>
                <a:pathLst>
                  <a:path w="6604000" h="2921000">
                    <a:moveTo>
                      <a:pt x="0" y="0"/>
                    </a:moveTo>
                    <a:lnTo>
                      <a:pt x="6604000" y="0"/>
                    </a:lnTo>
                    <a:lnTo>
                      <a:pt x="6604000" y="2921000"/>
                    </a:lnTo>
                    <a:lnTo>
                      <a:pt x="0" y="2921000"/>
                    </a:lnTo>
                    <a:close/>
                  </a:path>
                </a:pathLst>
              </a:custGeom>
              <a:solidFill>
                <a:srgbClr val="FFFFFF"/>
              </a:solidFill>
              <a:ln w="19050" cap="sq">
                <a:solidFill>
                  <a:srgbClr val="B9D2D4"/>
                </a:solidFill>
                <a:prstDash val="solid"/>
                <a:miter/>
              </a:ln>
            </p:spPr>
          </p:sp>
          <p:sp>
            <p:nvSpPr>
              <p:cNvPr id="47" name="TextBox 47"/>
              <p:cNvSpPr txBox="1"/>
              <p:nvPr/>
            </p:nvSpPr>
            <p:spPr>
              <a:xfrm>
                <a:off x="0" y="-38100"/>
                <a:ext cx="6604000" cy="2959100"/>
              </a:xfrm>
              <a:prstGeom prst="rect">
                <a:avLst/>
              </a:prstGeom>
            </p:spPr>
            <p:txBody>
              <a:bodyPr lIns="50800" tIns="50800" rIns="50800" bIns="50800" rtlCol="0" anchor="ctr"/>
              <a:lstStyle/>
              <a:p>
                <a:pPr algn="l">
                  <a:lnSpc>
                    <a:spcPts val="1679"/>
                  </a:lnSpc>
                </a:pPr>
                <a:endParaRPr/>
              </a:p>
            </p:txBody>
          </p:sp>
        </p:grpSp>
        <p:grpSp>
          <p:nvGrpSpPr>
            <p:cNvPr id="48" name="Group 48"/>
            <p:cNvGrpSpPr/>
            <p:nvPr/>
          </p:nvGrpSpPr>
          <p:grpSpPr>
            <a:xfrm>
              <a:off x="444500" y="381000"/>
              <a:ext cx="1016000" cy="127000"/>
              <a:chOff x="0" y="0"/>
              <a:chExt cx="1016000" cy="127000"/>
            </a:xfrm>
          </p:grpSpPr>
          <p:sp>
            <p:nvSpPr>
              <p:cNvPr id="49" name="Freeform 49"/>
              <p:cNvSpPr/>
              <p:nvPr/>
            </p:nvSpPr>
            <p:spPr>
              <a:xfrm>
                <a:off x="0" y="0"/>
                <a:ext cx="1016000" cy="127000"/>
              </a:xfrm>
              <a:custGeom>
                <a:avLst/>
                <a:gdLst/>
                <a:ahLst/>
                <a:cxnLst/>
                <a:rect l="l" t="t" r="r" b="b"/>
                <a:pathLst>
                  <a:path w="1016000" h="127000">
                    <a:moveTo>
                      <a:pt x="0" y="0"/>
                    </a:moveTo>
                    <a:lnTo>
                      <a:pt x="1016000" y="0"/>
                    </a:lnTo>
                    <a:lnTo>
                      <a:pt x="1016000" y="127000"/>
                    </a:lnTo>
                    <a:lnTo>
                      <a:pt x="0" y="127000"/>
                    </a:lnTo>
                    <a:close/>
                  </a:path>
                </a:pathLst>
              </a:custGeom>
              <a:solidFill>
                <a:srgbClr val="0AA6A6"/>
              </a:solidFill>
              <a:ln cap="sq">
                <a:noFill/>
                <a:prstDash val="solid"/>
                <a:miter/>
              </a:ln>
            </p:spPr>
          </p:sp>
          <p:sp>
            <p:nvSpPr>
              <p:cNvPr id="50" name="TextBox 50"/>
              <p:cNvSpPr txBox="1"/>
              <p:nvPr/>
            </p:nvSpPr>
            <p:spPr>
              <a:xfrm>
                <a:off x="0" y="-38100"/>
                <a:ext cx="1016000" cy="165100"/>
              </a:xfrm>
              <a:prstGeom prst="rect">
                <a:avLst/>
              </a:prstGeom>
            </p:spPr>
            <p:txBody>
              <a:bodyPr lIns="50800" tIns="50800" rIns="50800" bIns="50800" rtlCol="0" anchor="ctr"/>
              <a:lstStyle/>
              <a:p>
                <a:pPr algn="l">
                  <a:lnSpc>
                    <a:spcPts val="1679"/>
                  </a:lnSpc>
                </a:pPr>
                <a:endParaRPr/>
              </a:p>
            </p:txBody>
          </p:sp>
        </p:grpSp>
        <p:sp>
          <p:nvSpPr>
            <p:cNvPr id="51" name="TextBox 51"/>
            <p:cNvSpPr txBox="1"/>
            <p:nvPr/>
          </p:nvSpPr>
          <p:spPr>
            <a:xfrm>
              <a:off x="444500" y="889000"/>
              <a:ext cx="5461000" cy="966216"/>
            </a:xfrm>
            <a:prstGeom prst="rect">
              <a:avLst/>
            </a:prstGeom>
          </p:spPr>
          <p:txBody>
            <a:bodyPr lIns="0" tIns="0" rIns="0" bIns="0" rtlCol="0" anchor="t">
              <a:spAutoFit/>
            </a:bodyPr>
            <a:lstStyle/>
            <a:p>
              <a:pPr algn="l">
                <a:lnSpc>
                  <a:spcPts val="2754"/>
                </a:lnSpc>
              </a:pPr>
              <a:r>
                <a:rPr lang="en-US" sz="2550" b="1">
                  <a:solidFill>
                    <a:srgbClr val="102A3A"/>
                  </a:solidFill>
                  <a:latin typeface="Poppins Bold"/>
                  <a:ea typeface="Poppins Bold"/>
                  <a:cs typeface="Poppins Bold"/>
                  <a:sym typeface="Poppins Bold"/>
                </a:rPr>
                <a:t>Efficient</a:t>
              </a:r>
            </a:p>
            <a:p>
              <a:pPr algn="l">
                <a:lnSpc>
                  <a:spcPts val="2754"/>
                </a:lnSpc>
              </a:pPr>
              <a:r>
                <a:rPr lang="en-US" sz="2550" b="1">
                  <a:solidFill>
                    <a:srgbClr val="102A3A"/>
                  </a:solidFill>
                  <a:latin typeface="Poppins Bold"/>
                  <a:ea typeface="Poppins Bold"/>
                  <a:cs typeface="Poppins Bold"/>
                  <a:sym typeface="Poppins Bold"/>
                </a:rPr>
                <a:t>retrieval</a:t>
              </a:r>
            </a:p>
          </p:txBody>
        </p:sp>
      </p:grpSp>
      <p:sp>
        <p:nvSpPr>
          <p:cNvPr id="52" name="AutoShape 52"/>
          <p:cNvSpPr/>
          <p:nvPr/>
        </p:nvSpPr>
        <p:spPr>
          <a:xfrm>
            <a:off x="952500" y="9572625"/>
            <a:ext cx="16383000" cy="0"/>
          </a:xfrm>
          <a:prstGeom prst="line">
            <a:avLst/>
          </a:prstGeom>
          <a:ln w="9525" cap="flat">
            <a:solidFill>
              <a:srgbClr val="B9D2D4"/>
            </a:solidFill>
            <a:prstDash val="solid"/>
            <a:headEnd type="none" w="sm" len="sm"/>
            <a:tailEnd type="none" w="sm" len="sm"/>
          </a:ln>
        </p:spPr>
      </p:sp>
      <p:sp>
        <p:nvSpPr>
          <p:cNvPr id="53" name="TextBox 53"/>
          <p:cNvSpPr txBox="1"/>
          <p:nvPr/>
        </p:nvSpPr>
        <p:spPr>
          <a:xfrm>
            <a:off x="952500" y="9753600"/>
            <a:ext cx="6667500" cy="232410"/>
          </a:xfrm>
          <a:prstGeom prst="rect">
            <a:avLst/>
          </a:prstGeom>
        </p:spPr>
        <p:txBody>
          <a:bodyPr lIns="0" tIns="0" rIns="0" bIns="0" rtlCol="0" anchor="t">
            <a:spAutoFit/>
          </a:bodyPr>
          <a:lstStyle/>
          <a:p>
            <a:pPr algn="l">
              <a:lnSpc>
                <a:spcPts val="1889"/>
              </a:lnSpc>
            </a:pPr>
            <a:r>
              <a:rPr lang="en-US" sz="1350" b="1" spc="108">
                <a:solidFill>
                  <a:srgbClr val="56707C"/>
                </a:solidFill>
                <a:latin typeface="Open Sans Bold"/>
                <a:ea typeface="Open Sans Bold"/>
                <a:cs typeface="Open Sans Bold"/>
                <a:sym typeface="Open Sans Bold"/>
              </a:rPr>
              <a:t>MEDISYNC • MCA PROJECT</a:t>
            </a:r>
          </a:p>
        </p:txBody>
      </p:sp>
      <p:sp>
        <p:nvSpPr>
          <p:cNvPr id="54" name="TextBox 54"/>
          <p:cNvSpPr txBox="1"/>
          <p:nvPr/>
        </p:nvSpPr>
        <p:spPr>
          <a:xfrm>
            <a:off x="15811500" y="9753600"/>
            <a:ext cx="1524000" cy="232410"/>
          </a:xfrm>
          <a:prstGeom prst="rect">
            <a:avLst/>
          </a:prstGeom>
        </p:spPr>
        <p:txBody>
          <a:bodyPr lIns="0" tIns="0" rIns="0" bIns="0" rtlCol="0" anchor="t">
            <a:spAutoFit/>
          </a:bodyPr>
          <a:lstStyle/>
          <a:p>
            <a:pPr algn="r">
              <a:lnSpc>
                <a:spcPts val="1889"/>
              </a:lnSpc>
            </a:pPr>
            <a:r>
              <a:rPr lang="en-US" sz="1350" b="1">
                <a:solidFill>
                  <a:srgbClr val="56707C"/>
                </a:solidFill>
                <a:latin typeface="Open Sans Bold"/>
                <a:ea typeface="Open Sans Bold"/>
                <a:cs typeface="Open Sans Bold"/>
                <a:sym typeface="Open Sans Bold"/>
              </a:rPr>
              <a:t>07 / 18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8F8"/>
        </a:solidFill>
        <a:effectLst/>
      </p:bgPr>
    </p:bg>
    <p:spTree>
      <p:nvGrpSpPr>
        <p:cNvPr id="1" name=""/>
        <p:cNvGrpSpPr/>
        <p:nvPr/>
      </p:nvGrpSpPr>
      <p:grpSpPr>
        <a:xfrm>
          <a:off x="0" y="0"/>
          <a:ext cx="0" cy="0"/>
          <a:chOff x="0" y="0"/>
          <a:chExt cx="0" cy="0"/>
        </a:xfrm>
      </p:grpSpPr>
      <p:grpSp>
        <p:nvGrpSpPr>
          <p:cNvPr id="2" name="Group 2"/>
          <p:cNvGrpSpPr/>
          <p:nvPr/>
        </p:nvGrpSpPr>
        <p:grpSpPr>
          <a:xfrm>
            <a:off x="10651020" y="-182675"/>
            <a:ext cx="14496607" cy="13013996"/>
            <a:chOff x="0" y="0"/>
            <a:chExt cx="3395241" cy="3048000"/>
          </a:xfrm>
        </p:grpSpPr>
        <p:sp>
          <p:nvSpPr>
            <p:cNvPr id="3" name="Freeform 3"/>
            <p:cNvSpPr/>
            <p:nvPr/>
          </p:nvSpPr>
          <p:spPr>
            <a:xfrm>
              <a:off x="0" y="0"/>
              <a:ext cx="3395241" cy="2946400"/>
            </a:xfrm>
            <a:custGeom>
              <a:avLst/>
              <a:gdLst/>
              <a:ahLst/>
              <a:cxnLst/>
              <a:rect l="l" t="t" r="r" b="b"/>
              <a:pathLst>
                <a:path w="3395241" h="2946400">
                  <a:moveTo>
                    <a:pt x="0" y="0"/>
                  </a:moveTo>
                  <a:lnTo>
                    <a:pt x="3395241" y="0"/>
                  </a:lnTo>
                  <a:lnTo>
                    <a:pt x="3395241" y="2946400"/>
                  </a:lnTo>
                  <a:lnTo>
                    <a:pt x="0" y="2946400"/>
                  </a:lnTo>
                  <a:close/>
                </a:path>
              </a:pathLst>
            </a:custGeom>
            <a:solidFill>
              <a:srgbClr val="225C55"/>
            </a:solidFill>
          </p:spPr>
        </p:sp>
        <p:sp>
          <p:nvSpPr>
            <p:cNvPr id="4" name="Freeform 4"/>
            <p:cNvSpPr/>
            <p:nvPr/>
          </p:nvSpPr>
          <p:spPr>
            <a:xfrm>
              <a:off x="0" y="0"/>
              <a:ext cx="3395241" cy="3048000"/>
            </a:xfrm>
            <a:custGeom>
              <a:avLst/>
              <a:gdLst/>
              <a:ahLst/>
              <a:cxnLst/>
              <a:rect l="l" t="t" r="r" b="b"/>
              <a:pathLst>
                <a:path w="3395241" h="3048000">
                  <a:moveTo>
                    <a:pt x="0" y="2946400"/>
                  </a:moveTo>
                  <a:lnTo>
                    <a:pt x="3395241" y="2946400"/>
                  </a:lnTo>
                  <a:lnTo>
                    <a:pt x="3268241" y="3048000"/>
                  </a:lnTo>
                  <a:cubicBezTo>
                    <a:pt x="3268241" y="3048000"/>
                    <a:pt x="2277641" y="2971800"/>
                    <a:pt x="2176041" y="2971800"/>
                  </a:cubicBezTo>
                  <a:lnTo>
                    <a:pt x="1219200" y="2971800"/>
                  </a:lnTo>
                  <a:cubicBezTo>
                    <a:pt x="1117600" y="2971800"/>
                    <a:pt x="127000" y="3048000"/>
                    <a:pt x="127000" y="3048000"/>
                  </a:cubicBezTo>
                  <a:lnTo>
                    <a:pt x="0" y="2946400"/>
                  </a:lnTo>
                  <a:lnTo>
                    <a:pt x="0" y="0"/>
                  </a:lnTo>
                  <a:lnTo>
                    <a:pt x="3395241" y="0"/>
                  </a:lnTo>
                  <a:lnTo>
                    <a:pt x="3395241" y="2946400"/>
                  </a:lnTo>
                  <a:lnTo>
                    <a:pt x="12700" y="2946400"/>
                  </a:lnTo>
                  <a:lnTo>
                    <a:pt x="12700" y="2933700"/>
                  </a:lnTo>
                  <a:lnTo>
                    <a:pt x="3382541" y="2933700"/>
                  </a:lnTo>
                  <a:lnTo>
                    <a:pt x="3382541" y="12700"/>
                  </a:lnTo>
                  <a:lnTo>
                    <a:pt x="12700" y="12700"/>
                  </a:lnTo>
                  <a:lnTo>
                    <a:pt x="12700" y="2946400"/>
                  </a:lnTo>
                </a:path>
              </a:pathLst>
            </a:custGeom>
            <a:solidFill>
              <a:srgbClr val="394C60">
                <a:alpha val="784"/>
              </a:srgbClr>
            </a:solidFill>
          </p:spPr>
        </p:sp>
        <p:sp>
          <p:nvSpPr>
            <p:cNvPr id="5" name="TextBox 5"/>
            <p:cNvSpPr txBox="1"/>
            <p:nvPr/>
          </p:nvSpPr>
          <p:spPr>
            <a:xfrm>
              <a:off x="0" y="-19050"/>
              <a:ext cx="3395241" cy="2508250"/>
            </a:xfrm>
            <a:prstGeom prst="rect">
              <a:avLst/>
            </a:prstGeom>
          </p:spPr>
          <p:txBody>
            <a:bodyPr lIns="1156800" tIns="1156800" rIns="1156800" bIns="1156800" rtlCol="0" anchor="t"/>
            <a:lstStyle/>
            <a:p>
              <a:pPr algn="l">
                <a:lnSpc>
                  <a:spcPts val="1679"/>
                </a:lnSpc>
              </a:pPr>
              <a:endParaRPr/>
            </a:p>
            <a:p>
              <a:pPr algn="l">
                <a:lnSpc>
                  <a:spcPts val="9564"/>
                </a:lnSpc>
              </a:pPr>
              <a:endParaRPr/>
            </a:p>
          </p:txBody>
        </p:sp>
      </p:grpSp>
      <p:sp>
        <p:nvSpPr>
          <p:cNvPr id="6" name="AutoShape 6"/>
          <p:cNvSpPr/>
          <p:nvPr/>
        </p:nvSpPr>
        <p:spPr>
          <a:xfrm>
            <a:off x="952500" y="9572625"/>
            <a:ext cx="16383000" cy="0"/>
          </a:xfrm>
          <a:prstGeom prst="line">
            <a:avLst/>
          </a:prstGeom>
          <a:ln w="9525" cap="flat">
            <a:solidFill>
              <a:srgbClr val="B9D2D4"/>
            </a:solidFill>
            <a:prstDash val="solid"/>
            <a:headEnd type="none" w="sm" len="sm"/>
            <a:tailEnd type="none" w="sm" len="sm"/>
          </a:ln>
        </p:spPr>
      </p:sp>
      <p:grpSp>
        <p:nvGrpSpPr>
          <p:cNvPr id="7" name="Group 7"/>
          <p:cNvGrpSpPr>
            <a:grpSpLocks noChangeAspect="1"/>
          </p:cNvGrpSpPr>
          <p:nvPr/>
        </p:nvGrpSpPr>
        <p:grpSpPr>
          <a:xfrm>
            <a:off x="12534680" y="1071503"/>
            <a:ext cx="4038820" cy="8186797"/>
            <a:chOff x="0" y="0"/>
            <a:chExt cx="9398000" cy="19050000"/>
          </a:xfrm>
        </p:grpSpPr>
        <p:sp>
          <p:nvSpPr>
            <p:cNvPr id="8" name="Freeform 8"/>
            <p:cNvSpPr/>
            <p:nvPr/>
          </p:nvSpPr>
          <p:spPr>
            <a:xfrm>
              <a:off x="401955" y="301498"/>
              <a:ext cx="8566912" cy="18446877"/>
            </a:xfrm>
            <a:custGeom>
              <a:avLst/>
              <a:gdLst/>
              <a:ahLst/>
              <a:cxnLst/>
              <a:rect l="l" t="t" r="r" b="b"/>
              <a:pathLst>
                <a:path w="8566912" h="18446877">
                  <a:moveTo>
                    <a:pt x="7456551" y="18446877"/>
                  </a:moveTo>
                  <a:lnTo>
                    <a:pt x="1125220" y="18446877"/>
                  </a:lnTo>
                  <a:cubicBezTo>
                    <a:pt x="503809" y="18446877"/>
                    <a:pt x="0" y="17943067"/>
                    <a:pt x="0" y="17321657"/>
                  </a:cubicBezTo>
                  <a:lnTo>
                    <a:pt x="0" y="1085342"/>
                  </a:lnTo>
                  <a:cubicBezTo>
                    <a:pt x="0" y="485902"/>
                    <a:pt x="485902" y="0"/>
                    <a:pt x="1085342" y="0"/>
                  </a:cubicBezTo>
                  <a:lnTo>
                    <a:pt x="7504811" y="0"/>
                  </a:lnTo>
                  <a:cubicBezTo>
                    <a:pt x="8091424" y="0"/>
                    <a:pt x="8566912" y="475488"/>
                    <a:pt x="8566912" y="1062101"/>
                  </a:cubicBezTo>
                  <a:lnTo>
                    <a:pt x="8566912" y="17336515"/>
                  </a:lnTo>
                  <a:cubicBezTo>
                    <a:pt x="8566912" y="17949672"/>
                    <a:pt x="8069707" y="18446877"/>
                    <a:pt x="7456551" y="18446877"/>
                  </a:cubicBezTo>
                  <a:close/>
                </a:path>
              </a:pathLst>
            </a:custGeom>
            <a:blipFill>
              <a:blip r:embed="rId2"/>
              <a:stretch>
                <a:fillRect l="-803" r="-803"/>
              </a:stretch>
            </a:blipFill>
          </p:spPr>
        </p:sp>
        <p:sp>
          <p:nvSpPr>
            <p:cNvPr id="9" name="Freeform 9"/>
            <p:cNvSpPr/>
            <p:nvPr/>
          </p:nvSpPr>
          <p:spPr>
            <a:xfrm>
              <a:off x="0" y="0"/>
              <a:ext cx="9398000" cy="19050000"/>
            </a:xfrm>
            <a:custGeom>
              <a:avLst/>
              <a:gdLst/>
              <a:ahLst/>
              <a:cxnLst/>
              <a:rect l="l" t="t" r="r" b="b"/>
              <a:pathLst>
                <a:path w="9398000" h="19050000">
                  <a:moveTo>
                    <a:pt x="9398000" y="19050000"/>
                  </a:moveTo>
                  <a:lnTo>
                    <a:pt x="0" y="19050000"/>
                  </a:lnTo>
                  <a:lnTo>
                    <a:pt x="0" y="0"/>
                  </a:lnTo>
                  <a:lnTo>
                    <a:pt x="9398000" y="0"/>
                  </a:lnTo>
                  <a:lnTo>
                    <a:pt x="9398000" y="19050000"/>
                  </a:lnTo>
                  <a:close/>
                </a:path>
              </a:pathLst>
            </a:custGeom>
            <a:blipFill>
              <a:blip r:embed="rId3"/>
              <a:stretch>
                <a:fillRect l="-42" r="-42"/>
              </a:stretch>
            </a:blipFill>
          </p:spPr>
        </p:sp>
      </p:grpSp>
      <p:sp>
        <p:nvSpPr>
          <p:cNvPr id="10" name="TextBox 10"/>
          <p:cNvSpPr txBox="1"/>
          <p:nvPr/>
        </p:nvSpPr>
        <p:spPr>
          <a:xfrm>
            <a:off x="640138" y="1406893"/>
            <a:ext cx="10393390" cy="720852"/>
          </a:xfrm>
          <a:prstGeom prst="rect">
            <a:avLst/>
          </a:prstGeom>
        </p:spPr>
        <p:txBody>
          <a:bodyPr lIns="0" tIns="0" rIns="0" bIns="0" rtlCol="0" anchor="t">
            <a:spAutoFit/>
          </a:bodyPr>
          <a:lstStyle/>
          <a:p>
            <a:pPr algn="l">
              <a:lnSpc>
                <a:spcPts val="5184"/>
              </a:lnSpc>
            </a:pPr>
            <a:r>
              <a:rPr lang="en-US" sz="4800" b="1">
                <a:solidFill>
                  <a:srgbClr val="102A3A"/>
                </a:solidFill>
                <a:latin typeface="Poppins Bold"/>
                <a:ea typeface="Poppins Bold"/>
                <a:cs typeface="Poppins Bold"/>
                <a:sym typeface="Poppins Bold"/>
              </a:rPr>
              <a:t>Record: organize and retrieve</a:t>
            </a:r>
          </a:p>
        </p:txBody>
      </p:sp>
      <p:sp>
        <p:nvSpPr>
          <p:cNvPr id="11" name="TextBox 11"/>
          <p:cNvSpPr txBox="1"/>
          <p:nvPr/>
        </p:nvSpPr>
        <p:spPr>
          <a:xfrm>
            <a:off x="640138" y="2121268"/>
            <a:ext cx="10046944" cy="334328"/>
          </a:xfrm>
          <a:prstGeom prst="rect">
            <a:avLst/>
          </a:prstGeom>
        </p:spPr>
        <p:txBody>
          <a:bodyPr lIns="0" tIns="0" rIns="0" bIns="0" rtlCol="0" anchor="t">
            <a:spAutoFit/>
          </a:bodyPr>
          <a:lstStyle/>
          <a:p>
            <a:pPr algn="l">
              <a:lnSpc>
                <a:spcPts val="2632"/>
              </a:lnSpc>
            </a:pPr>
            <a:r>
              <a:rPr lang="en-US" sz="1950">
                <a:solidFill>
                  <a:srgbClr val="56707C"/>
                </a:solidFill>
                <a:latin typeface="Open Sans"/>
                <a:ea typeface="Open Sans"/>
                <a:cs typeface="Open Sans"/>
                <a:sym typeface="Open Sans"/>
              </a:rPr>
              <a:t>A dedicated module for personal medical documents and prescriptions.</a:t>
            </a:r>
          </a:p>
        </p:txBody>
      </p:sp>
      <p:sp>
        <p:nvSpPr>
          <p:cNvPr id="12" name="TextBox 12"/>
          <p:cNvSpPr txBox="1"/>
          <p:nvPr/>
        </p:nvSpPr>
        <p:spPr>
          <a:xfrm>
            <a:off x="716338" y="2997787"/>
            <a:ext cx="7115811" cy="5611497"/>
          </a:xfrm>
          <a:prstGeom prst="rect">
            <a:avLst/>
          </a:prstGeom>
        </p:spPr>
        <p:txBody>
          <a:bodyPr lIns="0" tIns="0" rIns="0" bIns="0" rtlCol="0" anchor="t">
            <a:spAutoFit/>
          </a:bodyPr>
          <a:lstStyle/>
          <a:p>
            <a:pPr algn="l">
              <a:lnSpc>
                <a:spcPts val="4991"/>
              </a:lnSpc>
            </a:pPr>
            <a:r>
              <a:rPr lang="en-US" sz="3697">
                <a:solidFill>
                  <a:srgbClr val="56707C"/>
                </a:solidFill>
                <a:latin typeface="Open Sans"/>
                <a:ea typeface="Open Sans"/>
                <a:cs typeface="Open Sans"/>
                <a:sym typeface="Open Sans"/>
              </a:rPr>
              <a:t>• Store medical documents digitally</a:t>
            </a:r>
          </a:p>
          <a:p>
            <a:pPr algn="l">
              <a:lnSpc>
                <a:spcPts val="4991"/>
              </a:lnSpc>
            </a:pPr>
            <a:r>
              <a:rPr lang="en-US" sz="3697">
                <a:solidFill>
                  <a:srgbClr val="56707C"/>
                </a:solidFill>
                <a:latin typeface="Open Sans"/>
                <a:ea typeface="Open Sans"/>
                <a:cs typeface="Open Sans"/>
                <a:sym typeface="Open Sans"/>
              </a:rPr>
              <a:t>• Organize prescriptions for access</a:t>
            </a:r>
          </a:p>
          <a:p>
            <a:pPr algn="l">
              <a:lnSpc>
                <a:spcPts val="4991"/>
              </a:lnSpc>
            </a:pPr>
            <a:r>
              <a:rPr lang="en-US" sz="3697">
                <a:solidFill>
                  <a:srgbClr val="56707C"/>
                </a:solidFill>
                <a:latin typeface="Open Sans"/>
                <a:ea typeface="Open Sans"/>
                <a:cs typeface="Open Sans"/>
                <a:sym typeface="Open Sans"/>
              </a:rPr>
              <a:t>• Retrieve previously saved records</a:t>
            </a:r>
          </a:p>
          <a:p>
            <a:pPr algn="l">
              <a:lnSpc>
                <a:spcPts val="4991"/>
              </a:lnSpc>
            </a:pPr>
            <a:r>
              <a:rPr lang="en-US" sz="3697">
                <a:solidFill>
                  <a:srgbClr val="56707C"/>
                </a:solidFill>
                <a:latin typeface="Open Sans"/>
                <a:ea typeface="Open Sans"/>
                <a:cs typeface="Open Sans"/>
                <a:sym typeface="Open Sans"/>
              </a:rPr>
              <a:t>• Categorize records where supported</a:t>
            </a:r>
          </a:p>
          <a:p>
            <a:pPr algn="l">
              <a:lnSpc>
                <a:spcPts val="4991"/>
              </a:lnSpc>
            </a:pPr>
            <a:r>
              <a:rPr lang="en-US" sz="3697">
                <a:solidFill>
                  <a:srgbClr val="56707C"/>
                </a:solidFill>
                <a:latin typeface="Open Sans"/>
                <a:ea typeface="Open Sans"/>
                <a:cs typeface="Open Sans"/>
                <a:sym typeface="Open Sans"/>
              </a:rPr>
              <a:t>• Simplify document interaction</a:t>
            </a:r>
          </a:p>
        </p:txBody>
      </p:sp>
      <p:sp>
        <p:nvSpPr>
          <p:cNvPr id="13" name="TextBox 13"/>
          <p:cNvSpPr txBox="1"/>
          <p:nvPr/>
        </p:nvSpPr>
        <p:spPr>
          <a:xfrm>
            <a:off x="952500" y="9753600"/>
            <a:ext cx="6667500" cy="232410"/>
          </a:xfrm>
          <a:prstGeom prst="rect">
            <a:avLst/>
          </a:prstGeom>
        </p:spPr>
        <p:txBody>
          <a:bodyPr lIns="0" tIns="0" rIns="0" bIns="0" rtlCol="0" anchor="t">
            <a:spAutoFit/>
          </a:bodyPr>
          <a:lstStyle/>
          <a:p>
            <a:pPr algn="l">
              <a:lnSpc>
                <a:spcPts val="1889"/>
              </a:lnSpc>
            </a:pPr>
            <a:r>
              <a:rPr lang="en-US" sz="1350" b="1" spc="108">
                <a:solidFill>
                  <a:srgbClr val="56707C"/>
                </a:solidFill>
                <a:latin typeface="Open Sans Bold"/>
                <a:ea typeface="Open Sans Bold"/>
                <a:cs typeface="Open Sans Bold"/>
                <a:sym typeface="Open Sans Bold"/>
              </a:rPr>
              <a:t>MEDISYNC • MCA PROJECT</a:t>
            </a:r>
          </a:p>
        </p:txBody>
      </p:sp>
      <p:sp>
        <p:nvSpPr>
          <p:cNvPr id="14" name="TextBox 14"/>
          <p:cNvSpPr txBox="1"/>
          <p:nvPr/>
        </p:nvSpPr>
        <p:spPr>
          <a:xfrm>
            <a:off x="15811500" y="9753600"/>
            <a:ext cx="1524000" cy="232410"/>
          </a:xfrm>
          <a:prstGeom prst="rect">
            <a:avLst/>
          </a:prstGeom>
        </p:spPr>
        <p:txBody>
          <a:bodyPr lIns="0" tIns="0" rIns="0" bIns="0" rtlCol="0" anchor="t">
            <a:spAutoFit/>
          </a:bodyPr>
          <a:lstStyle/>
          <a:p>
            <a:pPr algn="r">
              <a:lnSpc>
                <a:spcPts val="1889"/>
              </a:lnSpc>
            </a:pPr>
            <a:r>
              <a:rPr lang="en-US" sz="1350" b="1">
                <a:solidFill>
                  <a:srgbClr val="56707C"/>
                </a:solidFill>
                <a:latin typeface="Open Sans Bold"/>
                <a:ea typeface="Open Sans Bold"/>
                <a:cs typeface="Open Sans Bold"/>
                <a:sym typeface="Open Sans Bold"/>
              </a:rPr>
              <a:t>08 / 18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8F8"/>
        </a:solidFill>
        <a:effectLst/>
      </p:bgPr>
    </p:bg>
    <p:spTree>
      <p:nvGrpSpPr>
        <p:cNvPr id="1" name=""/>
        <p:cNvGrpSpPr/>
        <p:nvPr/>
      </p:nvGrpSpPr>
      <p:grpSpPr>
        <a:xfrm>
          <a:off x="0" y="0"/>
          <a:ext cx="0" cy="0"/>
          <a:chOff x="0" y="0"/>
          <a:chExt cx="0" cy="0"/>
        </a:xfrm>
      </p:grpSpPr>
      <p:grpSp>
        <p:nvGrpSpPr>
          <p:cNvPr id="2" name="Group 2"/>
          <p:cNvGrpSpPr/>
          <p:nvPr/>
        </p:nvGrpSpPr>
        <p:grpSpPr>
          <a:xfrm>
            <a:off x="-1738245" y="4124767"/>
            <a:ext cx="20890720" cy="4377195"/>
            <a:chOff x="0" y="0"/>
            <a:chExt cx="5502083" cy="1152842"/>
          </a:xfrm>
        </p:grpSpPr>
        <p:sp>
          <p:nvSpPr>
            <p:cNvPr id="3" name="Freeform 3"/>
            <p:cNvSpPr/>
            <p:nvPr/>
          </p:nvSpPr>
          <p:spPr>
            <a:xfrm>
              <a:off x="0" y="0"/>
              <a:ext cx="5502082" cy="1152842"/>
            </a:xfrm>
            <a:custGeom>
              <a:avLst/>
              <a:gdLst/>
              <a:ahLst/>
              <a:cxnLst/>
              <a:rect l="l" t="t" r="r" b="b"/>
              <a:pathLst>
                <a:path w="5502082" h="1152842">
                  <a:moveTo>
                    <a:pt x="0" y="0"/>
                  </a:moveTo>
                  <a:lnTo>
                    <a:pt x="5502082" y="0"/>
                  </a:lnTo>
                  <a:lnTo>
                    <a:pt x="5502082" y="1152842"/>
                  </a:lnTo>
                  <a:lnTo>
                    <a:pt x="0" y="1152842"/>
                  </a:lnTo>
                  <a:close/>
                </a:path>
              </a:pathLst>
            </a:custGeom>
            <a:solidFill>
              <a:srgbClr val="225C55"/>
            </a:solidFill>
          </p:spPr>
        </p:sp>
        <p:sp>
          <p:nvSpPr>
            <p:cNvPr id="4" name="TextBox 4"/>
            <p:cNvSpPr txBox="1"/>
            <p:nvPr/>
          </p:nvSpPr>
          <p:spPr>
            <a:xfrm>
              <a:off x="0" y="-9525"/>
              <a:ext cx="5502083" cy="1162367"/>
            </a:xfrm>
            <a:prstGeom prst="rect">
              <a:avLst/>
            </a:prstGeom>
          </p:spPr>
          <p:txBody>
            <a:bodyPr lIns="50800" tIns="50800" rIns="50800" bIns="50800" rtlCol="0" anchor="ctr"/>
            <a:lstStyle/>
            <a:p>
              <a:pPr algn="ctr">
                <a:lnSpc>
                  <a:spcPts val="2070"/>
                </a:lnSpc>
              </a:pPr>
              <a:endParaRPr/>
            </a:p>
          </p:txBody>
        </p:sp>
      </p:grpSp>
      <p:grpSp>
        <p:nvGrpSpPr>
          <p:cNvPr id="5" name="Group 5"/>
          <p:cNvGrpSpPr>
            <a:grpSpLocks noChangeAspect="1"/>
          </p:cNvGrpSpPr>
          <p:nvPr/>
        </p:nvGrpSpPr>
        <p:grpSpPr>
          <a:xfrm>
            <a:off x="1874856" y="3034142"/>
            <a:ext cx="3194407" cy="6475150"/>
            <a:chOff x="0" y="0"/>
            <a:chExt cx="9398000" cy="19050000"/>
          </a:xfrm>
        </p:grpSpPr>
        <p:sp>
          <p:nvSpPr>
            <p:cNvPr id="6" name="Freeform 6"/>
            <p:cNvSpPr/>
            <p:nvPr/>
          </p:nvSpPr>
          <p:spPr>
            <a:xfrm>
              <a:off x="401955" y="301498"/>
              <a:ext cx="8566912" cy="18446877"/>
            </a:xfrm>
            <a:custGeom>
              <a:avLst/>
              <a:gdLst/>
              <a:ahLst/>
              <a:cxnLst/>
              <a:rect l="l" t="t" r="r" b="b"/>
              <a:pathLst>
                <a:path w="8566912" h="18446877">
                  <a:moveTo>
                    <a:pt x="7456551" y="18446877"/>
                  </a:moveTo>
                  <a:lnTo>
                    <a:pt x="1125220" y="18446877"/>
                  </a:lnTo>
                  <a:cubicBezTo>
                    <a:pt x="503809" y="18446877"/>
                    <a:pt x="0" y="17943067"/>
                    <a:pt x="0" y="17321657"/>
                  </a:cubicBezTo>
                  <a:lnTo>
                    <a:pt x="0" y="1085342"/>
                  </a:lnTo>
                  <a:cubicBezTo>
                    <a:pt x="0" y="485902"/>
                    <a:pt x="485902" y="0"/>
                    <a:pt x="1085342" y="0"/>
                  </a:cubicBezTo>
                  <a:lnTo>
                    <a:pt x="7504811" y="0"/>
                  </a:lnTo>
                  <a:cubicBezTo>
                    <a:pt x="8091424" y="0"/>
                    <a:pt x="8566912" y="475488"/>
                    <a:pt x="8566912" y="1062101"/>
                  </a:cubicBezTo>
                  <a:lnTo>
                    <a:pt x="8566912" y="17336515"/>
                  </a:lnTo>
                  <a:cubicBezTo>
                    <a:pt x="8566912" y="17949672"/>
                    <a:pt x="8069707" y="18446877"/>
                    <a:pt x="7456551" y="18446877"/>
                  </a:cubicBezTo>
                  <a:close/>
                </a:path>
              </a:pathLst>
            </a:custGeom>
            <a:blipFill>
              <a:blip r:embed="rId2"/>
              <a:stretch>
                <a:fillRect l="-534" r="-534"/>
              </a:stretch>
            </a:blipFill>
          </p:spPr>
        </p:sp>
        <p:sp>
          <p:nvSpPr>
            <p:cNvPr id="7" name="Freeform 7"/>
            <p:cNvSpPr/>
            <p:nvPr/>
          </p:nvSpPr>
          <p:spPr>
            <a:xfrm>
              <a:off x="0" y="0"/>
              <a:ext cx="9398000" cy="19050000"/>
            </a:xfrm>
            <a:custGeom>
              <a:avLst/>
              <a:gdLst/>
              <a:ahLst/>
              <a:cxnLst/>
              <a:rect l="l" t="t" r="r" b="b"/>
              <a:pathLst>
                <a:path w="9398000" h="19050000">
                  <a:moveTo>
                    <a:pt x="9398000" y="19050000"/>
                  </a:moveTo>
                  <a:lnTo>
                    <a:pt x="0" y="19050000"/>
                  </a:lnTo>
                  <a:lnTo>
                    <a:pt x="0" y="0"/>
                  </a:lnTo>
                  <a:lnTo>
                    <a:pt x="9398000" y="0"/>
                  </a:lnTo>
                  <a:lnTo>
                    <a:pt x="9398000" y="19050000"/>
                  </a:lnTo>
                  <a:close/>
                </a:path>
              </a:pathLst>
            </a:custGeom>
            <a:blipFill>
              <a:blip r:embed="rId3"/>
              <a:stretch>
                <a:fillRect l="-42" r="-42"/>
              </a:stretch>
            </a:blipFill>
          </p:spPr>
        </p:sp>
      </p:grpSp>
      <p:grpSp>
        <p:nvGrpSpPr>
          <p:cNvPr id="8" name="Group 8"/>
          <p:cNvGrpSpPr>
            <a:grpSpLocks noChangeAspect="1"/>
          </p:cNvGrpSpPr>
          <p:nvPr/>
        </p:nvGrpSpPr>
        <p:grpSpPr>
          <a:xfrm>
            <a:off x="7414071" y="3097475"/>
            <a:ext cx="3194407" cy="6475150"/>
            <a:chOff x="0" y="0"/>
            <a:chExt cx="9398000" cy="19050000"/>
          </a:xfrm>
        </p:grpSpPr>
        <p:sp>
          <p:nvSpPr>
            <p:cNvPr id="9" name="Freeform 9"/>
            <p:cNvSpPr/>
            <p:nvPr/>
          </p:nvSpPr>
          <p:spPr>
            <a:xfrm>
              <a:off x="401955" y="301498"/>
              <a:ext cx="8566912" cy="18446877"/>
            </a:xfrm>
            <a:custGeom>
              <a:avLst/>
              <a:gdLst/>
              <a:ahLst/>
              <a:cxnLst/>
              <a:rect l="l" t="t" r="r" b="b"/>
              <a:pathLst>
                <a:path w="8566912" h="18446877">
                  <a:moveTo>
                    <a:pt x="7456551" y="18446877"/>
                  </a:moveTo>
                  <a:lnTo>
                    <a:pt x="1125220" y="18446877"/>
                  </a:lnTo>
                  <a:cubicBezTo>
                    <a:pt x="503809" y="18446877"/>
                    <a:pt x="0" y="17943067"/>
                    <a:pt x="0" y="17321657"/>
                  </a:cubicBezTo>
                  <a:lnTo>
                    <a:pt x="0" y="1085342"/>
                  </a:lnTo>
                  <a:cubicBezTo>
                    <a:pt x="0" y="485902"/>
                    <a:pt x="485902" y="0"/>
                    <a:pt x="1085342" y="0"/>
                  </a:cubicBezTo>
                  <a:lnTo>
                    <a:pt x="7504811" y="0"/>
                  </a:lnTo>
                  <a:cubicBezTo>
                    <a:pt x="8091424" y="0"/>
                    <a:pt x="8566912" y="475488"/>
                    <a:pt x="8566912" y="1062101"/>
                  </a:cubicBezTo>
                  <a:lnTo>
                    <a:pt x="8566912" y="17336515"/>
                  </a:lnTo>
                  <a:cubicBezTo>
                    <a:pt x="8566912" y="17949672"/>
                    <a:pt x="8069707" y="18446877"/>
                    <a:pt x="7456551" y="18446877"/>
                  </a:cubicBezTo>
                  <a:close/>
                </a:path>
              </a:pathLst>
            </a:custGeom>
            <a:blipFill>
              <a:blip r:embed="rId4"/>
              <a:stretch>
                <a:fillRect l="-669" r="-669"/>
              </a:stretch>
            </a:blipFill>
          </p:spPr>
        </p:sp>
        <p:sp>
          <p:nvSpPr>
            <p:cNvPr id="10" name="Freeform 10"/>
            <p:cNvSpPr/>
            <p:nvPr/>
          </p:nvSpPr>
          <p:spPr>
            <a:xfrm>
              <a:off x="0" y="0"/>
              <a:ext cx="9398000" cy="19050000"/>
            </a:xfrm>
            <a:custGeom>
              <a:avLst/>
              <a:gdLst/>
              <a:ahLst/>
              <a:cxnLst/>
              <a:rect l="l" t="t" r="r" b="b"/>
              <a:pathLst>
                <a:path w="9398000" h="19050000">
                  <a:moveTo>
                    <a:pt x="9398000" y="19050000"/>
                  </a:moveTo>
                  <a:lnTo>
                    <a:pt x="0" y="19050000"/>
                  </a:lnTo>
                  <a:lnTo>
                    <a:pt x="0" y="0"/>
                  </a:lnTo>
                  <a:lnTo>
                    <a:pt x="9398000" y="0"/>
                  </a:lnTo>
                  <a:lnTo>
                    <a:pt x="9398000" y="19050000"/>
                  </a:lnTo>
                  <a:close/>
                </a:path>
              </a:pathLst>
            </a:custGeom>
            <a:blipFill>
              <a:blip r:embed="rId3"/>
              <a:stretch>
                <a:fillRect l="-42" r="-42"/>
              </a:stretch>
            </a:blipFill>
          </p:spPr>
        </p:sp>
      </p:grpSp>
      <p:grpSp>
        <p:nvGrpSpPr>
          <p:cNvPr id="11" name="Group 11"/>
          <p:cNvGrpSpPr>
            <a:grpSpLocks noChangeAspect="1"/>
          </p:cNvGrpSpPr>
          <p:nvPr/>
        </p:nvGrpSpPr>
        <p:grpSpPr>
          <a:xfrm>
            <a:off x="12951628" y="3095625"/>
            <a:ext cx="3194407" cy="6475150"/>
            <a:chOff x="0" y="0"/>
            <a:chExt cx="9398000" cy="19050000"/>
          </a:xfrm>
        </p:grpSpPr>
        <p:sp>
          <p:nvSpPr>
            <p:cNvPr id="12" name="Freeform 12"/>
            <p:cNvSpPr/>
            <p:nvPr/>
          </p:nvSpPr>
          <p:spPr>
            <a:xfrm>
              <a:off x="401955" y="301498"/>
              <a:ext cx="8566912" cy="18446877"/>
            </a:xfrm>
            <a:custGeom>
              <a:avLst/>
              <a:gdLst/>
              <a:ahLst/>
              <a:cxnLst/>
              <a:rect l="l" t="t" r="r" b="b"/>
              <a:pathLst>
                <a:path w="8566912" h="18446877">
                  <a:moveTo>
                    <a:pt x="7456551" y="18446877"/>
                  </a:moveTo>
                  <a:lnTo>
                    <a:pt x="1125220" y="18446877"/>
                  </a:lnTo>
                  <a:cubicBezTo>
                    <a:pt x="503809" y="18446877"/>
                    <a:pt x="0" y="17943067"/>
                    <a:pt x="0" y="17321657"/>
                  </a:cubicBezTo>
                  <a:lnTo>
                    <a:pt x="0" y="1085342"/>
                  </a:lnTo>
                  <a:cubicBezTo>
                    <a:pt x="0" y="485902"/>
                    <a:pt x="485902" y="0"/>
                    <a:pt x="1085342" y="0"/>
                  </a:cubicBezTo>
                  <a:lnTo>
                    <a:pt x="7504811" y="0"/>
                  </a:lnTo>
                  <a:cubicBezTo>
                    <a:pt x="8091424" y="0"/>
                    <a:pt x="8566912" y="475488"/>
                    <a:pt x="8566912" y="1062101"/>
                  </a:cubicBezTo>
                  <a:lnTo>
                    <a:pt x="8566912" y="17336515"/>
                  </a:lnTo>
                  <a:cubicBezTo>
                    <a:pt x="8566912" y="17949672"/>
                    <a:pt x="8069707" y="18446877"/>
                    <a:pt x="7456551" y="18446877"/>
                  </a:cubicBezTo>
                  <a:close/>
                </a:path>
              </a:pathLst>
            </a:custGeom>
            <a:blipFill>
              <a:blip r:embed="rId5"/>
              <a:stretch>
                <a:fillRect l="-1005" r="-1005"/>
              </a:stretch>
            </a:blipFill>
          </p:spPr>
        </p:sp>
        <p:sp>
          <p:nvSpPr>
            <p:cNvPr id="13" name="Freeform 13"/>
            <p:cNvSpPr/>
            <p:nvPr/>
          </p:nvSpPr>
          <p:spPr>
            <a:xfrm>
              <a:off x="0" y="0"/>
              <a:ext cx="9398000" cy="19050000"/>
            </a:xfrm>
            <a:custGeom>
              <a:avLst/>
              <a:gdLst/>
              <a:ahLst/>
              <a:cxnLst/>
              <a:rect l="l" t="t" r="r" b="b"/>
              <a:pathLst>
                <a:path w="9398000" h="19050000">
                  <a:moveTo>
                    <a:pt x="9398000" y="19050000"/>
                  </a:moveTo>
                  <a:lnTo>
                    <a:pt x="0" y="19050000"/>
                  </a:lnTo>
                  <a:lnTo>
                    <a:pt x="0" y="0"/>
                  </a:lnTo>
                  <a:lnTo>
                    <a:pt x="9398000" y="0"/>
                  </a:lnTo>
                  <a:lnTo>
                    <a:pt x="9398000" y="19050000"/>
                  </a:lnTo>
                  <a:close/>
                </a:path>
              </a:pathLst>
            </a:custGeom>
            <a:blipFill>
              <a:blip r:embed="rId3"/>
              <a:stretch>
                <a:fillRect l="-42" r="-42"/>
              </a:stretch>
            </a:blipFill>
          </p:spPr>
        </p:sp>
      </p:grpSp>
      <p:sp>
        <p:nvSpPr>
          <p:cNvPr id="14" name="TextBox 14"/>
          <p:cNvSpPr txBox="1"/>
          <p:nvPr/>
        </p:nvSpPr>
        <p:spPr>
          <a:xfrm>
            <a:off x="952500" y="657225"/>
            <a:ext cx="14287500" cy="720852"/>
          </a:xfrm>
          <a:prstGeom prst="rect">
            <a:avLst/>
          </a:prstGeom>
        </p:spPr>
        <p:txBody>
          <a:bodyPr lIns="0" tIns="0" rIns="0" bIns="0" rtlCol="0" anchor="t">
            <a:spAutoFit/>
          </a:bodyPr>
          <a:lstStyle/>
          <a:p>
            <a:pPr algn="l">
              <a:lnSpc>
                <a:spcPts val="5184"/>
              </a:lnSpc>
            </a:pPr>
            <a:r>
              <a:rPr lang="en-US" sz="4800" b="1">
                <a:solidFill>
                  <a:srgbClr val="102A3A"/>
                </a:solidFill>
                <a:latin typeface="Poppins Bold"/>
                <a:ea typeface="Poppins Bold"/>
                <a:cs typeface="Poppins Bold"/>
                <a:sym typeface="Poppins Bold"/>
              </a:rPr>
              <a:t>Remind: make schedules visible</a:t>
            </a:r>
          </a:p>
        </p:txBody>
      </p:sp>
      <p:sp>
        <p:nvSpPr>
          <p:cNvPr id="15" name="TextBox 15"/>
          <p:cNvSpPr txBox="1"/>
          <p:nvPr/>
        </p:nvSpPr>
        <p:spPr>
          <a:xfrm>
            <a:off x="952500" y="1371600"/>
            <a:ext cx="13811250" cy="334328"/>
          </a:xfrm>
          <a:prstGeom prst="rect">
            <a:avLst/>
          </a:prstGeom>
        </p:spPr>
        <p:txBody>
          <a:bodyPr lIns="0" tIns="0" rIns="0" bIns="0" rtlCol="0" anchor="t">
            <a:spAutoFit/>
          </a:bodyPr>
          <a:lstStyle/>
          <a:p>
            <a:pPr algn="l">
              <a:lnSpc>
                <a:spcPts val="2632"/>
              </a:lnSpc>
            </a:pPr>
            <a:r>
              <a:rPr lang="en-US" sz="1950">
                <a:solidFill>
                  <a:srgbClr val="56707C"/>
                </a:solidFill>
                <a:latin typeface="Open Sans"/>
                <a:ea typeface="Open Sans"/>
                <a:cs typeface="Open Sans"/>
                <a:sym typeface="Open Sans"/>
              </a:rPr>
              <a:t>Create, personalize and manage reminders with date/time settings where supported.</a:t>
            </a:r>
          </a:p>
        </p:txBody>
      </p:sp>
      <p:sp>
        <p:nvSpPr>
          <p:cNvPr id="16" name="TextBox 16"/>
          <p:cNvSpPr txBox="1"/>
          <p:nvPr/>
        </p:nvSpPr>
        <p:spPr>
          <a:xfrm>
            <a:off x="1519435" y="2570447"/>
            <a:ext cx="3905250" cy="323850"/>
          </a:xfrm>
          <a:prstGeom prst="rect">
            <a:avLst/>
          </a:prstGeom>
        </p:spPr>
        <p:txBody>
          <a:bodyPr lIns="0" tIns="0" rIns="0" bIns="0" rtlCol="0" anchor="t">
            <a:spAutoFit/>
          </a:bodyPr>
          <a:lstStyle/>
          <a:p>
            <a:pPr algn="ctr">
              <a:lnSpc>
                <a:spcPts val="2625"/>
              </a:lnSpc>
            </a:pPr>
            <a:r>
              <a:rPr lang="en-US" sz="1875" b="1">
                <a:solidFill>
                  <a:srgbClr val="56707C"/>
                </a:solidFill>
                <a:latin typeface="Open Sans Bold"/>
                <a:ea typeface="Open Sans Bold"/>
                <a:cs typeface="Open Sans Bold"/>
                <a:sym typeface="Open Sans Bold"/>
              </a:rPr>
              <a:t>Reminders</a:t>
            </a:r>
          </a:p>
        </p:txBody>
      </p:sp>
      <p:sp>
        <p:nvSpPr>
          <p:cNvPr id="17" name="TextBox 17"/>
          <p:cNvSpPr txBox="1"/>
          <p:nvPr/>
        </p:nvSpPr>
        <p:spPr>
          <a:xfrm>
            <a:off x="7058650" y="2570447"/>
            <a:ext cx="3905250" cy="323850"/>
          </a:xfrm>
          <a:prstGeom prst="rect">
            <a:avLst/>
          </a:prstGeom>
        </p:spPr>
        <p:txBody>
          <a:bodyPr lIns="0" tIns="0" rIns="0" bIns="0" rtlCol="0" anchor="t">
            <a:spAutoFit/>
          </a:bodyPr>
          <a:lstStyle/>
          <a:p>
            <a:pPr algn="ctr">
              <a:lnSpc>
                <a:spcPts val="2625"/>
              </a:lnSpc>
            </a:pPr>
            <a:r>
              <a:rPr lang="en-US" sz="1875" b="1">
                <a:solidFill>
                  <a:srgbClr val="56707C"/>
                </a:solidFill>
                <a:latin typeface="Open Sans Bold"/>
                <a:ea typeface="Open Sans Bold"/>
                <a:cs typeface="Open Sans Bold"/>
                <a:sym typeface="Open Sans Bold"/>
              </a:rPr>
              <a:t>Appointments</a:t>
            </a:r>
          </a:p>
        </p:txBody>
      </p:sp>
      <p:sp>
        <p:nvSpPr>
          <p:cNvPr id="18" name="TextBox 18"/>
          <p:cNvSpPr txBox="1"/>
          <p:nvPr/>
        </p:nvSpPr>
        <p:spPr>
          <a:xfrm>
            <a:off x="12596207" y="2570447"/>
            <a:ext cx="3905250" cy="323850"/>
          </a:xfrm>
          <a:prstGeom prst="rect">
            <a:avLst/>
          </a:prstGeom>
        </p:spPr>
        <p:txBody>
          <a:bodyPr lIns="0" tIns="0" rIns="0" bIns="0" rtlCol="0" anchor="t">
            <a:spAutoFit/>
          </a:bodyPr>
          <a:lstStyle/>
          <a:p>
            <a:pPr algn="ctr">
              <a:lnSpc>
                <a:spcPts val="2625"/>
              </a:lnSpc>
            </a:pPr>
            <a:r>
              <a:rPr lang="en-US" sz="1875" b="1">
                <a:solidFill>
                  <a:srgbClr val="56707C"/>
                </a:solidFill>
                <a:latin typeface="Open Sans Bold"/>
                <a:ea typeface="Open Sans Bold"/>
                <a:cs typeface="Open Sans Bold"/>
                <a:sym typeface="Open Sans Bold"/>
              </a:rPr>
              <a:t>Medicine Reminder</a:t>
            </a:r>
          </a:p>
        </p:txBody>
      </p:sp>
      <p:sp>
        <p:nvSpPr>
          <p:cNvPr id="19" name="TextBox 19"/>
          <p:cNvSpPr txBox="1"/>
          <p:nvPr/>
        </p:nvSpPr>
        <p:spPr>
          <a:xfrm>
            <a:off x="15811500" y="9753600"/>
            <a:ext cx="1524000" cy="232410"/>
          </a:xfrm>
          <a:prstGeom prst="rect">
            <a:avLst/>
          </a:prstGeom>
        </p:spPr>
        <p:txBody>
          <a:bodyPr lIns="0" tIns="0" rIns="0" bIns="0" rtlCol="0" anchor="t">
            <a:spAutoFit/>
          </a:bodyPr>
          <a:lstStyle/>
          <a:p>
            <a:pPr algn="r">
              <a:lnSpc>
                <a:spcPts val="1889"/>
              </a:lnSpc>
            </a:pPr>
            <a:r>
              <a:rPr lang="en-US" sz="1350" b="1">
                <a:solidFill>
                  <a:srgbClr val="56707C"/>
                </a:solidFill>
                <a:latin typeface="Open Sans Bold"/>
                <a:ea typeface="Open Sans Bold"/>
                <a:cs typeface="Open Sans Bold"/>
                <a:sym typeface="Open Sans Bold"/>
              </a:rPr>
              <a:t>09 / 18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8F8"/>
        </a:solidFill>
        <a:effectLst/>
      </p:bgPr>
    </p:bg>
    <p:spTree>
      <p:nvGrpSpPr>
        <p:cNvPr id="1" name=""/>
        <p:cNvGrpSpPr/>
        <p:nvPr/>
      </p:nvGrpSpPr>
      <p:grpSpPr>
        <a:xfrm>
          <a:off x="0" y="0"/>
          <a:ext cx="0" cy="0"/>
          <a:chOff x="0" y="0"/>
          <a:chExt cx="0" cy="0"/>
        </a:xfrm>
      </p:grpSpPr>
      <p:sp>
        <p:nvSpPr>
          <p:cNvPr id="2" name="TextBox 2"/>
          <p:cNvSpPr txBox="1"/>
          <p:nvPr/>
        </p:nvSpPr>
        <p:spPr>
          <a:xfrm>
            <a:off x="848379" y="1490190"/>
            <a:ext cx="9373008" cy="1378077"/>
          </a:xfrm>
          <a:prstGeom prst="rect">
            <a:avLst/>
          </a:prstGeom>
        </p:spPr>
        <p:txBody>
          <a:bodyPr lIns="0" tIns="0" rIns="0" bIns="0" rtlCol="0" anchor="t">
            <a:spAutoFit/>
          </a:bodyPr>
          <a:lstStyle/>
          <a:p>
            <a:pPr algn="l">
              <a:lnSpc>
                <a:spcPts val="5184"/>
              </a:lnSpc>
            </a:pPr>
            <a:r>
              <a:rPr lang="en-US" sz="4800" b="1">
                <a:solidFill>
                  <a:srgbClr val="102A3A"/>
                </a:solidFill>
                <a:latin typeface="Poppins Bold"/>
                <a:ea typeface="Poppins Bold"/>
                <a:cs typeface="Poppins Bold"/>
                <a:sym typeface="Poppins Bold"/>
              </a:rPr>
              <a:t>Resolve: scoped to verified implementation</a:t>
            </a:r>
          </a:p>
        </p:txBody>
      </p:sp>
      <p:grpSp>
        <p:nvGrpSpPr>
          <p:cNvPr id="3" name="Group 3"/>
          <p:cNvGrpSpPr/>
          <p:nvPr/>
        </p:nvGrpSpPr>
        <p:grpSpPr>
          <a:xfrm>
            <a:off x="723435" y="3757044"/>
            <a:ext cx="8001000" cy="4057650"/>
            <a:chOff x="0" y="0"/>
            <a:chExt cx="10668000" cy="5410200"/>
          </a:xfrm>
        </p:grpSpPr>
        <p:grpSp>
          <p:nvGrpSpPr>
            <p:cNvPr id="4" name="Group 4"/>
            <p:cNvGrpSpPr/>
            <p:nvPr/>
          </p:nvGrpSpPr>
          <p:grpSpPr>
            <a:xfrm>
              <a:off x="0" y="0"/>
              <a:ext cx="10668000" cy="5410200"/>
              <a:chOff x="0" y="0"/>
              <a:chExt cx="10668000" cy="5410200"/>
            </a:xfrm>
          </p:grpSpPr>
          <p:sp>
            <p:nvSpPr>
              <p:cNvPr id="5" name="Freeform 5"/>
              <p:cNvSpPr/>
              <p:nvPr/>
            </p:nvSpPr>
            <p:spPr>
              <a:xfrm>
                <a:off x="0" y="0"/>
                <a:ext cx="10668000" cy="5410200"/>
              </a:xfrm>
              <a:custGeom>
                <a:avLst/>
                <a:gdLst/>
                <a:ahLst/>
                <a:cxnLst/>
                <a:rect l="l" t="t" r="r" b="b"/>
                <a:pathLst>
                  <a:path w="10668000" h="5410200">
                    <a:moveTo>
                      <a:pt x="0" y="0"/>
                    </a:moveTo>
                    <a:lnTo>
                      <a:pt x="10668000" y="0"/>
                    </a:lnTo>
                    <a:lnTo>
                      <a:pt x="10668000" y="5410200"/>
                    </a:lnTo>
                    <a:lnTo>
                      <a:pt x="0" y="5410200"/>
                    </a:lnTo>
                    <a:close/>
                  </a:path>
                </a:pathLst>
              </a:custGeom>
              <a:solidFill>
                <a:srgbClr val="D9F2EF"/>
              </a:solidFill>
              <a:ln cap="sq">
                <a:noFill/>
                <a:prstDash val="solid"/>
                <a:miter/>
              </a:ln>
            </p:spPr>
          </p:sp>
          <p:sp>
            <p:nvSpPr>
              <p:cNvPr id="6" name="TextBox 6"/>
              <p:cNvSpPr txBox="1"/>
              <p:nvPr/>
            </p:nvSpPr>
            <p:spPr>
              <a:xfrm>
                <a:off x="0" y="-38100"/>
                <a:ext cx="10668000" cy="5448300"/>
              </a:xfrm>
              <a:prstGeom prst="rect">
                <a:avLst/>
              </a:prstGeom>
            </p:spPr>
            <p:txBody>
              <a:bodyPr lIns="50800" tIns="50800" rIns="50800" bIns="50800" rtlCol="0" anchor="ctr"/>
              <a:lstStyle/>
              <a:p>
                <a:pPr algn="l">
                  <a:lnSpc>
                    <a:spcPts val="1679"/>
                  </a:lnSpc>
                </a:pPr>
                <a:endParaRPr/>
              </a:p>
            </p:txBody>
          </p:sp>
        </p:grpSp>
        <p:sp>
          <p:nvSpPr>
            <p:cNvPr id="7" name="TextBox 7"/>
            <p:cNvSpPr txBox="1"/>
            <p:nvPr/>
          </p:nvSpPr>
          <p:spPr>
            <a:xfrm>
              <a:off x="762000" y="644525"/>
              <a:ext cx="9144000" cy="1332103"/>
            </a:xfrm>
            <a:prstGeom prst="rect">
              <a:avLst/>
            </a:prstGeom>
          </p:spPr>
          <p:txBody>
            <a:bodyPr lIns="0" tIns="0" rIns="0" bIns="0" rtlCol="0" anchor="t">
              <a:spAutoFit/>
            </a:bodyPr>
            <a:lstStyle/>
            <a:p>
              <a:pPr algn="l">
                <a:lnSpc>
                  <a:spcPts val="3807"/>
                </a:lnSpc>
              </a:pPr>
              <a:r>
                <a:rPr lang="en-US" sz="3525" b="1">
                  <a:solidFill>
                    <a:srgbClr val="102A3A"/>
                  </a:solidFill>
                  <a:latin typeface="Poppins Bold"/>
                  <a:ea typeface="Poppins Bold"/>
                  <a:cs typeface="Poppins Bold"/>
                  <a:sym typeface="Poppins Bold"/>
                </a:rPr>
                <a:t>Healthcare-related functions</a:t>
              </a:r>
            </a:p>
            <a:p>
              <a:pPr algn="l">
                <a:lnSpc>
                  <a:spcPts val="3807"/>
                </a:lnSpc>
              </a:pPr>
              <a:r>
                <a:rPr lang="en-US" sz="3525" b="1">
                  <a:solidFill>
                    <a:srgbClr val="102A3A"/>
                  </a:solidFill>
                  <a:latin typeface="Poppins Bold"/>
                  <a:ea typeface="Poppins Bold"/>
                  <a:cs typeface="Poppins Bold"/>
                  <a:sym typeface="Poppins Bold"/>
                </a:rPr>
                <a:t>implemented in the app</a:t>
              </a:r>
            </a:p>
          </p:txBody>
        </p:sp>
        <p:sp>
          <p:nvSpPr>
            <p:cNvPr id="8" name="TextBox 8"/>
            <p:cNvSpPr txBox="1"/>
            <p:nvPr/>
          </p:nvSpPr>
          <p:spPr>
            <a:xfrm>
              <a:off x="762000" y="3082925"/>
              <a:ext cx="8763000" cy="445135"/>
            </a:xfrm>
            <a:prstGeom prst="rect">
              <a:avLst/>
            </a:prstGeom>
          </p:spPr>
          <p:txBody>
            <a:bodyPr lIns="0" tIns="0" rIns="0" bIns="0" rtlCol="0" anchor="t">
              <a:spAutoFit/>
            </a:bodyPr>
            <a:lstStyle/>
            <a:p>
              <a:pPr algn="l">
                <a:lnSpc>
                  <a:spcPts val="2835"/>
                </a:lnSpc>
              </a:pPr>
              <a:endParaRPr/>
            </a:p>
          </p:txBody>
        </p:sp>
      </p:grpSp>
      <p:sp>
        <p:nvSpPr>
          <p:cNvPr id="9" name="AutoShape 9"/>
          <p:cNvSpPr/>
          <p:nvPr/>
        </p:nvSpPr>
        <p:spPr>
          <a:xfrm>
            <a:off x="952500" y="9572625"/>
            <a:ext cx="16383000" cy="0"/>
          </a:xfrm>
          <a:prstGeom prst="line">
            <a:avLst/>
          </a:prstGeom>
          <a:ln w="9525" cap="flat">
            <a:solidFill>
              <a:srgbClr val="B9D2D4"/>
            </a:solidFill>
            <a:prstDash val="solid"/>
            <a:headEnd type="none" w="sm" len="sm"/>
            <a:tailEnd type="none" w="sm" len="sm"/>
          </a:ln>
        </p:spPr>
      </p:sp>
      <p:sp>
        <p:nvSpPr>
          <p:cNvPr id="10" name="TextBox 10"/>
          <p:cNvSpPr txBox="1"/>
          <p:nvPr/>
        </p:nvSpPr>
        <p:spPr>
          <a:xfrm>
            <a:off x="15811500" y="9753600"/>
            <a:ext cx="1524000" cy="232410"/>
          </a:xfrm>
          <a:prstGeom prst="rect">
            <a:avLst/>
          </a:prstGeom>
        </p:spPr>
        <p:txBody>
          <a:bodyPr lIns="0" tIns="0" rIns="0" bIns="0" rtlCol="0" anchor="t">
            <a:spAutoFit/>
          </a:bodyPr>
          <a:lstStyle/>
          <a:p>
            <a:pPr algn="r">
              <a:lnSpc>
                <a:spcPts val="1889"/>
              </a:lnSpc>
            </a:pPr>
            <a:r>
              <a:rPr lang="en-US" sz="1350" b="1">
                <a:solidFill>
                  <a:srgbClr val="56707C"/>
                </a:solidFill>
                <a:latin typeface="Open Sans Bold"/>
                <a:ea typeface="Open Sans Bold"/>
                <a:cs typeface="Open Sans Bold"/>
                <a:sym typeface="Open Sans Bold"/>
              </a:rPr>
              <a:t>10 / 18</a:t>
            </a:r>
          </a:p>
        </p:txBody>
      </p:sp>
      <p:grpSp>
        <p:nvGrpSpPr>
          <p:cNvPr id="11" name="Group 11"/>
          <p:cNvGrpSpPr/>
          <p:nvPr/>
        </p:nvGrpSpPr>
        <p:grpSpPr>
          <a:xfrm>
            <a:off x="10087197" y="0"/>
            <a:ext cx="14496607" cy="13013996"/>
            <a:chOff x="0" y="0"/>
            <a:chExt cx="3395241" cy="3048000"/>
          </a:xfrm>
        </p:grpSpPr>
        <p:sp>
          <p:nvSpPr>
            <p:cNvPr id="12" name="Freeform 12"/>
            <p:cNvSpPr/>
            <p:nvPr/>
          </p:nvSpPr>
          <p:spPr>
            <a:xfrm>
              <a:off x="0" y="0"/>
              <a:ext cx="3395241" cy="2946400"/>
            </a:xfrm>
            <a:custGeom>
              <a:avLst/>
              <a:gdLst/>
              <a:ahLst/>
              <a:cxnLst/>
              <a:rect l="l" t="t" r="r" b="b"/>
              <a:pathLst>
                <a:path w="3395241" h="2946400">
                  <a:moveTo>
                    <a:pt x="0" y="0"/>
                  </a:moveTo>
                  <a:lnTo>
                    <a:pt x="3395241" y="0"/>
                  </a:lnTo>
                  <a:lnTo>
                    <a:pt x="3395241" y="2946400"/>
                  </a:lnTo>
                  <a:lnTo>
                    <a:pt x="0" y="2946400"/>
                  </a:lnTo>
                  <a:close/>
                </a:path>
              </a:pathLst>
            </a:custGeom>
            <a:solidFill>
              <a:srgbClr val="225C55"/>
            </a:solidFill>
          </p:spPr>
        </p:sp>
        <p:sp>
          <p:nvSpPr>
            <p:cNvPr id="13" name="Freeform 13"/>
            <p:cNvSpPr/>
            <p:nvPr/>
          </p:nvSpPr>
          <p:spPr>
            <a:xfrm>
              <a:off x="0" y="0"/>
              <a:ext cx="3395241" cy="3048000"/>
            </a:xfrm>
            <a:custGeom>
              <a:avLst/>
              <a:gdLst/>
              <a:ahLst/>
              <a:cxnLst/>
              <a:rect l="l" t="t" r="r" b="b"/>
              <a:pathLst>
                <a:path w="3395241" h="3048000">
                  <a:moveTo>
                    <a:pt x="0" y="2946400"/>
                  </a:moveTo>
                  <a:lnTo>
                    <a:pt x="3395241" y="2946400"/>
                  </a:lnTo>
                  <a:lnTo>
                    <a:pt x="3268241" y="3048000"/>
                  </a:lnTo>
                  <a:cubicBezTo>
                    <a:pt x="3268241" y="3048000"/>
                    <a:pt x="2277641" y="2971800"/>
                    <a:pt x="2176041" y="2971800"/>
                  </a:cubicBezTo>
                  <a:lnTo>
                    <a:pt x="1219200" y="2971800"/>
                  </a:lnTo>
                  <a:cubicBezTo>
                    <a:pt x="1117600" y="2971800"/>
                    <a:pt x="127000" y="3048000"/>
                    <a:pt x="127000" y="3048000"/>
                  </a:cubicBezTo>
                  <a:lnTo>
                    <a:pt x="0" y="2946400"/>
                  </a:lnTo>
                  <a:lnTo>
                    <a:pt x="0" y="0"/>
                  </a:lnTo>
                  <a:lnTo>
                    <a:pt x="3395241" y="0"/>
                  </a:lnTo>
                  <a:lnTo>
                    <a:pt x="3395241" y="2946400"/>
                  </a:lnTo>
                  <a:lnTo>
                    <a:pt x="12700" y="2946400"/>
                  </a:lnTo>
                  <a:lnTo>
                    <a:pt x="12700" y="2933700"/>
                  </a:lnTo>
                  <a:lnTo>
                    <a:pt x="3382541" y="2933700"/>
                  </a:lnTo>
                  <a:lnTo>
                    <a:pt x="3382541" y="12700"/>
                  </a:lnTo>
                  <a:lnTo>
                    <a:pt x="12700" y="12700"/>
                  </a:lnTo>
                  <a:lnTo>
                    <a:pt x="12700" y="2946400"/>
                  </a:lnTo>
                </a:path>
              </a:pathLst>
            </a:custGeom>
            <a:solidFill>
              <a:srgbClr val="394C60">
                <a:alpha val="784"/>
              </a:srgbClr>
            </a:solidFill>
          </p:spPr>
        </p:sp>
        <p:sp>
          <p:nvSpPr>
            <p:cNvPr id="14" name="TextBox 14"/>
            <p:cNvSpPr txBox="1"/>
            <p:nvPr/>
          </p:nvSpPr>
          <p:spPr>
            <a:xfrm>
              <a:off x="0" y="-19050"/>
              <a:ext cx="3395241" cy="2508250"/>
            </a:xfrm>
            <a:prstGeom prst="rect">
              <a:avLst/>
            </a:prstGeom>
          </p:spPr>
          <p:txBody>
            <a:bodyPr lIns="1156800" tIns="1156800" rIns="1156800" bIns="1156800" rtlCol="0" anchor="t"/>
            <a:lstStyle/>
            <a:p>
              <a:pPr algn="l">
                <a:lnSpc>
                  <a:spcPts val="1679"/>
                </a:lnSpc>
              </a:pPr>
              <a:endParaRPr/>
            </a:p>
            <a:p>
              <a:pPr algn="l">
                <a:lnSpc>
                  <a:spcPts val="9564"/>
                </a:lnSpc>
              </a:pPr>
              <a:endParaRPr/>
            </a:p>
          </p:txBody>
        </p:sp>
      </p:grpSp>
      <p:grpSp>
        <p:nvGrpSpPr>
          <p:cNvPr id="15" name="Group 15"/>
          <p:cNvGrpSpPr>
            <a:grpSpLocks noChangeAspect="1"/>
          </p:cNvGrpSpPr>
          <p:nvPr/>
        </p:nvGrpSpPr>
        <p:grpSpPr>
          <a:xfrm>
            <a:off x="11975274" y="611846"/>
            <a:ext cx="4420651" cy="8960779"/>
            <a:chOff x="0" y="0"/>
            <a:chExt cx="9398000" cy="19050000"/>
          </a:xfrm>
        </p:grpSpPr>
        <p:sp>
          <p:nvSpPr>
            <p:cNvPr id="16" name="Freeform 16"/>
            <p:cNvSpPr/>
            <p:nvPr/>
          </p:nvSpPr>
          <p:spPr>
            <a:xfrm>
              <a:off x="401955" y="301498"/>
              <a:ext cx="8566912" cy="18446877"/>
            </a:xfrm>
            <a:custGeom>
              <a:avLst/>
              <a:gdLst/>
              <a:ahLst/>
              <a:cxnLst/>
              <a:rect l="l" t="t" r="r" b="b"/>
              <a:pathLst>
                <a:path w="8566912" h="18446877">
                  <a:moveTo>
                    <a:pt x="7456551" y="18446877"/>
                  </a:moveTo>
                  <a:lnTo>
                    <a:pt x="1125220" y="18446877"/>
                  </a:lnTo>
                  <a:cubicBezTo>
                    <a:pt x="503809" y="18446877"/>
                    <a:pt x="0" y="17943067"/>
                    <a:pt x="0" y="17321657"/>
                  </a:cubicBezTo>
                  <a:lnTo>
                    <a:pt x="0" y="1085342"/>
                  </a:lnTo>
                  <a:cubicBezTo>
                    <a:pt x="0" y="485902"/>
                    <a:pt x="485902" y="0"/>
                    <a:pt x="1085342" y="0"/>
                  </a:cubicBezTo>
                  <a:lnTo>
                    <a:pt x="7504811" y="0"/>
                  </a:lnTo>
                  <a:cubicBezTo>
                    <a:pt x="8091424" y="0"/>
                    <a:pt x="8566912" y="475488"/>
                    <a:pt x="8566912" y="1062101"/>
                  </a:cubicBezTo>
                  <a:lnTo>
                    <a:pt x="8566912" y="17336515"/>
                  </a:lnTo>
                  <a:cubicBezTo>
                    <a:pt x="8566912" y="17949672"/>
                    <a:pt x="8069707" y="18446877"/>
                    <a:pt x="7456551" y="18446877"/>
                  </a:cubicBezTo>
                  <a:close/>
                </a:path>
              </a:pathLst>
            </a:custGeom>
            <a:blipFill>
              <a:blip r:embed="rId2"/>
              <a:stretch>
                <a:fillRect l="-534" r="-534"/>
              </a:stretch>
            </a:blipFill>
          </p:spPr>
        </p:sp>
        <p:sp>
          <p:nvSpPr>
            <p:cNvPr id="17" name="Freeform 17"/>
            <p:cNvSpPr/>
            <p:nvPr/>
          </p:nvSpPr>
          <p:spPr>
            <a:xfrm>
              <a:off x="0" y="0"/>
              <a:ext cx="9398000" cy="19050000"/>
            </a:xfrm>
            <a:custGeom>
              <a:avLst/>
              <a:gdLst/>
              <a:ahLst/>
              <a:cxnLst/>
              <a:rect l="l" t="t" r="r" b="b"/>
              <a:pathLst>
                <a:path w="9398000" h="19050000">
                  <a:moveTo>
                    <a:pt x="9398000" y="19050000"/>
                  </a:moveTo>
                  <a:lnTo>
                    <a:pt x="0" y="19050000"/>
                  </a:lnTo>
                  <a:lnTo>
                    <a:pt x="0" y="0"/>
                  </a:lnTo>
                  <a:lnTo>
                    <a:pt x="9398000" y="0"/>
                  </a:lnTo>
                  <a:lnTo>
                    <a:pt x="9398000" y="19050000"/>
                  </a:lnTo>
                  <a:close/>
                </a:path>
              </a:pathLst>
            </a:custGeom>
            <a:blipFill>
              <a:blip r:embed="rId3"/>
              <a:stretch>
                <a:fillRect l="-42" r="-42"/>
              </a:stretch>
            </a:blipFill>
          </p:spPr>
        </p:sp>
      </p:grpSp>
      <p:sp>
        <p:nvSpPr>
          <p:cNvPr id="18" name="TextBox 18"/>
          <p:cNvSpPr txBox="1"/>
          <p:nvPr/>
        </p:nvSpPr>
        <p:spPr>
          <a:xfrm>
            <a:off x="952500" y="9753600"/>
            <a:ext cx="6667500" cy="232410"/>
          </a:xfrm>
          <a:prstGeom prst="rect">
            <a:avLst/>
          </a:prstGeom>
        </p:spPr>
        <p:txBody>
          <a:bodyPr lIns="0" tIns="0" rIns="0" bIns="0" rtlCol="0" anchor="t">
            <a:spAutoFit/>
          </a:bodyPr>
          <a:lstStyle/>
          <a:p>
            <a:pPr algn="l">
              <a:lnSpc>
                <a:spcPts val="1889"/>
              </a:lnSpc>
            </a:pPr>
            <a:r>
              <a:rPr lang="en-US" sz="1350" b="1" spc="108">
                <a:solidFill>
                  <a:srgbClr val="56707C"/>
                </a:solidFill>
                <a:latin typeface="Open Sans Bold"/>
                <a:ea typeface="Open Sans Bold"/>
                <a:cs typeface="Open Sans Bold"/>
                <a:sym typeface="Open Sans Bold"/>
              </a:rPr>
              <a:t>MEDISYNC • MCA PROJECT</a:t>
            </a:r>
          </a:p>
        </p:txBody>
      </p:sp>
      <p:sp>
        <p:nvSpPr>
          <p:cNvPr id="19" name="TextBox 19"/>
          <p:cNvSpPr txBox="1"/>
          <p:nvPr/>
        </p:nvSpPr>
        <p:spPr>
          <a:xfrm>
            <a:off x="1394036" y="5776344"/>
            <a:ext cx="6359969" cy="1049655"/>
          </a:xfrm>
          <a:prstGeom prst="rect">
            <a:avLst/>
          </a:prstGeom>
        </p:spPr>
        <p:txBody>
          <a:bodyPr lIns="0" tIns="0" rIns="0" bIns="0" rtlCol="0" anchor="t">
            <a:spAutoFit/>
          </a:bodyPr>
          <a:lstStyle/>
          <a:p>
            <a:pPr algn="l">
              <a:lnSpc>
                <a:spcPts val="2070"/>
              </a:lnSpc>
              <a:spcBef>
                <a:spcPct val="0"/>
              </a:spcBef>
            </a:pPr>
            <a:r>
              <a:rPr lang="en-US" sz="1800">
                <a:solidFill>
                  <a:srgbClr val="000000"/>
                </a:solidFill>
                <a:latin typeface="Poppins"/>
                <a:ea typeface="Poppins"/>
                <a:cs typeface="Poppins"/>
                <a:sym typeface="Poppins"/>
              </a:rPr>
              <a:t> The Resolve module in MediSync is designed to help users address their healthcare-related needs by providing access to relevant medical information and assistance features.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8F8"/>
        </a:solidFill>
        <a:effectLst/>
      </p:bgPr>
    </p:bg>
    <p:spTree>
      <p:nvGrpSpPr>
        <p:cNvPr id="1" name=""/>
        <p:cNvGrpSpPr/>
        <p:nvPr/>
      </p:nvGrpSpPr>
      <p:grpSpPr>
        <a:xfrm>
          <a:off x="0" y="0"/>
          <a:ext cx="0" cy="0"/>
          <a:chOff x="0" y="0"/>
          <a:chExt cx="0" cy="0"/>
        </a:xfrm>
      </p:grpSpPr>
      <p:sp>
        <p:nvSpPr>
          <p:cNvPr id="2" name="AutoShape 2"/>
          <p:cNvSpPr/>
          <p:nvPr/>
        </p:nvSpPr>
        <p:spPr>
          <a:xfrm>
            <a:off x="952500" y="9572625"/>
            <a:ext cx="16383000" cy="0"/>
          </a:xfrm>
          <a:prstGeom prst="line">
            <a:avLst/>
          </a:prstGeom>
          <a:ln w="9525" cap="flat">
            <a:solidFill>
              <a:srgbClr val="B9D2D4"/>
            </a:solidFill>
            <a:prstDash val="solid"/>
            <a:headEnd type="none" w="sm" len="sm"/>
            <a:tailEnd type="none" w="sm" len="sm"/>
          </a:ln>
        </p:spPr>
      </p:sp>
      <p:sp>
        <p:nvSpPr>
          <p:cNvPr id="3" name="Freeform 3"/>
          <p:cNvSpPr/>
          <p:nvPr/>
        </p:nvSpPr>
        <p:spPr>
          <a:xfrm>
            <a:off x="7273581" y="-200141"/>
            <a:ext cx="11014419" cy="10084233"/>
          </a:xfrm>
          <a:custGeom>
            <a:avLst/>
            <a:gdLst/>
            <a:ahLst/>
            <a:cxnLst/>
            <a:rect l="l" t="t" r="r" b="b"/>
            <a:pathLst>
              <a:path w="11014419" h="10084233">
                <a:moveTo>
                  <a:pt x="0" y="0"/>
                </a:moveTo>
                <a:lnTo>
                  <a:pt x="11014419" y="0"/>
                </a:lnTo>
                <a:lnTo>
                  <a:pt x="11014419" y="10084234"/>
                </a:lnTo>
                <a:lnTo>
                  <a:pt x="0" y="10084234"/>
                </a:lnTo>
                <a:lnTo>
                  <a:pt x="0" y="0"/>
                </a:lnTo>
                <a:close/>
              </a:path>
            </a:pathLst>
          </a:custGeom>
          <a:blipFill>
            <a:blip r:embed="rId2"/>
            <a:stretch>
              <a:fillRect l="-91" r="-91"/>
            </a:stretch>
          </a:blipFill>
        </p:spPr>
      </p:sp>
      <p:sp>
        <p:nvSpPr>
          <p:cNvPr id="4" name="TextBox 4"/>
          <p:cNvSpPr txBox="1"/>
          <p:nvPr/>
        </p:nvSpPr>
        <p:spPr>
          <a:xfrm>
            <a:off x="952500" y="3639565"/>
            <a:ext cx="6969766" cy="3017394"/>
          </a:xfrm>
          <a:prstGeom prst="rect">
            <a:avLst/>
          </a:prstGeom>
        </p:spPr>
        <p:txBody>
          <a:bodyPr lIns="0" tIns="0" rIns="0" bIns="0" rtlCol="0" anchor="t">
            <a:spAutoFit/>
          </a:bodyPr>
          <a:lstStyle/>
          <a:p>
            <a:pPr algn="l">
              <a:lnSpc>
                <a:spcPts val="7673"/>
              </a:lnSpc>
            </a:pPr>
            <a:r>
              <a:rPr lang="en-US" sz="7105" b="1">
                <a:solidFill>
                  <a:srgbClr val="102A3A"/>
                </a:solidFill>
                <a:latin typeface="Poppins Bold"/>
                <a:ea typeface="Poppins Bold"/>
                <a:cs typeface="Poppins Bold"/>
                <a:sym typeface="Poppins Bold"/>
              </a:rPr>
              <a:t>Proposed database design</a:t>
            </a:r>
          </a:p>
        </p:txBody>
      </p:sp>
      <p:sp>
        <p:nvSpPr>
          <p:cNvPr id="5" name="TextBox 5"/>
          <p:cNvSpPr txBox="1"/>
          <p:nvPr/>
        </p:nvSpPr>
        <p:spPr>
          <a:xfrm>
            <a:off x="952500" y="9753600"/>
            <a:ext cx="6667500" cy="232410"/>
          </a:xfrm>
          <a:prstGeom prst="rect">
            <a:avLst/>
          </a:prstGeom>
        </p:spPr>
        <p:txBody>
          <a:bodyPr lIns="0" tIns="0" rIns="0" bIns="0" rtlCol="0" anchor="t">
            <a:spAutoFit/>
          </a:bodyPr>
          <a:lstStyle/>
          <a:p>
            <a:pPr algn="l">
              <a:lnSpc>
                <a:spcPts val="1889"/>
              </a:lnSpc>
            </a:pPr>
            <a:r>
              <a:rPr lang="en-US" sz="1350" b="1" spc="108">
                <a:solidFill>
                  <a:srgbClr val="56707C"/>
                </a:solidFill>
                <a:latin typeface="Open Sans Bold"/>
                <a:ea typeface="Open Sans Bold"/>
                <a:cs typeface="Open Sans Bold"/>
                <a:sym typeface="Open Sans Bold"/>
              </a:rPr>
              <a:t>MEDISYNC • MCA PROJECT</a:t>
            </a:r>
          </a:p>
        </p:txBody>
      </p:sp>
      <p:sp>
        <p:nvSpPr>
          <p:cNvPr id="6" name="TextBox 6"/>
          <p:cNvSpPr txBox="1"/>
          <p:nvPr/>
        </p:nvSpPr>
        <p:spPr>
          <a:xfrm>
            <a:off x="15811500" y="9753600"/>
            <a:ext cx="1524000" cy="232410"/>
          </a:xfrm>
          <a:prstGeom prst="rect">
            <a:avLst/>
          </a:prstGeom>
        </p:spPr>
        <p:txBody>
          <a:bodyPr lIns="0" tIns="0" rIns="0" bIns="0" rtlCol="0" anchor="t">
            <a:spAutoFit/>
          </a:bodyPr>
          <a:lstStyle/>
          <a:p>
            <a:pPr algn="r">
              <a:lnSpc>
                <a:spcPts val="1889"/>
              </a:lnSpc>
            </a:pPr>
            <a:r>
              <a:rPr lang="en-US" sz="1350" b="1">
                <a:solidFill>
                  <a:srgbClr val="56707C"/>
                </a:solidFill>
                <a:latin typeface="Open Sans Bold"/>
                <a:ea typeface="Open Sans Bold"/>
                <a:cs typeface="Open Sans Bold"/>
                <a:sym typeface="Open Sans Bold"/>
              </a:rPr>
              <a:t>13 / 18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952500" y="9572625"/>
            <a:ext cx="16383000" cy="0"/>
          </a:xfrm>
          <a:prstGeom prst="line">
            <a:avLst/>
          </a:prstGeom>
          <a:ln w="9525" cap="flat">
            <a:solidFill>
              <a:srgbClr val="B9D2D4"/>
            </a:solidFill>
            <a:prstDash val="solid"/>
            <a:headEnd type="none" w="sm" len="sm"/>
            <a:tailEnd type="none" w="sm" len="sm"/>
          </a:ln>
        </p:spPr>
      </p:sp>
      <p:sp>
        <p:nvSpPr>
          <p:cNvPr id="3" name="Freeform 3"/>
          <p:cNvSpPr/>
          <p:nvPr/>
        </p:nvSpPr>
        <p:spPr>
          <a:xfrm>
            <a:off x="649538" y="0"/>
            <a:ext cx="16988925" cy="10526334"/>
          </a:xfrm>
          <a:custGeom>
            <a:avLst/>
            <a:gdLst/>
            <a:ahLst/>
            <a:cxnLst/>
            <a:rect l="l" t="t" r="r" b="b"/>
            <a:pathLst>
              <a:path w="16988925" h="10526334">
                <a:moveTo>
                  <a:pt x="0" y="0"/>
                </a:moveTo>
                <a:lnTo>
                  <a:pt x="16988924" y="0"/>
                </a:lnTo>
                <a:lnTo>
                  <a:pt x="16988924" y="10526334"/>
                </a:lnTo>
                <a:lnTo>
                  <a:pt x="0" y="10526334"/>
                </a:lnTo>
                <a:lnTo>
                  <a:pt x="0" y="0"/>
                </a:lnTo>
                <a:close/>
              </a:path>
            </a:pathLst>
          </a:custGeom>
          <a:blipFill>
            <a:blip r:embed="rId2"/>
            <a:stretch>
              <a:fillRect t="-7596"/>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8F8"/>
        </a:solidFill>
        <a:effectLst/>
      </p:bgPr>
    </p:bg>
    <p:spTree>
      <p:nvGrpSpPr>
        <p:cNvPr id="1" name=""/>
        <p:cNvGrpSpPr/>
        <p:nvPr/>
      </p:nvGrpSpPr>
      <p:grpSpPr>
        <a:xfrm>
          <a:off x="0" y="0"/>
          <a:ext cx="0" cy="0"/>
          <a:chOff x="0" y="0"/>
          <a:chExt cx="0" cy="0"/>
        </a:xfrm>
      </p:grpSpPr>
      <p:grpSp>
        <p:nvGrpSpPr>
          <p:cNvPr id="2" name="Group 2"/>
          <p:cNvGrpSpPr/>
          <p:nvPr/>
        </p:nvGrpSpPr>
        <p:grpSpPr>
          <a:xfrm>
            <a:off x="952500" y="3619500"/>
            <a:ext cx="16383000" cy="762000"/>
            <a:chOff x="0" y="0"/>
            <a:chExt cx="21844000" cy="1016000"/>
          </a:xfrm>
        </p:grpSpPr>
        <p:sp>
          <p:nvSpPr>
            <p:cNvPr id="3" name="Freeform 3"/>
            <p:cNvSpPr/>
            <p:nvPr/>
          </p:nvSpPr>
          <p:spPr>
            <a:xfrm>
              <a:off x="0" y="0"/>
              <a:ext cx="21844000" cy="1016000"/>
            </a:xfrm>
            <a:custGeom>
              <a:avLst/>
              <a:gdLst/>
              <a:ahLst/>
              <a:cxnLst/>
              <a:rect l="l" t="t" r="r" b="b"/>
              <a:pathLst>
                <a:path w="21844000" h="1016000">
                  <a:moveTo>
                    <a:pt x="0" y="0"/>
                  </a:moveTo>
                  <a:lnTo>
                    <a:pt x="21844000" y="0"/>
                  </a:lnTo>
                  <a:lnTo>
                    <a:pt x="21844000" y="1016000"/>
                  </a:lnTo>
                  <a:lnTo>
                    <a:pt x="0" y="1016000"/>
                  </a:lnTo>
                  <a:close/>
                </a:path>
              </a:pathLst>
            </a:custGeom>
            <a:solidFill>
              <a:srgbClr val="FFFFFF"/>
            </a:solidFill>
            <a:ln cap="sq">
              <a:noFill/>
              <a:prstDash val="solid"/>
              <a:miter/>
            </a:ln>
          </p:spPr>
        </p:sp>
        <p:sp>
          <p:nvSpPr>
            <p:cNvPr id="4" name="TextBox 4"/>
            <p:cNvSpPr txBox="1"/>
            <p:nvPr/>
          </p:nvSpPr>
          <p:spPr>
            <a:xfrm>
              <a:off x="0" y="-38100"/>
              <a:ext cx="21844000" cy="1054100"/>
            </a:xfrm>
            <a:prstGeom prst="rect">
              <a:avLst/>
            </a:prstGeom>
          </p:spPr>
          <p:txBody>
            <a:bodyPr lIns="50800" tIns="50800" rIns="50800" bIns="50800" rtlCol="0" anchor="ctr"/>
            <a:lstStyle/>
            <a:p>
              <a:pPr algn="l">
                <a:lnSpc>
                  <a:spcPts val="1679"/>
                </a:lnSpc>
              </a:pPr>
              <a:endParaRPr/>
            </a:p>
          </p:txBody>
        </p:sp>
      </p:grpSp>
      <p:grpSp>
        <p:nvGrpSpPr>
          <p:cNvPr id="5" name="Group 5"/>
          <p:cNvGrpSpPr/>
          <p:nvPr/>
        </p:nvGrpSpPr>
        <p:grpSpPr>
          <a:xfrm>
            <a:off x="952500" y="4619625"/>
            <a:ext cx="16383000" cy="762000"/>
            <a:chOff x="0" y="0"/>
            <a:chExt cx="21844000" cy="1016000"/>
          </a:xfrm>
        </p:grpSpPr>
        <p:sp>
          <p:nvSpPr>
            <p:cNvPr id="6" name="Freeform 6"/>
            <p:cNvSpPr/>
            <p:nvPr/>
          </p:nvSpPr>
          <p:spPr>
            <a:xfrm>
              <a:off x="0" y="0"/>
              <a:ext cx="21844000" cy="1016000"/>
            </a:xfrm>
            <a:custGeom>
              <a:avLst/>
              <a:gdLst/>
              <a:ahLst/>
              <a:cxnLst/>
              <a:rect l="l" t="t" r="r" b="b"/>
              <a:pathLst>
                <a:path w="21844000" h="1016000">
                  <a:moveTo>
                    <a:pt x="0" y="0"/>
                  </a:moveTo>
                  <a:lnTo>
                    <a:pt x="21844000" y="0"/>
                  </a:lnTo>
                  <a:lnTo>
                    <a:pt x="21844000" y="1016000"/>
                  </a:lnTo>
                  <a:lnTo>
                    <a:pt x="0" y="1016000"/>
                  </a:lnTo>
                  <a:close/>
                </a:path>
              </a:pathLst>
            </a:custGeom>
            <a:solidFill>
              <a:srgbClr val="D9F2EF"/>
            </a:solidFill>
            <a:ln cap="sq">
              <a:noFill/>
              <a:prstDash val="solid"/>
              <a:miter/>
            </a:ln>
          </p:spPr>
        </p:sp>
        <p:sp>
          <p:nvSpPr>
            <p:cNvPr id="7" name="TextBox 7"/>
            <p:cNvSpPr txBox="1"/>
            <p:nvPr/>
          </p:nvSpPr>
          <p:spPr>
            <a:xfrm>
              <a:off x="0" y="-38100"/>
              <a:ext cx="21844000" cy="1054100"/>
            </a:xfrm>
            <a:prstGeom prst="rect">
              <a:avLst/>
            </a:prstGeom>
          </p:spPr>
          <p:txBody>
            <a:bodyPr lIns="50800" tIns="50800" rIns="50800" bIns="50800" rtlCol="0" anchor="ctr"/>
            <a:lstStyle/>
            <a:p>
              <a:pPr algn="l">
                <a:lnSpc>
                  <a:spcPts val="1679"/>
                </a:lnSpc>
              </a:pPr>
              <a:endParaRPr/>
            </a:p>
          </p:txBody>
        </p:sp>
      </p:grpSp>
      <p:grpSp>
        <p:nvGrpSpPr>
          <p:cNvPr id="8" name="Group 8"/>
          <p:cNvGrpSpPr/>
          <p:nvPr/>
        </p:nvGrpSpPr>
        <p:grpSpPr>
          <a:xfrm>
            <a:off x="952500" y="5619750"/>
            <a:ext cx="16383000" cy="762000"/>
            <a:chOff x="0" y="0"/>
            <a:chExt cx="21844000" cy="1016000"/>
          </a:xfrm>
        </p:grpSpPr>
        <p:sp>
          <p:nvSpPr>
            <p:cNvPr id="9" name="Freeform 9"/>
            <p:cNvSpPr/>
            <p:nvPr/>
          </p:nvSpPr>
          <p:spPr>
            <a:xfrm>
              <a:off x="0" y="0"/>
              <a:ext cx="21844000" cy="1016000"/>
            </a:xfrm>
            <a:custGeom>
              <a:avLst/>
              <a:gdLst/>
              <a:ahLst/>
              <a:cxnLst/>
              <a:rect l="l" t="t" r="r" b="b"/>
              <a:pathLst>
                <a:path w="21844000" h="1016000">
                  <a:moveTo>
                    <a:pt x="0" y="0"/>
                  </a:moveTo>
                  <a:lnTo>
                    <a:pt x="21844000" y="0"/>
                  </a:lnTo>
                  <a:lnTo>
                    <a:pt x="21844000" y="1016000"/>
                  </a:lnTo>
                  <a:lnTo>
                    <a:pt x="0" y="1016000"/>
                  </a:lnTo>
                  <a:close/>
                </a:path>
              </a:pathLst>
            </a:custGeom>
            <a:solidFill>
              <a:srgbClr val="FFFFFF"/>
            </a:solidFill>
            <a:ln cap="sq">
              <a:noFill/>
              <a:prstDash val="solid"/>
              <a:miter/>
            </a:ln>
          </p:spPr>
        </p:sp>
        <p:sp>
          <p:nvSpPr>
            <p:cNvPr id="10" name="TextBox 10"/>
            <p:cNvSpPr txBox="1"/>
            <p:nvPr/>
          </p:nvSpPr>
          <p:spPr>
            <a:xfrm>
              <a:off x="0" y="-38100"/>
              <a:ext cx="21844000" cy="1054100"/>
            </a:xfrm>
            <a:prstGeom prst="rect">
              <a:avLst/>
            </a:prstGeom>
          </p:spPr>
          <p:txBody>
            <a:bodyPr lIns="50800" tIns="50800" rIns="50800" bIns="50800" rtlCol="0" anchor="ctr"/>
            <a:lstStyle/>
            <a:p>
              <a:pPr algn="l">
                <a:lnSpc>
                  <a:spcPts val="1679"/>
                </a:lnSpc>
              </a:pPr>
              <a:endParaRPr/>
            </a:p>
          </p:txBody>
        </p:sp>
      </p:grpSp>
      <p:grpSp>
        <p:nvGrpSpPr>
          <p:cNvPr id="11" name="Group 11"/>
          <p:cNvGrpSpPr/>
          <p:nvPr/>
        </p:nvGrpSpPr>
        <p:grpSpPr>
          <a:xfrm>
            <a:off x="952500" y="6619875"/>
            <a:ext cx="16383000" cy="762000"/>
            <a:chOff x="0" y="0"/>
            <a:chExt cx="21844000" cy="1016000"/>
          </a:xfrm>
        </p:grpSpPr>
        <p:sp>
          <p:nvSpPr>
            <p:cNvPr id="12" name="Freeform 12"/>
            <p:cNvSpPr/>
            <p:nvPr/>
          </p:nvSpPr>
          <p:spPr>
            <a:xfrm>
              <a:off x="0" y="0"/>
              <a:ext cx="21844000" cy="1016000"/>
            </a:xfrm>
            <a:custGeom>
              <a:avLst/>
              <a:gdLst/>
              <a:ahLst/>
              <a:cxnLst/>
              <a:rect l="l" t="t" r="r" b="b"/>
              <a:pathLst>
                <a:path w="21844000" h="1016000">
                  <a:moveTo>
                    <a:pt x="0" y="0"/>
                  </a:moveTo>
                  <a:lnTo>
                    <a:pt x="21844000" y="0"/>
                  </a:lnTo>
                  <a:lnTo>
                    <a:pt x="21844000" y="1016000"/>
                  </a:lnTo>
                  <a:lnTo>
                    <a:pt x="0" y="1016000"/>
                  </a:lnTo>
                  <a:close/>
                </a:path>
              </a:pathLst>
            </a:custGeom>
            <a:solidFill>
              <a:srgbClr val="D9F2EF"/>
            </a:solidFill>
            <a:ln cap="sq">
              <a:noFill/>
              <a:prstDash val="solid"/>
              <a:miter/>
            </a:ln>
          </p:spPr>
        </p:sp>
        <p:sp>
          <p:nvSpPr>
            <p:cNvPr id="13" name="TextBox 13"/>
            <p:cNvSpPr txBox="1"/>
            <p:nvPr/>
          </p:nvSpPr>
          <p:spPr>
            <a:xfrm>
              <a:off x="0" y="-38100"/>
              <a:ext cx="21844000" cy="1054100"/>
            </a:xfrm>
            <a:prstGeom prst="rect">
              <a:avLst/>
            </a:prstGeom>
          </p:spPr>
          <p:txBody>
            <a:bodyPr lIns="50800" tIns="50800" rIns="50800" bIns="50800" rtlCol="0" anchor="ctr"/>
            <a:lstStyle/>
            <a:p>
              <a:pPr algn="l">
                <a:lnSpc>
                  <a:spcPts val="1679"/>
                </a:lnSpc>
              </a:pPr>
              <a:endParaRPr/>
            </a:p>
          </p:txBody>
        </p:sp>
      </p:grpSp>
      <p:grpSp>
        <p:nvGrpSpPr>
          <p:cNvPr id="14" name="Group 14"/>
          <p:cNvGrpSpPr/>
          <p:nvPr/>
        </p:nvGrpSpPr>
        <p:grpSpPr>
          <a:xfrm>
            <a:off x="952500" y="7620000"/>
            <a:ext cx="16383000" cy="762000"/>
            <a:chOff x="0" y="0"/>
            <a:chExt cx="21844000" cy="1016000"/>
          </a:xfrm>
        </p:grpSpPr>
        <p:sp>
          <p:nvSpPr>
            <p:cNvPr id="15" name="Freeform 15"/>
            <p:cNvSpPr/>
            <p:nvPr/>
          </p:nvSpPr>
          <p:spPr>
            <a:xfrm>
              <a:off x="0" y="0"/>
              <a:ext cx="21844000" cy="1016000"/>
            </a:xfrm>
            <a:custGeom>
              <a:avLst/>
              <a:gdLst/>
              <a:ahLst/>
              <a:cxnLst/>
              <a:rect l="l" t="t" r="r" b="b"/>
              <a:pathLst>
                <a:path w="21844000" h="1016000">
                  <a:moveTo>
                    <a:pt x="0" y="0"/>
                  </a:moveTo>
                  <a:lnTo>
                    <a:pt x="21844000" y="0"/>
                  </a:lnTo>
                  <a:lnTo>
                    <a:pt x="21844000" y="1016000"/>
                  </a:lnTo>
                  <a:lnTo>
                    <a:pt x="0" y="1016000"/>
                  </a:lnTo>
                  <a:close/>
                </a:path>
              </a:pathLst>
            </a:custGeom>
            <a:solidFill>
              <a:srgbClr val="FFFFFF"/>
            </a:solidFill>
            <a:ln cap="sq">
              <a:noFill/>
              <a:prstDash val="solid"/>
              <a:miter/>
            </a:ln>
          </p:spPr>
        </p:sp>
        <p:sp>
          <p:nvSpPr>
            <p:cNvPr id="16" name="TextBox 16"/>
            <p:cNvSpPr txBox="1"/>
            <p:nvPr/>
          </p:nvSpPr>
          <p:spPr>
            <a:xfrm>
              <a:off x="0" y="-38100"/>
              <a:ext cx="21844000" cy="1054100"/>
            </a:xfrm>
            <a:prstGeom prst="rect">
              <a:avLst/>
            </a:prstGeom>
          </p:spPr>
          <p:txBody>
            <a:bodyPr lIns="50800" tIns="50800" rIns="50800" bIns="50800" rtlCol="0" anchor="ctr"/>
            <a:lstStyle/>
            <a:p>
              <a:pPr algn="l">
                <a:lnSpc>
                  <a:spcPts val="1679"/>
                </a:lnSpc>
              </a:pPr>
              <a:endParaRPr/>
            </a:p>
          </p:txBody>
        </p:sp>
      </p:grpSp>
      <p:sp>
        <p:nvSpPr>
          <p:cNvPr id="17" name="AutoShape 17"/>
          <p:cNvSpPr/>
          <p:nvPr/>
        </p:nvSpPr>
        <p:spPr>
          <a:xfrm>
            <a:off x="952500" y="9572625"/>
            <a:ext cx="16383000" cy="0"/>
          </a:xfrm>
          <a:prstGeom prst="line">
            <a:avLst/>
          </a:prstGeom>
          <a:ln w="9525" cap="flat">
            <a:solidFill>
              <a:srgbClr val="B9D2D4"/>
            </a:solidFill>
            <a:prstDash val="solid"/>
            <a:headEnd type="none" w="sm" len="sm"/>
            <a:tailEnd type="none" w="sm" len="sm"/>
          </a:ln>
        </p:spPr>
      </p:sp>
      <p:graphicFrame>
        <p:nvGraphicFramePr>
          <p:cNvPr id="18" name="Object 18"/>
          <p:cNvGraphicFramePr/>
          <p:nvPr/>
        </p:nvGraphicFramePr>
        <p:xfrm>
          <a:off x="284527" y="3229342"/>
          <a:ext cx="7586157" cy="4274588"/>
        </p:xfrm>
        <a:graphic>
          <a:graphicData uri="http://schemas.openxmlformats.org/presentationml/2006/ole">
            <mc:AlternateContent xmlns:mc="http://schemas.openxmlformats.org/markup-compatibility/2006">
              <mc:Choice xmlns:v="urn:schemas-microsoft-com:vml" Requires="v">
                <p:oleObj name="Worksheet" r:id="rId2" imgW="9105900" imgH="5791200" progId="Excel.Sheet.12">
                  <p:embed/>
                </p:oleObj>
              </mc:Choice>
              <mc:Fallback>
                <p:oleObj name="Worksheet" r:id="rId2" imgW="9105900" imgH="5791200" progId="Excel.Sheet.12">
                  <p:embed/>
                  <p:pic>
                    <p:nvPicPr>
                      <p:cNvPr id="0" name=""/>
                      <p:cNvPicPr/>
                      <p:nvPr/>
                    </p:nvPicPr>
                    <p:blipFill>
                      <a:blip r:embed="rId3"/>
                      <a:stretch>
                        <a:fillRect/>
                      </a:stretch>
                    </p:blipFill>
                    <p:spPr>
                      <a:xfrm>
                        <a:off x="284527" y="3229342"/>
                        <a:ext cx="7586157" cy="4274588"/>
                      </a:xfrm>
                      <a:prstGeom prst="rect">
                        <a:avLst/>
                      </a:prstGeom>
                    </p:spPr>
                  </p:pic>
                </p:oleObj>
              </mc:Fallback>
            </mc:AlternateContent>
          </a:graphicData>
        </a:graphic>
      </p:graphicFrame>
      <p:sp>
        <p:nvSpPr>
          <p:cNvPr id="19" name="TextBox 19"/>
          <p:cNvSpPr txBox="1"/>
          <p:nvPr/>
        </p:nvSpPr>
        <p:spPr>
          <a:xfrm>
            <a:off x="430866" y="1726854"/>
            <a:ext cx="14287500" cy="720852"/>
          </a:xfrm>
          <a:prstGeom prst="rect">
            <a:avLst/>
          </a:prstGeom>
        </p:spPr>
        <p:txBody>
          <a:bodyPr lIns="0" tIns="0" rIns="0" bIns="0" rtlCol="0" anchor="t">
            <a:spAutoFit/>
          </a:bodyPr>
          <a:lstStyle/>
          <a:p>
            <a:pPr algn="l">
              <a:lnSpc>
                <a:spcPts val="5184"/>
              </a:lnSpc>
            </a:pPr>
            <a:r>
              <a:rPr lang="en-US" sz="4800" b="1">
                <a:solidFill>
                  <a:srgbClr val="102A3A"/>
                </a:solidFill>
                <a:latin typeface="Poppins Bold"/>
                <a:ea typeface="Poppins Bold"/>
                <a:cs typeface="Poppins Bold"/>
                <a:sym typeface="Poppins Bold"/>
              </a:rPr>
              <a:t>Technology stack</a:t>
            </a:r>
          </a:p>
        </p:txBody>
      </p:sp>
      <p:sp>
        <p:nvSpPr>
          <p:cNvPr id="20" name="TextBox 20"/>
          <p:cNvSpPr txBox="1"/>
          <p:nvPr/>
        </p:nvSpPr>
        <p:spPr>
          <a:xfrm>
            <a:off x="430866" y="2647731"/>
            <a:ext cx="13811250" cy="334328"/>
          </a:xfrm>
          <a:prstGeom prst="rect">
            <a:avLst/>
          </a:prstGeom>
        </p:spPr>
        <p:txBody>
          <a:bodyPr lIns="0" tIns="0" rIns="0" bIns="0" rtlCol="0" anchor="t">
            <a:spAutoFit/>
          </a:bodyPr>
          <a:lstStyle/>
          <a:p>
            <a:pPr algn="l">
              <a:lnSpc>
                <a:spcPts val="2632"/>
              </a:lnSpc>
            </a:pPr>
            <a:r>
              <a:rPr lang="en-US" sz="1950">
                <a:solidFill>
                  <a:srgbClr val="56707C"/>
                </a:solidFill>
                <a:latin typeface="Open Sans"/>
                <a:ea typeface="Open Sans"/>
                <a:cs typeface="Open Sans"/>
                <a:sym typeface="Open Sans"/>
              </a:rPr>
              <a:t>Editable fields — complete only with technologies verified in the final implementation.</a:t>
            </a:r>
          </a:p>
        </p:txBody>
      </p:sp>
      <p:sp>
        <p:nvSpPr>
          <p:cNvPr id="21" name="TextBox 21"/>
          <p:cNvSpPr txBox="1"/>
          <p:nvPr/>
        </p:nvSpPr>
        <p:spPr>
          <a:xfrm>
            <a:off x="952500" y="9753600"/>
            <a:ext cx="6667500" cy="232410"/>
          </a:xfrm>
          <a:prstGeom prst="rect">
            <a:avLst/>
          </a:prstGeom>
        </p:spPr>
        <p:txBody>
          <a:bodyPr lIns="0" tIns="0" rIns="0" bIns="0" rtlCol="0" anchor="t">
            <a:spAutoFit/>
          </a:bodyPr>
          <a:lstStyle/>
          <a:p>
            <a:pPr algn="l">
              <a:lnSpc>
                <a:spcPts val="1889"/>
              </a:lnSpc>
            </a:pPr>
            <a:r>
              <a:rPr lang="en-US" sz="1350" b="1" spc="108">
                <a:solidFill>
                  <a:srgbClr val="56707C"/>
                </a:solidFill>
                <a:latin typeface="Open Sans Bold"/>
                <a:ea typeface="Open Sans Bold"/>
                <a:cs typeface="Open Sans Bold"/>
                <a:sym typeface="Open Sans Bold"/>
              </a:rPr>
              <a:t>MEDISYNC • MCA PROJECT</a:t>
            </a:r>
          </a:p>
        </p:txBody>
      </p:sp>
      <p:sp>
        <p:nvSpPr>
          <p:cNvPr id="22" name="TextBox 22"/>
          <p:cNvSpPr txBox="1"/>
          <p:nvPr/>
        </p:nvSpPr>
        <p:spPr>
          <a:xfrm>
            <a:off x="15811500" y="9753600"/>
            <a:ext cx="1524000" cy="232410"/>
          </a:xfrm>
          <a:prstGeom prst="rect">
            <a:avLst/>
          </a:prstGeom>
        </p:spPr>
        <p:txBody>
          <a:bodyPr lIns="0" tIns="0" rIns="0" bIns="0" rtlCol="0" anchor="t">
            <a:spAutoFit/>
          </a:bodyPr>
          <a:lstStyle/>
          <a:p>
            <a:pPr algn="r">
              <a:lnSpc>
                <a:spcPts val="1889"/>
              </a:lnSpc>
            </a:pPr>
            <a:r>
              <a:rPr lang="en-US" sz="1350" b="1">
                <a:solidFill>
                  <a:srgbClr val="56707C"/>
                </a:solidFill>
                <a:latin typeface="Open Sans Bold"/>
                <a:ea typeface="Open Sans Bold"/>
                <a:cs typeface="Open Sans Bold"/>
                <a:sym typeface="Open Sans Bold"/>
              </a:rPr>
              <a:t>15 / 18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8F8"/>
        </a:solidFill>
        <a:effectLst/>
      </p:bgPr>
    </p:bg>
    <p:spTree>
      <p:nvGrpSpPr>
        <p:cNvPr id="1" name=""/>
        <p:cNvGrpSpPr/>
        <p:nvPr/>
      </p:nvGrpSpPr>
      <p:grpSpPr>
        <a:xfrm>
          <a:off x="0" y="0"/>
          <a:ext cx="0" cy="0"/>
          <a:chOff x="0" y="0"/>
          <a:chExt cx="0" cy="0"/>
        </a:xfrm>
      </p:grpSpPr>
      <p:sp>
        <p:nvSpPr>
          <p:cNvPr id="2" name="AutoShape 2"/>
          <p:cNvSpPr/>
          <p:nvPr/>
        </p:nvSpPr>
        <p:spPr>
          <a:xfrm>
            <a:off x="952500" y="9572625"/>
            <a:ext cx="16383000" cy="0"/>
          </a:xfrm>
          <a:prstGeom prst="line">
            <a:avLst/>
          </a:prstGeom>
          <a:ln w="9525" cap="flat">
            <a:solidFill>
              <a:srgbClr val="B9D2D4"/>
            </a:solidFill>
            <a:prstDash val="solid"/>
            <a:headEnd type="none" w="sm" len="sm"/>
            <a:tailEnd type="none" w="sm" len="sm"/>
          </a:ln>
        </p:spPr>
      </p:sp>
      <p:sp>
        <p:nvSpPr>
          <p:cNvPr id="3" name="Freeform 3"/>
          <p:cNvSpPr/>
          <p:nvPr/>
        </p:nvSpPr>
        <p:spPr>
          <a:xfrm>
            <a:off x="1371600" y="1864171"/>
            <a:ext cx="7217597" cy="7217597"/>
          </a:xfrm>
          <a:custGeom>
            <a:avLst/>
            <a:gdLst/>
            <a:ahLst/>
            <a:cxnLst/>
            <a:rect l="l" t="t" r="r" b="b"/>
            <a:pathLst>
              <a:path w="7217597" h="7217597">
                <a:moveTo>
                  <a:pt x="0" y="0"/>
                </a:moveTo>
                <a:lnTo>
                  <a:pt x="7217597" y="0"/>
                </a:lnTo>
                <a:lnTo>
                  <a:pt x="7217597" y="7217597"/>
                </a:lnTo>
                <a:lnTo>
                  <a:pt x="0" y="7217597"/>
                </a:lnTo>
                <a:lnTo>
                  <a:pt x="0" y="0"/>
                </a:lnTo>
                <a:close/>
              </a:path>
            </a:pathLst>
          </a:custGeom>
          <a:blipFill>
            <a:blip r:embed="rId2"/>
            <a:stretch>
              <a:fillRect/>
            </a:stretch>
          </a:blipFill>
        </p:spPr>
      </p:sp>
      <p:sp>
        <p:nvSpPr>
          <p:cNvPr id="4" name="Freeform 4"/>
          <p:cNvSpPr/>
          <p:nvPr/>
        </p:nvSpPr>
        <p:spPr>
          <a:xfrm>
            <a:off x="9698803" y="1864171"/>
            <a:ext cx="7217597" cy="7217597"/>
          </a:xfrm>
          <a:custGeom>
            <a:avLst/>
            <a:gdLst/>
            <a:ahLst/>
            <a:cxnLst/>
            <a:rect l="l" t="t" r="r" b="b"/>
            <a:pathLst>
              <a:path w="7217597" h="7217597">
                <a:moveTo>
                  <a:pt x="0" y="0"/>
                </a:moveTo>
                <a:lnTo>
                  <a:pt x="7217597" y="0"/>
                </a:lnTo>
                <a:lnTo>
                  <a:pt x="7217597" y="7217597"/>
                </a:lnTo>
                <a:lnTo>
                  <a:pt x="0" y="7217597"/>
                </a:lnTo>
                <a:lnTo>
                  <a:pt x="0" y="0"/>
                </a:lnTo>
                <a:close/>
              </a:path>
            </a:pathLst>
          </a:custGeom>
          <a:blipFill>
            <a:blip r:embed="rId3"/>
            <a:stretch>
              <a:fillRect/>
            </a:stretch>
          </a:blipFill>
        </p:spPr>
      </p:sp>
      <p:sp>
        <p:nvSpPr>
          <p:cNvPr id="5" name="TextBox 5"/>
          <p:cNvSpPr txBox="1"/>
          <p:nvPr/>
        </p:nvSpPr>
        <p:spPr>
          <a:xfrm>
            <a:off x="952500" y="933769"/>
            <a:ext cx="14287500" cy="720852"/>
          </a:xfrm>
          <a:prstGeom prst="rect">
            <a:avLst/>
          </a:prstGeom>
        </p:spPr>
        <p:txBody>
          <a:bodyPr lIns="0" tIns="0" rIns="0" bIns="0" rtlCol="0" anchor="t">
            <a:spAutoFit/>
          </a:bodyPr>
          <a:lstStyle/>
          <a:p>
            <a:pPr algn="l">
              <a:lnSpc>
                <a:spcPts val="5184"/>
              </a:lnSpc>
            </a:pPr>
            <a:r>
              <a:rPr lang="en-US" sz="4800" b="1">
                <a:solidFill>
                  <a:srgbClr val="102A3A"/>
                </a:solidFill>
                <a:latin typeface="Poppins Bold"/>
                <a:ea typeface="Poppins Bold"/>
                <a:cs typeface="Poppins Bold"/>
                <a:sym typeface="Poppins Bold"/>
              </a:rPr>
              <a:t>Testing &amp; results</a:t>
            </a:r>
          </a:p>
        </p:txBody>
      </p:sp>
      <p:sp>
        <p:nvSpPr>
          <p:cNvPr id="6" name="TextBox 6"/>
          <p:cNvSpPr txBox="1"/>
          <p:nvPr/>
        </p:nvSpPr>
        <p:spPr>
          <a:xfrm>
            <a:off x="952500" y="9753600"/>
            <a:ext cx="6667500" cy="232410"/>
          </a:xfrm>
          <a:prstGeom prst="rect">
            <a:avLst/>
          </a:prstGeom>
        </p:spPr>
        <p:txBody>
          <a:bodyPr lIns="0" tIns="0" rIns="0" bIns="0" rtlCol="0" anchor="t">
            <a:spAutoFit/>
          </a:bodyPr>
          <a:lstStyle/>
          <a:p>
            <a:pPr algn="l">
              <a:lnSpc>
                <a:spcPts val="1889"/>
              </a:lnSpc>
            </a:pPr>
            <a:r>
              <a:rPr lang="en-US" sz="1350" b="1" spc="108">
                <a:solidFill>
                  <a:srgbClr val="56707C"/>
                </a:solidFill>
                <a:latin typeface="Open Sans Bold"/>
                <a:ea typeface="Open Sans Bold"/>
                <a:cs typeface="Open Sans Bold"/>
                <a:sym typeface="Open Sans Bold"/>
              </a:rPr>
              <a:t>MEDISYNC • MCA PROJECT</a:t>
            </a:r>
          </a:p>
        </p:txBody>
      </p:sp>
      <p:sp>
        <p:nvSpPr>
          <p:cNvPr id="7" name="TextBox 7"/>
          <p:cNvSpPr txBox="1"/>
          <p:nvPr/>
        </p:nvSpPr>
        <p:spPr>
          <a:xfrm>
            <a:off x="15811500" y="9753600"/>
            <a:ext cx="1524000" cy="232410"/>
          </a:xfrm>
          <a:prstGeom prst="rect">
            <a:avLst/>
          </a:prstGeom>
        </p:spPr>
        <p:txBody>
          <a:bodyPr lIns="0" tIns="0" rIns="0" bIns="0" rtlCol="0" anchor="t">
            <a:spAutoFit/>
          </a:bodyPr>
          <a:lstStyle/>
          <a:p>
            <a:pPr algn="r">
              <a:lnSpc>
                <a:spcPts val="1889"/>
              </a:lnSpc>
            </a:pPr>
            <a:r>
              <a:rPr lang="en-US" sz="1350" b="1">
                <a:solidFill>
                  <a:srgbClr val="56707C"/>
                </a:solidFill>
                <a:latin typeface="Open Sans Bold"/>
                <a:ea typeface="Open Sans Bold"/>
                <a:cs typeface="Open Sans Bold"/>
                <a:sym typeface="Open Sans Bold"/>
              </a:rPr>
              <a:t>17 / 18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8F8"/>
        </a:solidFill>
        <a:effectLst/>
      </p:bgPr>
    </p:bg>
    <p:spTree>
      <p:nvGrpSpPr>
        <p:cNvPr id="1" name=""/>
        <p:cNvGrpSpPr/>
        <p:nvPr/>
      </p:nvGrpSpPr>
      <p:grpSpPr>
        <a:xfrm>
          <a:off x="0" y="0"/>
          <a:ext cx="0" cy="0"/>
          <a:chOff x="0" y="0"/>
          <a:chExt cx="0" cy="0"/>
        </a:xfrm>
      </p:grpSpPr>
      <p:sp>
        <p:nvSpPr>
          <p:cNvPr id="2" name="AutoShape 2"/>
          <p:cNvSpPr/>
          <p:nvPr/>
        </p:nvSpPr>
        <p:spPr>
          <a:xfrm>
            <a:off x="952500" y="9572625"/>
            <a:ext cx="16383000" cy="0"/>
          </a:xfrm>
          <a:prstGeom prst="line">
            <a:avLst/>
          </a:prstGeom>
          <a:ln w="9525" cap="flat">
            <a:solidFill>
              <a:srgbClr val="B9D2D4"/>
            </a:solidFill>
            <a:prstDash val="solid"/>
            <a:headEnd type="none" w="sm" len="sm"/>
            <a:tailEnd type="none" w="sm" len="sm"/>
          </a:ln>
        </p:spPr>
      </p:sp>
      <p:sp>
        <p:nvSpPr>
          <p:cNvPr id="3" name="Freeform 3"/>
          <p:cNvSpPr/>
          <p:nvPr/>
        </p:nvSpPr>
        <p:spPr>
          <a:xfrm>
            <a:off x="1253047" y="1864171"/>
            <a:ext cx="7217597" cy="7217597"/>
          </a:xfrm>
          <a:custGeom>
            <a:avLst/>
            <a:gdLst/>
            <a:ahLst/>
            <a:cxnLst/>
            <a:rect l="l" t="t" r="r" b="b"/>
            <a:pathLst>
              <a:path w="7217597" h="7217597">
                <a:moveTo>
                  <a:pt x="0" y="0"/>
                </a:moveTo>
                <a:lnTo>
                  <a:pt x="7217597" y="0"/>
                </a:lnTo>
                <a:lnTo>
                  <a:pt x="7217597" y="7217597"/>
                </a:lnTo>
                <a:lnTo>
                  <a:pt x="0" y="7217597"/>
                </a:lnTo>
                <a:lnTo>
                  <a:pt x="0" y="0"/>
                </a:lnTo>
                <a:close/>
              </a:path>
            </a:pathLst>
          </a:custGeom>
          <a:blipFill>
            <a:blip r:embed="rId2"/>
            <a:stretch>
              <a:fillRect/>
            </a:stretch>
          </a:blipFill>
        </p:spPr>
      </p:sp>
      <p:sp>
        <p:nvSpPr>
          <p:cNvPr id="4" name="Freeform 4"/>
          <p:cNvSpPr/>
          <p:nvPr/>
        </p:nvSpPr>
        <p:spPr>
          <a:xfrm>
            <a:off x="9817356" y="1864171"/>
            <a:ext cx="7217597" cy="7217597"/>
          </a:xfrm>
          <a:custGeom>
            <a:avLst/>
            <a:gdLst/>
            <a:ahLst/>
            <a:cxnLst/>
            <a:rect l="l" t="t" r="r" b="b"/>
            <a:pathLst>
              <a:path w="7217597" h="7217597">
                <a:moveTo>
                  <a:pt x="0" y="0"/>
                </a:moveTo>
                <a:lnTo>
                  <a:pt x="7217597" y="0"/>
                </a:lnTo>
                <a:lnTo>
                  <a:pt x="7217597" y="7217597"/>
                </a:lnTo>
                <a:lnTo>
                  <a:pt x="0" y="7217597"/>
                </a:lnTo>
                <a:lnTo>
                  <a:pt x="0" y="0"/>
                </a:lnTo>
                <a:close/>
              </a:path>
            </a:pathLst>
          </a:custGeom>
          <a:blipFill>
            <a:blip r:embed="rId3"/>
            <a:stretch>
              <a:fillRect/>
            </a:stretch>
          </a:blipFill>
        </p:spPr>
      </p:sp>
      <p:sp>
        <p:nvSpPr>
          <p:cNvPr id="5" name="TextBox 5"/>
          <p:cNvSpPr txBox="1"/>
          <p:nvPr/>
        </p:nvSpPr>
        <p:spPr>
          <a:xfrm>
            <a:off x="952500" y="933769"/>
            <a:ext cx="14287500" cy="720852"/>
          </a:xfrm>
          <a:prstGeom prst="rect">
            <a:avLst/>
          </a:prstGeom>
        </p:spPr>
        <p:txBody>
          <a:bodyPr lIns="0" tIns="0" rIns="0" bIns="0" rtlCol="0" anchor="t">
            <a:spAutoFit/>
          </a:bodyPr>
          <a:lstStyle/>
          <a:p>
            <a:pPr algn="l">
              <a:lnSpc>
                <a:spcPts val="5184"/>
              </a:lnSpc>
            </a:pPr>
            <a:r>
              <a:rPr lang="en-US" sz="4800" b="1">
                <a:solidFill>
                  <a:srgbClr val="102A3A"/>
                </a:solidFill>
                <a:latin typeface="Poppins Bold"/>
                <a:ea typeface="Poppins Bold"/>
                <a:cs typeface="Poppins Bold"/>
                <a:sym typeface="Poppins Bold"/>
              </a:rPr>
              <a:t>Testing &amp; results</a:t>
            </a:r>
          </a:p>
        </p:txBody>
      </p:sp>
      <p:sp>
        <p:nvSpPr>
          <p:cNvPr id="6" name="TextBox 6"/>
          <p:cNvSpPr txBox="1"/>
          <p:nvPr/>
        </p:nvSpPr>
        <p:spPr>
          <a:xfrm>
            <a:off x="952500" y="9753600"/>
            <a:ext cx="6667500" cy="232410"/>
          </a:xfrm>
          <a:prstGeom prst="rect">
            <a:avLst/>
          </a:prstGeom>
        </p:spPr>
        <p:txBody>
          <a:bodyPr lIns="0" tIns="0" rIns="0" bIns="0" rtlCol="0" anchor="t">
            <a:spAutoFit/>
          </a:bodyPr>
          <a:lstStyle/>
          <a:p>
            <a:pPr algn="l">
              <a:lnSpc>
                <a:spcPts val="1889"/>
              </a:lnSpc>
            </a:pPr>
            <a:r>
              <a:rPr lang="en-US" sz="1350" b="1" spc="108">
                <a:solidFill>
                  <a:srgbClr val="56707C"/>
                </a:solidFill>
                <a:latin typeface="Open Sans Bold"/>
                <a:ea typeface="Open Sans Bold"/>
                <a:cs typeface="Open Sans Bold"/>
                <a:sym typeface="Open Sans Bold"/>
              </a:rPr>
              <a:t>MEDISYNC • MCA PROJECT</a:t>
            </a:r>
          </a:p>
        </p:txBody>
      </p:sp>
      <p:sp>
        <p:nvSpPr>
          <p:cNvPr id="7" name="TextBox 7"/>
          <p:cNvSpPr txBox="1"/>
          <p:nvPr/>
        </p:nvSpPr>
        <p:spPr>
          <a:xfrm>
            <a:off x="15811500" y="9753600"/>
            <a:ext cx="1524000" cy="232410"/>
          </a:xfrm>
          <a:prstGeom prst="rect">
            <a:avLst/>
          </a:prstGeom>
        </p:spPr>
        <p:txBody>
          <a:bodyPr lIns="0" tIns="0" rIns="0" bIns="0" rtlCol="0" anchor="t">
            <a:spAutoFit/>
          </a:bodyPr>
          <a:lstStyle/>
          <a:p>
            <a:pPr algn="r">
              <a:lnSpc>
                <a:spcPts val="1889"/>
              </a:lnSpc>
            </a:pPr>
            <a:r>
              <a:rPr lang="en-US" sz="1350" b="1">
                <a:solidFill>
                  <a:srgbClr val="56707C"/>
                </a:solidFill>
                <a:latin typeface="Open Sans Bold"/>
                <a:ea typeface="Open Sans Bold"/>
                <a:cs typeface="Open Sans Bold"/>
                <a:sym typeface="Open Sans Bold"/>
              </a:rPr>
              <a:t>17 / 18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1B2B"/>
        </a:solidFill>
        <a:effectLst/>
      </p:bgPr>
    </p:bg>
    <p:spTree>
      <p:nvGrpSpPr>
        <p:cNvPr id="1" name=""/>
        <p:cNvGrpSpPr/>
        <p:nvPr/>
      </p:nvGrpSpPr>
      <p:grpSpPr>
        <a:xfrm>
          <a:off x="0" y="0"/>
          <a:ext cx="0" cy="0"/>
          <a:chOff x="0" y="0"/>
          <a:chExt cx="0" cy="0"/>
        </a:xfrm>
      </p:grpSpPr>
      <p:sp>
        <p:nvSpPr>
          <p:cNvPr id="2" name="TextBox 2"/>
          <p:cNvSpPr txBox="1"/>
          <p:nvPr/>
        </p:nvSpPr>
        <p:spPr>
          <a:xfrm>
            <a:off x="952500" y="657225"/>
            <a:ext cx="14287500" cy="604647"/>
          </a:xfrm>
          <a:prstGeom prst="rect">
            <a:avLst/>
          </a:prstGeom>
        </p:spPr>
        <p:txBody>
          <a:bodyPr lIns="0" tIns="0" rIns="0" bIns="0" rtlCol="0" anchor="t">
            <a:spAutoFit/>
          </a:bodyPr>
          <a:lstStyle/>
          <a:p>
            <a:pPr algn="l">
              <a:lnSpc>
                <a:spcPts val="4374"/>
              </a:lnSpc>
            </a:pPr>
            <a:r>
              <a:rPr lang="en-US" sz="4050" b="1">
                <a:solidFill>
                  <a:srgbClr val="FFFFFF"/>
                </a:solidFill>
                <a:latin typeface="Poppins Bold"/>
                <a:ea typeface="Poppins Bold"/>
                <a:cs typeface="Poppins Bold"/>
                <a:sym typeface="Poppins Bold"/>
              </a:rPr>
              <a:t>A clearer way to manage personal health information</a:t>
            </a:r>
          </a:p>
        </p:txBody>
      </p:sp>
      <p:sp>
        <p:nvSpPr>
          <p:cNvPr id="3" name="TextBox 3"/>
          <p:cNvSpPr txBox="1"/>
          <p:nvPr/>
        </p:nvSpPr>
        <p:spPr>
          <a:xfrm>
            <a:off x="952500" y="1371600"/>
            <a:ext cx="13811250" cy="334328"/>
          </a:xfrm>
          <a:prstGeom prst="rect">
            <a:avLst/>
          </a:prstGeom>
        </p:spPr>
        <p:txBody>
          <a:bodyPr lIns="0" tIns="0" rIns="0" bIns="0" rtlCol="0" anchor="t">
            <a:spAutoFit/>
          </a:bodyPr>
          <a:lstStyle/>
          <a:p>
            <a:pPr algn="l">
              <a:lnSpc>
                <a:spcPts val="2632"/>
              </a:lnSpc>
            </a:pPr>
            <a:r>
              <a:rPr lang="en-US" sz="1950">
                <a:solidFill>
                  <a:srgbClr val="FFFFFF"/>
                </a:solidFill>
                <a:latin typeface="Open Sans"/>
                <a:ea typeface="Open Sans"/>
                <a:cs typeface="Open Sans"/>
                <a:sym typeface="Open Sans"/>
              </a:rPr>
              <a:t>MediSync brings records, reminders and implemented healthcare functions into one coordinated mobile experience.</a:t>
            </a:r>
          </a:p>
        </p:txBody>
      </p:sp>
      <p:grpSp>
        <p:nvGrpSpPr>
          <p:cNvPr id="4" name="Group 4"/>
          <p:cNvGrpSpPr/>
          <p:nvPr/>
        </p:nvGrpSpPr>
        <p:grpSpPr>
          <a:xfrm>
            <a:off x="9079283" y="2963146"/>
            <a:ext cx="28575" cy="4000500"/>
            <a:chOff x="0" y="0"/>
            <a:chExt cx="38100" cy="5334000"/>
          </a:xfrm>
        </p:grpSpPr>
        <p:sp>
          <p:nvSpPr>
            <p:cNvPr id="5" name="Freeform 5"/>
            <p:cNvSpPr/>
            <p:nvPr/>
          </p:nvSpPr>
          <p:spPr>
            <a:xfrm>
              <a:off x="0" y="0"/>
              <a:ext cx="38100" cy="5334000"/>
            </a:xfrm>
            <a:custGeom>
              <a:avLst/>
              <a:gdLst/>
              <a:ahLst/>
              <a:cxnLst/>
              <a:rect l="l" t="t" r="r" b="b"/>
              <a:pathLst>
                <a:path w="38100" h="5334000">
                  <a:moveTo>
                    <a:pt x="0" y="0"/>
                  </a:moveTo>
                  <a:lnTo>
                    <a:pt x="38100" y="0"/>
                  </a:lnTo>
                  <a:lnTo>
                    <a:pt x="38100" y="5334000"/>
                  </a:lnTo>
                  <a:lnTo>
                    <a:pt x="0" y="5334000"/>
                  </a:lnTo>
                  <a:close/>
                </a:path>
              </a:pathLst>
            </a:custGeom>
            <a:solidFill>
              <a:srgbClr val="0AA6A6"/>
            </a:solidFill>
            <a:ln cap="sq">
              <a:noFill/>
              <a:prstDash val="solid"/>
              <a:miter/>
            </a:ln>
          </p:spPr>
        </p:sp>
        <p:sp>
          <p:nvSpPr>
            <p:cNvPr id="6" name="TextBox 6"/>
            <p:cNvSpPr txBox="1"/>
            <p:nvPr/>
          </p:nvSpPr>
          <p:spPr>
            <a:xfrm>
              <a:off x="0" y="-38100"/>
              <a:ext cx="38100" cy="5372100"/>
            </a:xfrm>
            <a:prstGeom prst="rect">
              <a:avLst/>
            </a:prstGeom>
          </p:spPr>
          <p:txBody>
            <a:bodyPr lIns="50800" tIns="50800" rIns="50800" bIns="50800" rtlCol="0" anchor="ctr"/>
            <a:lstStyle/>
            <a:p>
              <a:pPr algn="l">
                <a:lnSpc>
                  <a:spcPts val="1679"/>
                </a:lnSpc>
              </a:pPr>
              <a:endParaRPr/>
            </a:p>
          </p:txBody>
        </p:sp>
      </p:grpSp>
      <p:sp>
        <p:nvSpPr>
          <p:cNvPr id="7" name="TextBox 7"/>
          <p:cNvSpPr txBox="1"/>
          <p:nvPr/>
        </p:nvSpPr>
        <p:spPr>
          <a:xfrm>
            <a:off x="851642" y="2600015"/>
            <a:ext cx="3703267" cy="631012"/>
          </a:xfrm>
          <a:prstGeom prst="rect">
            <a:avLst/>
          </a:prstGeom>
        </p:spPr>
        <p:txBody>
          <a:bodyPr lIns="0" tIns="0" rIns="0" bIns="0" rtlCol="0" anchor="t">
            <a:spAutoFit/>
          </a:bodyPr>
          <a:lstStyle/>
          <a:p>
            <a:pPr algn="l">
              <a:lnSpc>
                <a:spcPts val="4951"/>
              </a:lnSpc>
            </a:pPr>
            <a:r>
              <a:rPr lang="en-US" sz="3536" b="1" spc="176">
                <a:solidFill>
                  <a:srgbClr val="0AA6A6"/>
                </a:solidFill>
                <a:latin typeface="Poppins Bold"/>
                <a:ea typeface="Poppins Bold"/>
                <a:cs typeface="Poppins Bold"/>
                <a:sym typeface="Poppins Bold"/>
              </a:rPr>
              <a:t>CONCLUSION</a:t>
            </a:r>
          </a:p>
        </p:txBody>
      </p:sp>
      <p:sp>
        <p:nvSpPr>
          <p:cNvPr id="8" name="TextBox 8"/>
          <p:cNvSpPr txBox="1"/>
          <p:nvPr/>
        </p:nvSpPr>
        <p:spPr>
          <a:xfrm>
            <a:off x="10441358" y="2600015"/>
            <a:ext cx="3703267" cy="631012"/>
          </a:xfrm>
          <a:prstGeom prst="rect">
            <a:avLst/>
          </a:prstGeom>
        </p:spPr>
        <p:txBody>
          <a:bodyPr lIns="0" tIns="0" rIns="0" bIns="0" rtlCol="0" anchor="t">
            <a:spAutoFit/>
          </a:bodyPr>
          <a:lstStyle/>
          <a:p>
            <a:pPr algn="l">
              <a:lnSpc>
                <a:spcPts val="4951"/>
              </a:lnSpc>
            </a:pPr>
            <a:r>
              <a:rPr lang="en-US" sz="3536" b="1" spc="176">
                <a:solidFill>
                  <a:srgbClr val="0AA6A6"/>
                </a:solidFill>
                <a:latin typeface="Poppins Bold"/>
                <a:ea typeface="Poppins Bold"/>
                <a:cs typeface="Poppins Bold"/>
                <a:sym typeface="Poppins Bold"/>
              </a:rPr>
              <a:t>FUTURE SCOPE</a:t>
            </a:r>
          </a:p>
        </p:txBody>
      </p:sp>
      <p:sp>
        <p:nvSpPr>
          <p:cNvPr id="9" name="TextBox 9"/>
          <p:cNvSpPr txBox="1"/>
          <p:nvPr/>
        </p:nvSpPr>
        <p:spPr>
          <a:xfrm>
            <a:off x="1554533" y="3410150"/>
            <a:ext cx="6191250" cy="4697166"/>
          </a:xfrm>
          <a:prstGeom prst="rect">
            <a:avLst/>
          </a:prstGeom>
        </p:spPr>
        <p:txBody>
          <a:bodyPr lIns="0" tIns="0" rIns="0" bIns="0" rtlCol="0" anchor="t">
            <a:spAutoFit/>
          </a:bodyPr>
          <a:lstStyle/>
          <a:p>
            <a:pPr algn="l">
              <a:lnSpc>
                <a:spcPts val="3756"/>
              </a:lnSpc>
            </a:pPr>
            <a:r>
              <a:rPr lang="en-US" sz="2782">
                <a:solidFill>
                  <a:srgbClr val="FFFFFF"/>
                </a:solidFill>
                <a:latin typeface="Open Sans"/>
                <a:ea typeface="Open Sans"/>
                <a:cs typeface="Open Sans"/>
                <a:sym typeface="Open Sans"/>
              </a:rPr>
              <a:t>MediSync simplifies healthcare management by organizing medical records, medicines, appointments, and emergency contacts in one place. Using Java, XML, and SQLite, it provides an efficient way to manage health information and supports better healthcare organization and accessibility.</a:t>
            </a:r>
          </a:p>
          <a:p>
            <a:pPr algn="l">
              <a:lnSpc>
                <a:spcPts val="3756"/>
              </a:lnSpc>
            </a:pPr>
            <a:endParaRPr lang="en-US" sz="2782">
              <a:solidFill>
                <a:srgbClr val="FFFFFF"/>
              </a:solidFill>
              <a:latin typeface="Open Sans"/>
              <a:ea typeface="Open Sans"/>
              <a:cs typeface="Open Sans"/>
              <a:sym typeface="Open Sans"/>
            </a:endParaRPr>
          </a:p>
        </p:txBody>
      </p:sp>
      <p:sp>
        <p:nvSpPr>
          <p:cNvPr id="10" name="TextBox 10"/>
          <p:cNvSpPr txBox="1"/>
          <p:nvPr/>
        </p:nvSpPr>
        <p:spPr>
          <a:xfrm>
            <a:off x="11144250" y="3410150"/>
            <a:ext cx="6191250" cy="5168374"/>
          </a:xfrm>
          <a:prstGeom prst="rect">
            <a:avLst/>
          </a:prstGeom>
        </p:spPr>
        <p:txBody>
          <a:bodyPr lIns="0" tIns="0" rIns="0" bIns="0" rtlCol="0" anchor="t">
            <a:spAutoFit/>
          </a:bodyPr>
          <a:lstStyle/>
          <a:p>
            <a:pPr algn="l">
              <a:lnSpc>
                <a:spcPts val="3756"/>
              </a:lnSpc>
            </a:pPr>
            <a:r>
              <a:rPr lang="en-US" sz="2782">
                <a:solidFill>
                  <a:srgbClr val="FFFFFF"/>
                </a:solidFill>
                <a:latin typeface="Open Sans"/>
                <a:ea typeface="Open Sans"/>
                <a:cs typeface="Open Sans"/>
                <a:sym typeface="Open Sans"/>
              </a:rPr>
              <a:t>MediSync can be enhanced with secure cloud storage, online doctor consultations, electronic prescriptions, and integration with wearable health devices. Future updates may include AI-based health insights, automatic medicine reminders, and emergency alerts to make healthcare management more efficient and accessible.</a:t>
            </a:r>
          </a:p>
          <a:p>
            <a:pPr algn="l">
              <a:lnSpc>
                <a:spcPts val="3756"/>
              </a:lnSpc>
            </a:pPr>
            <a:endParaRPr lang="en-US" sz="2782">
              <a:solidFill>
                <a:srgbClr val="FFFFFF"/>
              </a:solidFill>
              <a:latin typeface="Open Sans"/>
              <a:ea typeface="Open Sans"/>
              <a:cs typeface="Open Sans"/>
              <a:sym typeface="Open Sans"/>
            </a:endParaRPr>
          </a:p>
        </p:txBody>
      </p:sp>
      <p:sp>
        <p:nvSpPr>
          <p:cNvPr id="11" name="AutoShape 11"/>
          <p:cNvSpPr/>
          <p:nvPr/>
        </p:nvSpPr>
        <p:spPr>
          <a:xfrm>
            <a:off x="952500" y="9572625"/>
            <a:ext cx="16383000" cy="0"/>
          </a:xfrm>
          <a:prstGeom prst="line">
            <a:avLst/>
          </a:prstGeom>
          <a:ln w="9525" cap="flat">
            <a:solidFill>
              <a:srgbClr val="31505F"/>
            </a:solidFill>
            <a:prstDash val="solid"/>
            <a:headEnd type="none" w="sm" len="sm"/>
            <a:tailEnd type="none" w="sm" len="sm"/>
          </a:ln>
        </p:spPr>
      </p:sp>
      <p:sp>
        <p:nvSpPr>
          <p:cNvPr id="12" name="TextBox 12"/>
          <p:cNvSpPr txBox="1"/>
          <p:nvPr/>
        </p:nvSpPr>
        <p:spPr>
          <a:xfrm>
            <a:off x="952500" y="9753600"/>
            <a:ext cx="6667500" cy="232410"/>
          </a:xfrm>
          <a:prstGeom prst="rect">
            <a:avLst/>
          </a:prstGeom>
        </p:spPr>
        <p:txBody>
          <a:bodyPr lIns="0" tIns="0" rIns="0" bIns="0" rtlCol="0" anchor="t">
            <a:spAutoFit/>
          </a:bodyPr>
          <a:lstStyle/>
          <a:p>
            <a:pPr algn="l">
              <a:lnSpc>
                <a:spcPts val="1889"/>
              </a:lnSpc>
            </a:pPr>
            <a:r>
              <a:rPr lang="en-US" sz="1350" b="1" spc="108">
                <a:solidFill>
                  <a:srgbClr val="B9D2D4"/>
                </a:solidFill>
                <a:latin typeface="Open Sans Bold"/>
                <a:ea typeface="Open Sans Bold"/>
                <a:cs typeface="Open Sans Bold"/>
                <a:sym typeface="Open Sans Bold"/>
              </a:rPr>
              <a:t>MEDISYNC • MCA PROJECT</a:t>
            </a:r>
          </a:p>
        </p:txBody>
      </p:sp>
      <p:sp>
        <p:nvSpPr>
          <p:cNvPr id="13" name="TextBox 13"/>
          <p:cNvSpPr txBox="1"/>
          <p:nvPr/>
        </p:nvSpPr>
        <p:spPr>
          <a:xfrm>
            <a:off x="15811500" y="9753600"/>
            <a:ext cx="1524000" cy="232410"/>
          </a:xfrm>
          <a:prstGeom prst="rect">
            <a:avLst/>
          </a:prstGeom>
        </p:spPr>
        <p:txBody>
          <a:bodyPr lIns="0" tIns="0" rIns="0" bIns="0" rtlCol="0" anchor="t">
            <a:spAutoFit/>
          </a:bodyPr>
          <a:lstStyle/>
          <a:p>
            <a:pPr algn="r">
              <a:lnSpc>
                <a:spcPts val="1889"/>
              </a:lnSpc>
            </a:pPr>
            <a:r>
              <a:rPr lang="en-US" sz="1350" b="1">
                <a:solidFill>
                  <a:srgbClr val="B9D2D4"/>
                </a:solidFill>
                <a:latin typeface="Open Sans Bold"/>
                <a:ea typeface="Open Sans Bold"/>
                <a:cs typeface="Open Sans Bold"/>
                <a:sym typeface="Open Sans Bold"/>
              </a:rPr>
              <a:t>18 / 18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71B2B"/>
        </a:solidFill>
        <a:effectLst/>
      </p:bgPr>
    </p:bg>
    <p:spTree>
      <p:nvGrpSpPr>
        <p:cNvPr id="1" name=""/>
        <p:cNvGrpSpPr/>
        <p:nvPr/>
      </p:nvGrpSpPr>
      <p:grpSpPr>
        <a:xfrm>
          <a:off x="0" y="0"/>
          <a:ext cx="0" cy="0"/>
          <a:chOff x="0" y="0"/>
          <a:chExt cx="0" cy="0"/>
        </a:xfrm>
      </p:grpSpPr>
      <p:sp>
        <p:nvSpPr>
          <p:cNvPr id="2" name="AutoShape 2"/>
          <p:cNvSpPr/>
          <p:nvPr/>
        </p:nvSpPr>
        <p:spPr>
          <a:xfrm>
            <a:off x="952500" y="9572625"/>
            <a:ext cx="16383000" cy="0"/>
          </a:xfrm>
          <a:prstGeom prst="line">
            <a:avLst/>
          </a:prstGeom>
          <a:ln w="9525" cap="flat">
            <a:solidFill>
              <a:srgbClr val="31505F"/>
            </a:solidFill>
            <a:prstDash val="solid"/>
            <a:headEnd type="none" w="sm" len="sm"/>
            <a:tailEnd type="none" w="sm" len="sm"/>
          </a:ln>
        </p:spPr>
      </p:sp>
      <p:sp>
        <p:nvSpPr>
          <p:cNvPr id="3" name="Freeform 3"/>
          <p:cNvSpPr/>
          <p:nvPr/>
        </p:nvSpPr>
        <p:spPr>
          <a:xfrm>
            <a:off x="10403005" y="1542608"/>
            <a:ext cx="6856295" cy="6856295"/>
          </a:xfrm>
          <a:custGeom>
            <a:avLst/>
            <a:gdLst/>
            <a:ahLst/>
            <a:cxnLst/>
            <a:rect l="l" t="t" r="r" b="b"/>
            <a:pathLst>
              <a:path w="6856295" h="6856295">
                <a:moveTo>
                  <a:pt x="0" y="0"/>
                </a:moveTo>
                <a:lnTo>
                  <a:pt x="6856295" y="0"/>
                </a:lnTo>
                <a:lnTo>
                  <a:pt x="6856295" y="6856294"/>
                </a:lnTo>
                <a:lnTo>
                  <a:pt x="0" y="6856294"/>
                </a:lnTo>
                <a:lnTo>
                  <a:pt x="0" y="0"/>
                </a:lnTo>
                <a:close/>
              </a:path>
            </a:pathLst>
          </a:custGeom>
          <a:blipFill>
            <a:blip r:embed="rId2"/>
            <a:stretch>
              <a:fillRect/>
            </a:stretch>
          </a:blipFill>
        </p:spPr>
      </p:sp>
      <p:sp>
        <p:nvSpPr>
          <p:cNvPr id="4" name="TextBox 4"/>
          <p:cNvSpPr txBox="1"/>
          <p:nvPr/>
        </p:nvSpPr>
        <p:spPr>
          <a:xfrm>
            <a:off x="952500" y="9753600"/>
            <a:ext cx="6667500" cy="232410"/>
          </a:xfrm>
          <a:prstGeom prst="rect">
            <a:avLst/>
          </a:prstGeom>
        </p:spPr>
        <p:txBody>
          <a:bodyPr lIns="0" tIns="0" rIns="0" bIns="0" rtlCol="0" anchor="t">
            <a:spAutoFit/>
          </a:bodyPr>
          <a:lstStyle/>
          <a:p>
            <a:pPr algn="l">
              <a:lnSpc>
                <a:spcPts val="1889"/>
              </a:lnSpc>
            </a:pPr>
            <a:r>
              <a:rPr lang="en-US" sz="1350" b="1" spc="108">
                <a:solidFill>
                  <a:srgbClr val="B9D2D4"/>
                </a:solidFill>
                <a:latin typeface="Open Sans Bold"/>
                <a:ea typeface="Open Sans Bold"/>
                <a:cs typeface="Open Sans Bold"/>
                <a:sym typeface="Open Sans Bold"/>
              </a:rPr>
              <a:t>MEDISYNC • MCA PROJECT</a:t>
            </a:r>
          </a:p>
        </p:txBody>
      </p:sp>
      <p:sp>
        <p:nvSpPr>
          <p:cNvPr id="5" name="TextBox 5"/>
          <p:cNvSpPr txBox="1"/>
          <p:nvPr/>
        </p:nvSpPr>
        <p:spPr>
          <a:xfrm>
            <a:off x="15811500" y="9753600"/>
            <a:ext cx="1524000" cy="232410"/>
          </a:xfrm>
          <a:prstGeom prst="rect">
            <a:avLst/>
          </a:prstGeom>
        </p:spPr>
        <p:txBody>
          <a:bodyPr lIns="0" tIns="0" rIns="0" bIns="0" rtlCol="0" anchor="t">
            <a:spAutoFit/>
          </a:bodyPr>
          <a:lstStyle/>
          <a:p>
            <a:pPr algn="r">
              <a:lnSpc>
                <a:spcPts val="1889"/>
              </a:lnSpc>
            </a:pPr>
            <a:r>
              <a:rPr lang="en-US" sz="1350" b="1">
                <a:solidFill>
                  <a:srgbClr val="B9D2D4"/>
                </a:solidFill>
                <a:latin typeface="Open Sans Bold"/>
                <a:ea typeface="Open Sans Bold"/>
                <a:cs typeface="Open Sans Bold"/>
                <a:sym typeface="Open Sans Bold"/>
              </a:rPr>
              <a:t>18 / 18</a:t>
            </a:r>
          </a:p>
        </p:txBody>
      </p:sp>
      <p:sp>
        <p:nvSpPr>
          <p:cNvPr id="6" name="TextBox 6"/>
          <p:cNvSpPr txBox="1"/>
          <p:nvPr/>
        </p:nvSpPr>
        <p:spPr>
          <a:xfrm>
            <a:off x="1028700" y="3426707"/>
            <a:ext cx="10137028" cy="3116671"/>
          </a:xfrm>
          <a:prstGeom prst="rect">
            <a:avLst/>
          </a:prstGeom>
        </p:spPr>
        <p:txBody>
          <a:bodyPr lIns="0" tIns="0" rIns="0" bIns="0" rtlCol="0" anchor="t">
            <a:spAutoFit/>
          </a:bodyPr>
          <a:lstStyle/>
          <a:p>
            <a:pPr algn="l">
              <a:lnSpc>
                <a:spcPts val="11792"/>
              </a:lnSpc>
            </a:pPr>
            <a:r>
              <a:rPr lang="en-US" sz="10918" b="1">
                <a:solidFill>
                  <a:srgbClr val="FFFFFF"/>
                </a:solidFill>
                <a:latin typeface="Poppins Bold"/>
                <a:ea typeface="Poppins Bold"/>
                <a:cs typeface="Poppins Bold"/>
                <a:sym typeface="Poppins Bold"/>
              </a:rPr>
              <a:t>THANK YOU.</a:t>
            </a:r>
          </a:p>
          <a:p>
            <a:pPr algn="l">
              <a:lnSpc>
                <a:spcPts val="11792"/>
              </a:lnSpc>
            </a:pPr>
            <a:r>
              <a:rPr lang="en-US" sz="10918" b="1">
                <a:solidFill>
                  <a:srgbClr val="FFFFFF"/>
                </a:solidFill>
                <a:latin typeface="Poppins Bold"/>
                <a:ea typeface="Poppins Bold"/>
                <a:cs typeface="Poppins Bold"/>
                <a:sym typeface="Poppins Bold"/>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605</Words>
  <Application>Microsoft Office PowerPoint</Application>
  <PresentationFormat>Custom</PresentationFormat>
  <Paragraphs>141</Paragraphs>
  <Slides>17</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5" baseType="lpstr">
      <vt:lpstr>Open Sans</vt:lpstr>
      <vt:lpstr>Poppins</vt:lpstr>
      <vt:lpstr>Arial</vt:lpstr>
      <vt:lpstr>Open Sans Bold</vt:lpstr>
      <vt:lpstr>Poppins Bold</vt:lpstr>
      <vt:lpstr>Calibri</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MediSync MCA Project</dc:title>
  <dc:creator>Amlisha Cardoso</dc:creator>
  <cp:lastModifiedBy>Amlisha Cardoso</cp:lastModifiedBy>
  <cp:revision>1</cp:revision>
  <dcterms:created xsi:type="dcterms:W3CDTF">2006-08-16T00:00:00Z</dcterms:created>
  <dcterms:modified xsi:type="dcterms:W3CDTF">2026-10-30T14:38:08Z</dcterms:modified>
  <dc:identifier>DAHZC6V6Pl0</dc:identifier>
</cp:coreProperties>
</file>